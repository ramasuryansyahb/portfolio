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Lst>
  <p:sldSz cx="18288000" cy="10287000"/>
  <p:notesSz cx="6858000" cy="9144000"/>
  <p:embeddedFontLst>
    <p:embeddedFont>
      <p:font typeface="Poppins Bold" charset="1" panose="00000800000000000000"/>
      <p:regular r:id="rId58"/>
    </p:embeddedFont>
    <p:embeddedFont>
      <p:font typeface="Bebas Neue 1" charset="1" panose="020B0606020202050201"/>
      <p:regular r:id="rId59"/>
    </p:embeddedFont>
    <p:embeddedFont>
      <p:font typeface="Poppins" charset="1" panose="00000500000000000000"/>
      <p:regular r:id="rId60"/>
    </p:embeddedFont>
    <p:embeddedFont>
      <p:font typeface="Poppins Bold Italics" charset="1" panose="00000800000000000000"/>
      <p:regular r:id="rId61"/>
    </p:embeddedFont>
    <p:embeddedFont>
      <p:font typeface="Bebas Neue 2 Bold" charset="1" panose="020B0606020202050201"/>
      <p:regular r:id="rId62"/>
    </p:embeddedFont>
    <p:embeddedFont>
      <p:font typeface="Poppins Italics" charset="1" panose="00000500000000000000"/>
      <p:regular r:id="rId6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fonts/font58.fntdata" Type="http://schemas.openxmlformats.org/officeDocument/2006/relationships/font"/><Relationship Id="rId59" Target="fonts/font59.fntdata" Type="http://schemas.openxmlformats.org/officeDocument/2006/relationships/font"/><Relationship Id="rId6" Target="slides/slide1.xml" Type="http://schemas.openxmlformats.org/officeDocument/2006/relationships/slide"/><Relationship Id="rId60" Target="fonts/font60.fntdata" Type="http://schemas.openxmlformats.org/officeDocument/2006/relationships/font"/><Relationship Id="rId61" Target="fonts/font61.fntdata" Type="http://schemas.openxmlformats.org/officeDocument/2006/relationships/font"/><Relationship Id="rId62" Target="fonts/font62.fntdata" Type="http://schemas.openxmlformats.org/officeDocument/2006/relationships/font"/><Relationship Id="rId63" Target="fonts/font63.fntdata" Type="http://schemas.openxmlformats.org/officeDocument/2006/relationships/font"/><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jpeg" Type="http://schemas.openxmlformats.org/officeDocument/2006/relationships/image"/><Relationship Id="rId2" Target="../media/image3.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3.jpeg" Type="http://schemas.openxmlformats.org/officeDocument/2006/relationships/image"/><Relationship Id="rId4" Target="../media/image1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6.jpeg" Type="http://schemas.openxmlformats.org/officeDocument/2006/relationships/image"/><Relationship Id="rId4" Target="../media/image17.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jpeg" Type="http://schemas.openxmlformats.org/officeDocument/2006/relationships/image"/><Relationship Id="rId3" Target="../media/image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0.png" Type="http://schemas.openxmlformats.org/officeDocument/2006/relationships/image"/><Relationship Id="rId4" Target="../media/image21.png" Type="http://schemas.openxmlformats.org/officeDocument/2006/relationships/image"/><Relationship Id="rId5" Target="../media/image22.png" Type="http://schemas.openxmlformats.org/officeDocument/2006/relationships/image"/><Relationship Id="rId6" Target="../media/image23.png" Type="http://schemas.openxmlformats.org/officeDocument/2006/relationships/image"/><Relationship Id="rId7" Target="../media/image24.png" Type="http://schemas.openxmlformats.org/officeDocument/2006/relationships/image"/><Relationship Id="rId8" Target="https://doi.org/10.1109/ICARA64554.2025.10977625" TargetMode="External" Type="http://schemas.openxmlformats.org/officeDocument/2006/relationships/hyperlink"/></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5.png" Type="http://schemas.openxmlformats.org/officeDocument/2006/relationships/image"/><Relationship Id="rId4" Target="../media/image2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7.png" Type="http://schemas.openxmlformats.org/officeDocument/2006/relationships/image"/><Relationship Id="rId4" Target="../media/image28.png" Type="http://schemas.openxmlformats.org/officeDocument/2006/relationships/image"/><Relationship Id="rId5" Target="../media/image2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30.png" Type="http://schemas.openxmlformats.org/officeDocument/2006/relationships/image"/><Relationship Id="rId4" Target="../media/image31.png" Type="http://schemas.openxmlformats.org/officeDocument/2006/relationships/image"/><Relationship Id="rId5" Target="../media/image32.png" Type="http://schemas.openxmlformats.org/officeDocument/2006/relationships/image"/><Relationship Id="rId6" Target="../media/image33.png" Type="http://schemas.openxmlformats.org/officeDocument/2006/relationships/image"/><Relationship Id="rId7" Target="https://doi.org/10.1109/TCST.2016.2542115" TargetMode="External" Type="http://schemas.openxmlformats.org/officeDocument/2006/relationships/hyperlink"/></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3.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34.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9.jpeg" Type="http://schemas.openxmlformats.org/officeDocument/2006/relationships/image"/><Relationship Id="rId4" Target="../media/image35.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36.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37.jpeg" Type="http://schemas.openxmlformats.org/officeDocument/2006/relationships/image"/><Relationship Id="rId4" Target="../media/image38.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6.png" Type="http://schemas.openxmlformats.org/officeDocument/2006/relationships/image"/><Relationship Id="rId4" Target="../media/image39.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0.png" Type="http://schemas.openxmlformats.org/officeDocument/2006/relationships/image"/><Relationship Id="rId4" Target="../media/image41.png" Type="http://schemas.openxmlformats.org/officeDocument/2006/relationships/image"/><Relationship Id="rId5" Target="../media/image42.png" Type="http://schemas.openxmlformats.org/officeDocument/2006/relationships/image"/><Relationship Id="rId6" Target="../media/image43.png" Type="http://schemas.openxmlformats.org/officeDocument/2006/relationships/image"/><Relationship Id="rId7" Target="../media/image44.png" Type="http://schemas.openxmlformats.org/officeDocument/2006/relationships/image"/><Relationship Id="rId8" Target="../media/image45.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6.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3.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7.png" Type="http://schemas.openxmlformats.org/officeDocument/2006/relationships/image"/><Relationship Id="rId4" Target="../media/image48.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9.jpeg" Type="http://schemas.openxmlformats.org/officeDocument/2006/relationships/image"/><Relationship Id="rId4" Target="../media/image50.jpe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51.jpeg" Type="http://schemas.openxmlformats.org/officeDocument/2006/relationships/image"/><Relationship Id="rId4" Target="../media/image52.jpe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53.png" Type="http://schemas.openxmlformats.org/officeDocument/2006/relationships/image"/><Relationship Id="rId4" Target="../media/image54.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55.png" Type="http://schemas.openxmlformats.org/officeDocument/2006/relationships/image"/><Relationship Id="rId4" Target="../media/image56.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57.png" Type="http://schemas.openxmlformats.org/officeDocument/2006/relationships/image"/><Relationship Id="rId4" Target="../media/image58.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59.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60.png" Type="http://schemas.openxmlformats.org/officeDocument/2006/relationships/image"/><Relationship Id="rId4" Target="../media/image61.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62.jpeg" Type="http://schemas.openxmlformats.org/officeDocument/2006/relationships/image"/><Relationship Id="rId4" Target="../media/image63.jpe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64.jpeg" Type="http://schemas.openxmlformats.org/officeDocument/2006/relationships/image"/><Relationship Id="rId4" Target="../media/image65.jpeg" Type="http://schemas.openxmlformats.org/officeDocument/2006/relationships/image"/><Relationship Id="rId5" Target="../media/image66.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67.jpeg" Type="http://schemas.openxmlformats.org/officeDocument/2006/relationships/image"/><Relationship Id="rId4" Target="../media/image68.jpe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69.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70.jpeg" Type="http://schemas.openxmlformats.org/officeDocument/2006/relationships/image"/><Relationship Id="rId4" Target="../media/image71.jpe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72.jpeg" Type="http://schemas.openxmlformats.org/officeDocument/2006/relationships/image"/><Relationship Id="rId4" Target="../media/image73.jpe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74.jpeg" Type="http://schemas.openxmlformats.org/officeDocument/2006/relationships/image"/><Relationship Id="rId4" Target="../media/image75.jpe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76.jpeg" Type="http://schemas.openxmlformats.org/officeDocument/2006/relationships/image"/><Relationship Id="rId4" Target="../media/image77.jpe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78.png" Type="http://schemas.openxmlformats.org/officeDocument/2006/relationships/image"/><Relationship Id="rId4" Target="../media/image79.jpeg" Type="http://schemas.openxmlformats.org/officeDocument/2006/relationships/image"/><Relationship Id="rId5" Target="../media/VAHPaNo64lI.mp4" Type="http://schemas.openxmlformats.org/officeDocument/2006/relationships/video"/><Relationship Id="rId6" Target="../media/VAHPaNo64lI.mp4" Type="http://schemas.microsoft.com/office/2007/relationships/media"/></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80.jpeg" Type="http://schemas.openxmlformats.org/officeDocument/2006/relationships/image"/><Relationship Id="rId4" Target="../media/image81.jpe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82.jpeg" Type="http://schemas.openxmlformats.org/officeDocument/2006/relationships/image"/><Relationship Id="rId4" Target="../media/image83.jpe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84.jpeg" Type="http://schemas.openxmlformats.org/officeDocument/2006/relationships/image"/><Relationship Id="rId4" Target="../media/image85.jpeg" Type="http://schemas.openxmlformats.org/officeDocument/2006/relationships/image"/><Relationship Id="rId5" Target="../media/VAHPaHvBJoc.mp4" Type="http://schemas.openxmlformats.org/officeDocument/2006/relationships/video"/><Relationship Id="rId6" Target="../media/VAHPaHvBJoc.mp4" Type="http://schemas.microsoft.com/office/2007/relationships/media"/></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86.jpeg" Type="http://schemas.openxmlformats.org/officeDocument/2006/relationships/image"/><Relationship Id="rId4" Target="../media/image87.jpe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2.png" Type="http://schemas.openxmlformats.org/officeDocument/2006/relationships/image"/><Relationship Id="rId4" Target="../media/image43.png" Type="http://schemas.openxmlformats.org/officeDocument/2006/relationships/image"/><Relationship Id="rId5" Target="../media/image88.png" Type="http://schemas.openxmlformats.org/officeDocument/2006/relationships/image"/><Relationship Id="rId6" Target="../media/image89.pn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90.png" Type="http://schemas.openxmlformats.org/officeDocument/2006/relationships/image"/><Relationship Id="rId4" Target="../media/image91.pn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92.png" Type="http://schemas.openxmlformats.org/officeDocument/2006/relationships/image"/><Relationship Id="rId4" Target="../media/image93.pn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94.jpeg" Type="http://schemas.openxmlformats.org/officeDocument/2006/relationships/image"/><Relationship Id="rId4" Target="../media/image95.jpeg" Type="http://schemas.openxmlformats.org/officeDocument/2006/relationships/image"/><Relationship Id="rId5" Target="../media/VAHPaJ7CtKM.mp4" Type="http://schemas.openxmlformats.org/officeDocument/2006/relationships/video"/><Relationship Id="rId6" Target="../media/VAHPaJ7CtKM.mp4" Type="http://schemas.microsoft.com/office/2007/relationships/media"/></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96.png" Type="http://schemas.openxmlformats.org/officeDocument/2006/relationships/image"/><Relationship Id="rId4" Target="../media/image97.pn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3.pn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768522" y="1028700"/>
            <a:ext cx="23494042" cy="13215399"/>
          </a:xfrm>
          <a:custGeom>
            <a:avLst/>
            <a:gdLst/>
            <a:ahLst/>
            <a:cxnLst/>
            <a:rect r="r" b="b" t="t" l="l"/>
            <a:pathLst>
              <a:path h="13215399" w="23494042">
                <a:moveTo>
                  <a:pt x="0" y="0"/>
                </a:moveTo>
                <a:lnTo>
                  <a:pt x="23494042" y="0"/>
                </a:lnTo>
                <a:lnTo>
                  <a:pt x="23494042" y="13215399"/>
                </a:lnTo>
                <a:lnTo>
                  <a:pt x="0" y="13215399"/>
                </a:lnTo>
                <a:lnTo>
                  <a:pt x="0" y="0"/>
                </a:lnTo>
                <a:close/>
              </a:path>
            </a:pathLst>
          </a:custGeom>
          <a:blipFill>
            <a:blip r:embed="rId2">
              <a:alphaModFix amt="50000"/>
            </a:blip>
            <a:stretch>
              <a:fillRect l="0" t="0" r="0" b="0"/>
            </a:stretch>
          </a:blipFill>
        </p:spPr>
      </p:sp>
      <p:grpSp>
        <p:nvGrpSpPr>
          <p:cNvPr name="Group 3" id="3"/>
          <p:cNvGrpSpPr/>
          <p:nvPr/>
        </p:nvGrpSpPr>
        <p:grpSpPr>
          <a:xfrm rot="0">
            <a:off x="-579596" y="-181121"/>
            <a:ext cx="19451272" cy="10822184"/>
            <a:chOff x="0" y="0"/>
            <a:chExt cx="5309539" cy="2954090"/>
          </a:xfrm>
        </p:grpSpPr>
        <p:sp>
          <p:nvSpPr>
            <p:cNvPr name="Freeform 4" id="4"/>
            <p:cNvSpPr/>
            <p:nvPr/>
          </p:nvSpPr>
          <p:spPr>
            <a:xfrm flipH="false" flipV="false" rot="0">
              <a:off x="0" y="0"/>
              <a:ext cx="5309539" cy="2954090"/>
            </a:xfrm>
            <a:custGeom>
              <a:avLst/>
              <a:gdLst/>
              <a:ahLst/>
              <a:cxnLst/>
              <a:rect r="r" b="b" t="t" l="l"/>
              <a:pathLst>
                <a:path h="2954090" w="5309539">
                  <a:moveTo>
                    <a:pt x="20299" y="0"/>
                  </a:moveTo>
                  <a:lnTo>
                    <a:pt x="5289240" y="0"/>
                  </a:lnTo>
                  <a:cubicBezTo>
                    <a:pt x="5300450" y="0"/>
                    <a:pt x="5309539" y="9088"/>
                    <a:pt x="5309539" y="20299"/>
                  </a:cubicBezTo>
                  <a:lnTo>
                    <a:pt x="5309539" y="2933791"/>
                  </a:lnTo>
                  <a:cubicBezTo>
                    <a:pt x="5309539" y="2945002"/>
                    <a:pt x="5300450" y="2954090"/>
                    <a:pt x="5289240" y="2954090"/>
                  </a:cubicBezTo>
                  <a:lnTo>
                    <a:pt x="20299" y="2954090"/>
                  </a:lnTo>
                  <a:cubicBezTo>
                    <a:pt x="9088" y="2954090"/>
                    <a:pt x="0" y="2945002"/>
                    <a:pt x="0" y="2933791"/>
                  </a:cubicBezTo>
                  <a:lnTo>
                    <a:pt x="0" y="20299"/>
                  </a:lnTo>
                  <a:cubicBezTo>
                    <a:pt x="0" y="9088"/>
                    <a:pt x="9088" y="0"/>
                    <a:pt x="20299" y="0"/>
                  </a:cubicBezTo>
                  <a:close/>
                </a:path>
              </a:pathLst>
            </a:custGeom>
            <a:solidFill>
              <a:srgbClr val="000000">
                <a:alpha val="49804"/>
              </a:srgbClr>
            </a:solidFill>
          </p:spPr>
        </p:sp>
        <p:sp>
          <p:nvSpPr>
            <p:cNvPr name="TextBox 5" id="5"/>
            <p:cNvSpPr txBox="true"/>
            <p:nvPr/>
          </p:nvSpPr>
          <p:spPr>
            <a:xfrm>
              <a:off x="0" y="-38100"/>
              <a:ext cx="5309539" cy="2992190"/>
            </a:xfrm>
            <a:prstGeom prst="rect">
              <a:avLst/>
            </a:prstGeom>
          </p:spPr>
          <p:txBody>
            <a:bodyPr anchor="ctr" rtlCol="false" tIns="49015" lIns="49015" bIns="49015" rIns="49015"/>
            <a:lstStyle/>
            <a:p>
              <a:pPr algn="ctr">
                <a:lnSpc>
                  <a:spcPts val="2659"/>
                </a:lnSpc>
              </a:pPr>
            </a:p>
          </p:txBody>
        </p:sp>
      </p:grpSp>
      <p:sp>
        <p:nvSpPr>
          <p:cNvPr name="TextBox 6" id="6"/>
          <p:cNvSpPr txBox="true"/>
          <p:nvPr/>
        </p:nvSpPr>
        <p:spPr>
          <a:xfrm rot="0">
            <a:off x="1028700" y="5600585"/>
            <a:ext cx="12395362" cy="1005206"/>
          </a:xfrm>
          <a:prstGeom prst="rect">
            <a:avLst/>
          </a:prstGeom>
        </p:spPr>
        <p:txBody>
          <a:bodyPr anchor="t" rtlCol="false" tIns="0" lIns="0" bIns="0" rIns="0">
            <a:spAutoFit/>
          </a:bodyPr>
          <a:lstStyle/>
          <a:p>
            <a:pPr algn="l">
              <a:lnSpc>
                <a:spcPts val="3919"/>
              </a:lnSpc>
            </a:pPr>
            <a:r>
              <a:rPr lang="en-US" sz="2799" b="true">
                <a:solidFill>
                  <a:srgbClr val="FFFFFF"/>
                </a:solidFill>
                <a:latin typeface="Poppins Bold"/>
                <a:ea typeface="Poppins Bold"/>
                <a:cs typeface="Poppins Bold"/>
                <a:sym typeface="Poppins Bold"/>
              </a:rPr>
              <a:t>Rama Suryansyah Budianto</a:t>
            </a:r>
          </a:p>
          <a:p>
            <a:pPr algn="l">
              <a:lnSpc>
                <a:spcPts val="3919"/>
              </a:lnSpc>
              <a:spcBef>
                <a:spcPct val="0"/>
              </a:spcBef>
            </a:pPr>
            <a:r>
              <a:rPr lang="en-US" b="true" sz="2799">
                <a:solidFill>
                  <a:srgbClr val="FFFFFF"/>
                </a:solidFill>
                <a:latin typeface="Poppins Bold"/>
                <a:ea typeface="Poppins Bold"/>
                <a:cs typeface="Poppins Bold"/>
                <a:sym typeface="Poppins Bold"/>
              </a:rPr>
              <a:t>5009221003</a:t>
            </a:r>
          </a:p>
        </p:txBody>
      </p:sp>
      <p:sp>
        <p:nvSpPr>
          <p:cNvPr name="TextBox 7" id="7"/>
          <p:cNvSpPr txBox="true"/>
          <p:nvPr/>
        </p:nvSpPr>
        <p:spPr>
          <a:xfrm rot="0">
            <a:off x="1028700" y="1898648"/>
            <a:ext cx="16230600" cy="2619375"/>
          </a:xfrm>
          <a:prstGeom prst="rect">
            <a:avLst/>
          </a:prstGeom>
        </p:spPr>
        <p:txBody>
          <a:bodyPr anchor="t" rtlCol="false" tIns="0" lIns="0" bIns="0" rIns="0">
            <a:spAutoFit/>
          </a:bodyPr>
          <a:lstStyle/>
          <a:p>
            <a:pPr algn="just">
              <a:lnSpc>
                <a:spcPts val="5159"/>
              </a:lnSpc>
            </a:pPr>
            <a:r>
              <a:rPr lang="en-US" b="true" sz="4299">
                <a:solidFill>
                  <a:srgbClr val="FADB5E"/>
                </a:solidFill>
                <a:latin typeface="Poppins Bold"/>
                <a:ea typeface="Poppins Bold"/>
                <a:cs typeface="Poppins Bold"/>
                <a:sym typeface="Poppins Bold"/>
              </a:rPr>
              <a:t>PERANCANGAN DAN IMPLEMENTASI EXTENDED KALMAN FILTER UNTUK POSITION SENSORLESS CONTROL BERBASIS FIELD ORIENTED CONTROL PADA MOTOR BRUSHLESS DC KONDISI RAMP-UP</a:t>
            </a:r>
          </a:p>
        </p:txBody>
      </p:sp>
      <p:sp>
        <p:nvSpPr>
          <p:cNvPr name="Freeform 8" id="8"/>
          <p:cNvSpPr/>
          <p:nvPr/>
        </p:nvSpPr>
        <p:spPr>
          <a:xfrm flipH="false" flipV="false" rot="0">
            <a:off x="18046693" y="6386439"/>
            <a:ext cx="11970898" cy="6733630"/>
          </a:xfrm>
          <a:custGeom>
            <a:avLst/>
            <a:gdLst/>
            <a:ahLst/>
            <a:cxnLst/>
            <a:rect r="r" b="b" t="t" l="l"/>
            <a:pathLst>
              <a:path h="6733630" w="11970898">
                <a:moveTo>
                  <a:pt x="0" y="0"/>
                </a:moveTo>
                <a:lnTo>
                  <a:pt x="11970899" y="0"/>
                </a:lnTo>
                <a:lnTo>
                  <a:pt x="11970899" y="6733631"/>
                </a:lnTo>
                <a:lnTo>
                  <a:pt x="0" y="6733631"/>
                </a:lnTo>
                <a:lnTo>
                  <a:pt x="0" y="0"/>
                </a:lnTo>
                <a:close/>
              </a:path>
            </a:pathLst>
          </a:custGeom>
          <a:blipFill>
            <a:blip r:embed="rId3"/>
            <a:stretch>
              <a:fillRect l="-60" t="0" r="-60" b="0"/>
            </a:stretch>
          </a:blipFill>
        </p:spPr>
      </p:sp>
      <p:grpSp>
        <p:nvGrpSpPr>
          <p:cNvPr name="Group 9" id="9"/>
          <p:cNvGrpSpPr/>
          <p:nvPr/>
        </p:nvGrpSpPr>
        <p:grpSpPr>
          <a:xfrm rot="0">
            <a:off x="13038174" y="458478"/>
            <a:ext cx="4563040" cy="1140443"/>
            <a:chOff x="0" y="0"/>
            <a:chExt cx="6084053" cy="1520591"/>
          </a:xfrm>
        </p:grpSpPr>
        <p:grpSp>
          <p:nvGrpSpPr>
            <p:cNvPr name="Group 10" id="10"/>
            <p:cNvGrpSpPr/>
            <p:nvPr/>
          </p:nvGrpSpPr>
          <p:grpSpPr>
            <a:xfrm rot="0">
              <a:off x="0" y="0"/>
              <a:ext cx="6084053" cy="1520591"/>
              <a:chOff x="0" y="0"/>
              <a:chExt cx="1626052" cy="406400"/>
            </a:xfrm>
          </p:grpSpPr>
          <p:sp>
            <p:nvSpPr>
              <p:cNvPr name="Freeform 11" id="11"/>
              <p:cNvSpPr/>
              <p:nvPr/>
            </p:nvSpPr>
            <p:spPr>
              <a:xfrm flipH="false" flipV="false" rot="0">
                <a:off x="0" y="0"/>
                <a:ext cx="1626052" cy="406400"/>
              </a:xfrm>
              <a:custGeom>
                <a:avLst/>
                <a:gdLst/>
                <a:ahLst/>
                <a:cxnLst/>
                <a:rect r="r" b="b" t="t" l="l"/>
                <a:pathLst>
                  <a:path h="406400" w="1626052">
                    <a:moveTo>
                      <a:pt x="1422852" y="0"/>
                    </a:moveTo>
                    <a:cubicBezTo>
                      <a:pt x="1535076" y="0"/>
                      <a:pt x="1626052" y="90976"/>
                      <a:pt x="1626052" y="203200"/>
                    </a:cubicBezTo>
                    <a:cubicBezTo>
                      <a:pt x="1626052" y="315424"/>
                      <a:pt x="1535076" y="406400"/>
                      <a:pt x="1422852"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12" id="12"/>
              <p:cNvSpPr txBox="true"/>
              <p:nvPr/>
            </p:nvSpPr>
            <p:spPr>
              <a:xfrm>
                <a:off x="0" y="-38100"/>
                <a:ext cx="1626052" cy="444500"/>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414535" y="124612"/>
              <a:ext cx="5254984" cy="1271367"/>
            </a:xfrm>
            <a:custGeom>
              <a:avLst/>
              <a:gdLst/>
              <a:ahLst/>
              <a:cxnLst/>
              <a:rect r="r" b="b" t="t" l="l"/>
              <a:pathLst>
                <a:path h="1271367" w="5254984">
                  <a:moveTo>
                    <a:pt x="0" y="0"/>
                  </a:moveTo>
                  <a:lnTo>
                    <a:pt x="5254983" y="0"/>
                  </a:lnTo>
                  <a:lnTo>
                    <a:pt x="5254983" y="1271367"/>
                  </a:lnTo>
                  <a:lnTo>
                    <a:pt x="0" y="1271367"/>
                  </a:lnTo>
                  <a:lnTo>
                    <a:pt x="0" y="0"/>
                  </a:lnTo>
                  <a:close/>
                </a:path>
              </a:pathLst>
            </a:custGeom>
            <a:blipFill>
              <a:blip r:embed="rId4"/>
              <a:stretch>
                <a:fillRect l="0" t="0" r="0" b="0"/>
              </a:stretch>
            </a:blipFill>
          </p:spPr>
        </p:sp>
      </p:grpSp>
      <p:sp>
        <p:nvSpPr>
          <p:cNvPr name="TextBox 14" id="14"/>
          <p:cNvSpPr txBox="true"/>
          <p:nvPr/>
        </p:nvSpPr>
        <p:spPr>
          <a:xfrm rot="0">
            <a:off x="1028700" y="5067300"/>
            <a:ext cx="4156557" cy="523876"/>
          </a:xfrm>
          <a:prstGeom prst="rect">
            <a:avLst/>
          </a:prstGeom>
        </p:spPr>
        <p:txBody>
          <a:bodyPr anchor="t" rtlCol="false" tIns="0" lIns="0" bIns="0" rIns="0">
            <a:spAutoFit/>
          </a:bodyPr>
          <a:lstStyle/>
          <a:p>
            <a:pPr algn="just">
              <a:lnSpc>
                <a:spcPts val="4199"/>
              </a:lnSpc>
              <a:spcBef>
                <a:spcPct val="0"/>
              </a:spcBef>
            </a:pPr>
            <a:r>
              <a:rPr lang="en-US" b="true" sz="2999">
                <a:solidFill>
                  <a:srgbClr val="FADB5E"/>
                </a:solidFill>
                <a:latin typeface="Poppins Bold"/>
                <a:ea typeface="Poppins Bold"/>
                <a:cs typeface="Poppins Bold"/>
                <a:sym typeface="Poppins Bold"/>
              </a:rPr>
              <a:t>Disusun oleh</a:t>
            </a:r>
          </a:p>
        </p:txBody>
      </p:sp>
      <p:sp>
        <p:nvSpPr>
          <p:cNvPr name="TextBox 15" id="15"/>
          <p:cNvSpPr txBox="true"/>
          <p:nvPr/>
        </p:nvSpPr>
        <p:spPr>
          <a:xfrm rot="0">
            <a:off x="1028700" y="7882136"/>
            <a:ext cx="5479644" cy="523876"/>
          </a:xfrm>
          <a:prstGeom prst="rect">
            <a:avLst/>
          </a:prstGeom>
        </p:spPr>
        <p:txBody>
          <a:bodyPr anchor="t" rtlCol="false" tIns="0" lIns="0" bIns="0" rIns="0">
            <a:spAutoFit/>
          </a:bodyPr>
          <a:lstStyle/>
          <a:p>
            <a:pPr algn="just">
              <a:lnSpc>
                <a:spcPts val="4199"/>
              </a:lnSpc>
              <a:spcBef>
                <a:spcPct val="0"/>
              </a:spcBef>
            </a:pPr>
            <a:r>
              <a:rPr lang="en-US" b="true" sz="2999">
                <a:solidFill>
                  <a:srgbClr val="FADB5E"/>
                </a:solidFill>
                <a:latin typeface="Poppins Bold"/>
                <a:ea typeface="Poppins Bold"/>
                <a:cs typeface="Poppins Bold"/>
                <a:sym typeface="Poppins Bold"/>
              </a:rPr>
              <a:t>Dosen Pembimbing 1</a:t>
            </a:r>
          </a:p>
        </p:txBody>
      </p:sp>
      <p:sp>
        <p:nvSpPr>
          <p:cNvPr name="TextBox 16" id="16"/>
          <p:cNvSpPr txBox="true"/>
          <p:nvPr/>
        </p:nvSpPr>
        <p:spPr>
          <a:xfrm rot="0">
            <a:off x="1028700" y="8415421"/>
            <a:ext cx="12395362" cy="509906"/>
          </a:xfrm>
          <a:prstGeom prst="rect">
            <a:avLst/>
          </a:prstGeom>
        </p:spPr>
        <p:txBody>
          <a:bodyPr anchor="t" rtlCol="false" tIns="0" lIns="0" bIns="0" rIns="0">
            <a:spAutoFit/>
          </a:bodyPr>
          <a:lstStyle/>
          <a:p>
            <a:pPr algn="l">
              <a:lnSpc>
                <a:spcPts val="3919"/>
              </a:lnSpc>
              <a:spcBef>
                <a:spcPct val="0"/>
              </a:spcBef>
            </a:pPr>
            <a:r>
              <a:rPr lang="en-US" b="true" sz="2799">
                <a:solidFill>
                  <a:srgbClr val="FFFFFF"/>
                </a:solidFill>
                <a:latin typeface="Poppins Bold"/>
                <a:ea typeface="Poppins Bold"/>
                <a:cs typeface="Poppins Bold"/>
                <a:sym typeface="Poppins Bold"/>
              </a:rPr>
              <a:t>Prof. Dr. Katherin Indriawati, S.T., M.T. ,IPU</a:t>
            </a:r>
          </a:p>
        </p:txBody>
      </p:sp>
      <p:sp>
        <p:nvSpPr>
          <p:cNvPr name="TextBox 17" id="17"/>
          <p:cNvSpPr txBox="true"/>
          <p:nvPr/>
        </p:nvSpPr>
        <p:spPr>
          <a:xfrm rot="0">
            <a:off x="9317862" y="8379602"/>
            <a:ext cx="12395362" cy="509906"/>
          </a:xfrm>
          <a:prstGeom prst="rect">
            <a:avLst/>
          </a:prstGeom>
        </p:spPr>
        <p:txBody>
          <a:bodyPr anchor="t" rtlCol="false" tIns="0" lIns="0" bIns="0" rIns="0">
            <a:spAutoFit/>
          </a:bodyPr>
          <a:lstStyle/>
          <a:p>
            <a:pPr algn="l">
              <a:lnSpc>
                <a:spcPts val="3919"/>
              </a:lnSpc>
              <a:spcBef>
                <a:spcPct val="0"/>
              </a:spcBef>
            </a:pPr>
            <a:r>
              <a:rPr lang="en-US" b="true" sz="2799">
                <a:solidFill>
                  <a:srgbClr val="FFFFFF"/>
                </a:solidFill>
                <a:latin typeface="Poppins Bold"/>
                <a:ea typeface="Poppins Bold"/>
                <a:cs typeface="Poppins Bold"/>
                <a:sym typeface="Poppins Bold"/>
              </a:rPr>
              <a:t>Tasya Yusiasfa Christnantasari, S.T., M.Sc.</a:t>
            </a:r>
          </a:p>
        </p:txBody>
      </p:sp>
      <p:sp>
        <p:nvSpPr>
          <p:cNvPr name="TextBox 18" id="18"/>
          <p:cNvSpPr txBox="true"/>
          <p:nvPr/>
        </p:nvSpPr>
        <p:spPr>
          <a:xfrm rot="0">
            <a:off x="9317862" y="7846317"/>
            <a:ext cx="5479644" cy="523876"/>
          </a:xfrm>
          <a:prstGeom prst="rect">
            <a:avLst/>
          </a:prstGeom>
        </p:spPr>
        <p:txBody>
          <a:bodyPr anchor="t" rtlCol="false" tIns="0" lIns="0" bIns="0" rIns="0">
            <a:spAutoFit/>
          </a:bodyPr>
          <a:lstStyle/>
          <a:p>
            <a:pPr algn="just">
              <a:lnSpc>
                <a:spcPts val="4199"/>
              </a:lnSpc>
              <a:spcBef>
                <a:spcPct val="0"/>
              </a:spcBef>
            </a:pPr>
            <a:r>
              <a:rPr lang="en-US" b="true" sz="2999">
                <a:solidFill>
                  <a:srgbClr val="FADB5E"/>
                </a:solidFill>
                <a:latin typeface="Poppins Bold"/>
                <a:ea typeface="Poppins Bold"/>
                <a:cs typeface="Poppins Bold"/>
                <a:sym typeface="Poppins Bold"/>
              </a:rPr>
              <a:t>Dosen Pembimbing 2</a:t>
            </a:r>
          </a:p>
        </p:txBody>
      </p:sp>
      <p:grpSp>
        <p:nvGrpSpPr>
          <p:cNvPr name="Group 19" id="19"/>
          <p:cNvGrpSpPr/>
          <p:nvPr/>
        </p:nvGrpSpPr>
        <p:grpSpPr>
          <a:xfrm rot="0">
            <a:off x="811666" y="9258300"/>
            <a:ext cx="16668750" cy="95250"/>
            <a:chOff x="0" y="0"/>
            <a:chExt cx="4390123" cy="25086"/>
          </a:xfrm>
        </p:grpSpPr>
        <p:sp>
          <p:nvSpPr>
            <p:cNvPr name="Freeform 20" id="20"/>
            <p:cNvSpPr/>
            <p:nvPr/>
          </p:nvSpPr>
          <p:spPr>
            <a:xfrm flipH="false" flipV="false" rot="0">
              <a:off x="0" y="0"/>
              <a:ext cx="4390124" cy="25086"/>
            </a:xfrm>
            <a:custGeom>
              <a:avLst/>
              <a:gdLst/>
              <a:ahLst/>
              <a:cxnLst/>
              <a:rect r="r" b="b" t="t" l="l"/>
              <a:pathLst>
                <a:path h="25086" w="4390124">
                  <a:moveTo>
                    <a:pt x="0" y="0"/>
                  </a:moveTo>
                  <a:lnTo>
                    <a:pt x="4390124" y="0"/>
                  </a:lnTo>
                  <a:lnTo>
                    <a:pt x="4390124" y="25086"/>
                  </a:lnTo>
                  <a:lnTo>
                    <a:pt x="0" y="25086"/>
                  </a:lnTo>
                  <a:close/>
                </a:path>
              </a:pathLst>
            </a:custGeom>
            <a:solidFill>
              <a:srgbClr val="59524B"/>
            </a:solidFill>
          </p:spPr>
        </p:sp>
        <p:sp>
          <p:nvSpPr>
            <p:cNvPr name="TextBox 21" id="21"/>
            <p:cNvSpPr txBox="true"/>
            <p:nvPr/>
          </p:nvSpPr>
          <p:spPr>
            <a:xfrm>
              <a:off x="0" y="-38100"/>
              <a:ext cx="4390123" cy="63186"/>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4816593" cy="2709333"/>
          </a:xfrm>
        </p:grpSpPr>
        <p:sp>
          <p:nvSpPr>
            <p:cNvPr name="Freeform 3" id="3"/>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59524B"/>
            </a:solidFill>
          </p:spPr>
        </p:sp>
        <p:sp>
          <p:nvSpPr>
            <p:cNvPr name="TextBox 4" id="4"/>
            <p:cNvSpPr txBox="true"/>
            <p:nvPr/>
          </p:nvSpPr>
          <p:spPr>
            <a:xfrm>
              <a:off x="0" y="-38100"/>
              <a:ext cx="4816593" cy="2747433"/>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723147" y="0"/>
            <a:ext cx="21734294" cy="10287000"/>
          </a:xfrm>
          <a:custGeom>
            <a:avLst/>
            <a:gdLst/>
            <a:ahLst/>
            <a:cxnLst/>
            <a:rect r="r" b="b" t="t" l="l"/>
            <a:pathLst>
              <a:path h="10287000" w="21734294">
                <a:moveTo>
                  <a:pt x="0" y="0"/>
                </a:moveTo>
                <a:lnTo>
                  <a:pt x="21734294" y="0"/>
                </a:lnTo>
                <a:lnTo>
                  <a:pt x="21734294" y="10287000"/>
                </a:lnTo>
                <a:lnTo>
                  <a:pt x="0" y="10287000"/>
                </a:lnTo>
                <a:lnTo>
                  <a:pt x="0" y="0"/>
                </a:lnTo>
                <a:close/>
              </a:path>
            </a:pathLst>
          </a:custGeom>
          <a:blipFill>
            <a:blip r:embed="rId2">
              <a:alphaModFix amt="50000"/>
            </a:blip>
            <a:stretch>
              <a:fillRect l="0" t="0" r="0" b="0"/>
            </a:stretch>
          </a:blipFill>
        </p:spPr>
      </p:sp>
      <p:grpSp>
        <p:nvGrpSpPr>
          <p:cNvPr name="Group 6" id="6"/>
          <p:cNvGrpSpPr/>
          <p:nvPr/>
        </p:nvGrpSpPr>
        <p:grpSpPr>
          <a:xfrm rot="0">
            <a:off x="5245947" y="4169257"/>
            <a:ext cx="7796106" cy="1948485"/>
            <a:chOff x="0" y="0"/>
            <a:chExt cx="1626052" cy="406400"/>
          </a:xfrm>
        </p:grpSpPr>
        <p:sp>
          <p:nvSpPr>
            <p:cNvPr name="Freeform 7" id="7"/>
            <p:cNvSpPr/>
            <p:nvPr/>
          </p:nvSpPr>
          <p:spPr>
            <a:xfrm flipH="false" flipV="false" rot="0">
              <a:off x="0" y="0"/>
              <a:ext cx="1626052" cy="406400"/>
            </a:xfrm>
            <a:custGeom>
              <a:avLst/>
              <a:gdLst/>
              <a:ahLst/>
              <a:cxnLst/>
              <a:rect r="r" b="b" t="t" l="l"/>
              <a:pathLst>
                <a:path h="406400" w="1626052">
                  <a:moveTo>
                    <a:pt x="1422852" y="0"/>
                  </a:moveTo>
                  <a:cubicBezTo>
                    <a:pt x="1535076" y="0"/>
                    <a:pt x="1626052" y="90976"/>
                    <a:pt x="1626052" y="203200"/>
                  </a:cubicBezTo>
                  <a:cubicBezTo>
                    <a:pt x="1626052" y="315424"/>
                    <a:pt x="1535076" y="406400"/>
                    <a:pt x="1422852"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8" id="8"/>
            <p:cNvSpPr txBox="true"/>
            <p:nvPr/>
          </p:nvSpPr>
          <p:spPr>
            <a:xfrm>
              <a:off x="0" y="-38100"/>
              <a:ext cx="1626052" cy="4445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3038174" y="458478"/>
            <a:ext cx="4563040" cy="1140443"/>
            <a:chOff x="0" y="0"/>
            <a:chExt cx="6084053" cy="1520591"/>
          </a:xfrm>
        </p:grpSpPr>
        <p:grpSp>
          <p:nvGrpSpPr>
            <p:cNvPr name="Group 10" id="10"/>
            <p:cNvGrpSpPr/>
            <p:nvPr/>
          </p:nvGrpSpPr>
          <p:grpSpPr>
            <a:xfrm rot="0">
              <a:off x="0" y="0"/>
              <a:ext cx="6084053" cy="1520591"/>
              <a:chOff x="0" y="0"/>
              <a:chExt cx="1626052" cy="406400"/>
            </a:xfrm>
          </p:grpSpPr>
          <p:sp>
            <p:nvSpPr>
              <p:cNvPr name="Freeform 11" id="11"/>
              <p:cNvSpPr/>
              <p:nvPr/>
            </p:nvSpPr>
            <p:spPr>
              <a:xfrm flipH="false" flipV="false" rot="0">
                <a:off x="0" y="0"/>
                <a:ext cx="1626052" cy="406400"/>
              </a:xfrm>
              <a:custGeom>
                <a:avLst/>
                <a:gdLst/>
                <a:ahLst/>
                <a:cxnLst/>
                <a:rect r="r" b="b" t="t" l="l"/>
                <a:pathLst>
                  <a:path h="406400" w="1626052">
                    <a:moveTo>
                      <a:pt x="1422852" y="0"/>
                    </a:moveTo>
                    <a:cubicBezTo>
                      <a:pt x="1535076" y="0"/>
                      <a:pt x="1626052" y="90976"/>
                      <a:pt x="1626052" y="203200"/>
                    </a:cubicBezTo>
                    <a:cubicBezTo>
                      <a:pt x="1626052" y="315424"/>
                      <a:pt x="1535076" y="406400"/>
                      <a:pt x="1422852"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12" id="12"/>
              <p:cNvSpPr txBox="true"/>
              <p:nvPr/>
            </p:nvSpPr>
            <p:spPr>
              <a:xfrm>
                <a:off x="0" y="-38100"/>
                <a:ext cx="1626052" cy="444500"/>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414535" y="124612"/>
              <a:ext cx="5254984" cy="1271367"/>
            </a:xfrm>
            <a:custGeom>
              <a:avLst/>
              <a:gdLst/>
              <a:ahLst/>
              <a:cxnLst/>
              <a:rect r="r" b="b" t="t" l="l"/>
              <a:pathLst>
                <a:path h="1271367" w="5254984">
                  <a:moveTo>
                    <a:pt x="0" y="0"/>
                  </a:moveTo>
                  <a:lnTo>
                    <a:pt x="5254983" y="0"/>
                  </a:lnTo>
                  <a:lnTo>
                    <a:pt x="5254983" y="1271367"/>
                  </a:lnTo>
                  <a:lnTo>
                    <a:pt x="0" y="1271367"/>
                  </a:lnTo>
                  <a:lnTo>
                    <a:pt x="0" y="0"/>
                  </a:lnTo>
                  <a:close/>
                </a:path>
              </a:pathLst>
            </a:custGeom>
            <a:blipFill>
              <a:blip r:embed="rId3"/>
              <a:stretch>
                <a:fillRect l="0" t="0" r="0" b="0"/>
              </a:stretch>
            </a:blipFill>
          </p:spPr>
        </p:sp>
      </p:grpSp>
      <p:sp>
        <p:nvSpPr>
          <p:cNvPr name="TextBox 14" id="14"/>
          <p:cNvSpPr txBox="true"/>
          <p:nvPr/>
        </p:nvSpPr>
        <p:spPr>
          <a:xfrm rot="0">
            <a:off x="5938602" y="4186490"/>
            <a:ext cx="6410797" cy="1713996"/>
          </a:xfrm>
          <a:prstGeom prst="rect">
            <a:avLst/>
          </a:prstGeom>
        </p:spPr>
        <p:txBody>
          <a:bodyPr anchor="t" rtlCol="false" tIns="0" lIns="0" bIns="0" rIns="0">
            <a:spAutoFit/>
          </a:bodyPr>
          <a:lstStyle/>
          <a:p>
            <a:pPr algn="ctr">
              <a:lnSpc>
                <a:spcPts val="13911"/>
              </a:lnSpc>
            </a:pPr>
            <a:r>
              <a:rPr lang="en-US" sz="9937">
                <a:solidFill>
                  <a:srgbClr val="59524B"/>
                </a:solidFill>
                <a:latin typeface="Bebas Neue 1"/>
                <a:ea typeface="Bebas Neue 1"/>
                <a:cs typeface="Bebas Neue 1"/>
                <a:sym typeface="Bebas Neue 1"/>
              </a:rPr>
              <a:t>pendahuluan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5313" y="464654"/>
            <a:ext cx="4760079" cy="1523631"/>
            <a:chOff x="0" y="0"/>
            <a:chExt cx="1696267" cy="542950"/>
          </a:xfrm>
        </p:grpSpPr>
        <p:sp>
          <p:nvSpPr>
            <p:cNvPr name="Freeform 3" id="3"/>
            <p:cNvSpPr/>
            <p:nvPr/>
          </p:nvSpPr>
          <p:spPr>
            <a:xfrm flipH="false" flipV="false" rot="0">
              <a:off x="0" y="0"/>
              <a:ext cx="1696267" cy="542950"/>
            </a:xfrm>
            <a:custGeom>
              <a:avLst/>
              <a:gdLst/>
              <a:ahLst/>
              <a:cxnLst/>
              <a:rect r="r" b="b" t="t" l="l"/>
              <a:pathLst>
                <a:path h="542950" w="1696267">
                  <a:moveTo>
                    <a:pt x="1493067" y="0"/>
                  </a:moveTo>
                  <a:cubicBezTo>
                    <a:pt x="1605291" y="0"/>
                    <a:pt x="1696267" y="121543"/>
                    <a:pt x="1696267" y="271475"/>
                  </a:cubicBezTo>
                  <a:cubicBezTo>
                    <a:pt x="1696267" y="421406"/>
                    <a:pt x="1605291" y="542950"/>
                    <a:pt x="1493067" y="542950"/>
                  </a:cubicBezTo>
                  <a:lnTo>
                    <a:pt x="203200" y="542950"/>
                  </a:lnTo>
                  <a:cubicBezTo>
                    <a:pt x="90976" y="542950"/>
                    <a:pt x="0" y="421406"/>
                    <a:pt x="0" y="271475"/>
                  </a:cubicBezTo>
                  <a:cubicBezTo>
                    <a:pt x="0" y="121543"/>
                    <a:pt x="90976" y="0"/>
                    <a:pt x="203200" y="0"/>
                  </a:cubicBezTo>
                  <a:close/>
                </a:path>
              </a:pathLst>
            </a:custGeom>
            <a:solidFill>
              <a:srgbClr val="F2F2F2"/>
            </a:solidFill>
          </p:spPr>
        </p:sp>
        <p:sp>
          <p:nvSpPr>
            <p:cNvPr name="TextBox 4" id="4"/>
            <p:cNvSpPr txBox="true"/>
            <p:nvPr/>
          </p:nvSpPr>
          <p:spPr>
            <a:xfrm>
              <a:off x="0" y="-38100"/>
              <a:ext cx="1696267" cy="5810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792968" y="9258300"/>
            <a:ext cx="16668750" cy="95250"/>
            <a:chOff x="0" y="0"/>
            <a:chExt cx="4390123" cy="25086"/>
          </a:xfrm>
        </p:grpSpPr>
        <p:sp>
          <p:nvSpPr>
            <p:cNvPr name="Freeform 6" id="6"/>
            <p:cNvSpPr/>
            <p:nvPr/>
          </p:nvSpPr>
          <p:spPr>
            <a:xfrm flipH="false" flipV="false" rot="0">
              <a:off x="0" y="0"/>
              <a:ext cx="4390124" cy="25086"/>
            </a:xfrm>
            <a:custGeom>
              <a:avLst/>
              <a:gdLst/>
              <a:ahLst/>
              <a:cxnLst/>
              <a:rect r="r" b="b" t="t" l="l"/>
              <a:pathLst>
                <a:path h="25086" w="4390124">
                  <a:moveTo>
                    <a:pt x="0" y="0"/>
                  </a:moveTo>
                  <a:lnTo>
                    <a:pt x="4390124" y="0"/>
                  </a:lnTo>
                  <a:lnTo>
                    <a:pt x="4390124" y="25086"/>
                  </a:lnTo>
                  <a:lnTo>
                    <a:pt x="0" y="25086"/>
                  </a:lnTo>
                  <a:close/>
                </a:path>
              </a:pathLst>
            </a:custGeom>
            <a:solidFill>
              <a:srgbClr val="59524B"/>
            </a:solidFill>
          </p:spPr>
        </p:sp>
        <p:sp>
          <p:nvSpPr>
            <p:cNvPr name="TextBox 7" id="7"/>
            <p:cNvSpPr txBox="true"/>
            <p:nvPr/>
          </p:nvSpPr>
          <p:spPr>
            <a:xfrm>
              <a:off x="0" y="-38100"/>
              <a:ext cx="4390123" cy="63186"/>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3038174" y="458478"/>
            <a:ext cx="4563040" cy="1140443"/>
            <a:chOff x="0" y="0"/>
            <a:chExt cx="6084053" cy="1520591"/>
          </a:xfrm>
        </p:grpSpPr>
        <p:grpSp>
          <p:nvGrpSpPr>
            <p:cNvPr name="Group 9" id="9"/>
            <p:cNvGrpSpPr/>
            <p:nvPr/>
          </p:nvGrpSpPr>
          <p:grpSpPr>
            <a:xfrm rot="0">
              <a:off x="0" y="0"/>
              <a:ext cx="6084053" cy="1520591"/>
              <a:chOff x="0" y="0"/>
              <a:chExt cx="1626052" cy="406400"/>
            </a:xfrm>
          </p:grpSpPr>
          <p:sp>
            <p:nvSpPr>
              <p:cNvPr name="Freeform 10" id="10"/>
              <p:cNvSpPr/>
              <p:nvPr/>
            </p:nvSpPr>
            <p:spPr>
              <a:xfrm flipH="false" flipV="false" rot="0">
                <a:off x="0" y="0"/>
                <a:ext cx="1626052" cy="406400"/>
              </a:xfrm>
              <a:custGeom>
                <a:avLst/>
                <a:gdLst/>
                <a:ahLst/>
                <a:cxnLst/>
                <a:rect r="r" b="b" t="t" l="l"/>
                <a:pathLst>
                  <a:path h="406400" w="1626052">
                    <a:moveTo>
                      <a:pt x="1422852" y="0"/>
                    </a:moveTo>
                    <a:cubicBezTo>
                      <a:pt x="1535076" y="0"/>
                      <a:pt x="1626052" y="90976"/>
                      <a:pt x="1626052" y="203200"/>
                    </a:cubicBezTo>
                    <a:cubicBezTo>
                      <a:pt x="1626052" y="315424"/>
                      <a:pt x="1535076" y="406400"/>
                      <a:pt x="1422852"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11" id="11"/>
              <p:cNvSpPr txBox="true"/>
              <p:nvPr/>
            </p:nvSpPr>
            <p:spPr>
              <a:xfrm>
                <a:off x="0" y="-38100"/>
                <a:ext cx="1626052" cy="444500"/>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414535" y="124612"/>
              <a:ext cx="5254984" cy="1271367"/>
            </a:xfrm>
            <a:custGeom>
              <a:avLst/>
              <a:gdLst/>
              <a:ahLst/>
              <a:cxnLst/>
              <a:rect r="r" b="b" t="t" l="l"/>
              <a:pathLst>
                <a:path h="1271367" w="5254984">
                  <a:moveTo>
                    <a:pt x="0" y="0"/>
                  </a:moveTo>
                  <a:lnTo>
                    <a:pt x="5254983" y="0"/>
                  </a:lnTo>
                  <a:lnTo>
                    <a:pt x="5254983" y="1271367"/>
                  </a:lnTo>
                  <a:lnTo>
                    <a:pt x="0" y="1271367"/>
                  </a:lnTo>
                  <a:lnTo>
                    <a:pt x="0" y="0"/>
                  </a:lnTo>
                  <a:close/>
                </a:path>
              </a:pathLst>
            </a:custGeom>
            <a:blipFill>
              <a:blip r:embed="rId2"/>
              <a:stretch>
                <a:fillRect l="0" t="0" r="0" b="0"/>
              </a:stretch>
            </a:blipFill>
          </p:spPr>
        </p:sp>
      </p:grpSp>
      <p:grpSp>
        <p:nvGrpSpPr>
          <p:cNvPr name="Group 13" id="13"/>
          <p:cNvGrpSpPr/>
          <p:nvPr/>
        </p:nvGrpSpPr>
        <p:grpSpPr>
          <a:xfrm rot="0">
            <a:off x="1486818" y="6971538"/>
            <a:ext cx="4762500" cy="95250"/>
            <a:chOff x="0" y="0"/>
            <a:chExt cx="1254321" cy="25086"/>
          </a:xfrm>
        </p:grpSpPr>
        <p:sp>
          <p:nvSpPr>
            <p:cNvPr name="Freeform 14" id="14"/>
            <p:cNvSpPr/>
            <p:nvPr/>
          </p:nvSpPr>
          <p:spPr>
            <a:xfrm flipH="false" flipV="false" rot="0">
              <a:off x="0" y="0"/>
              <a:ext cx="1254321" cy="25086"/>
            </a:xfrm>
            <a:custGeom>
              <a:avLst/>
              <a:gdLst/>
              <a:ahLst/>
              <a:cxnLst/>
              <a:rect r="r" b="b" t="t" l="l"/>
              <a:pathLst>
                <a:path h="25086" w="1254321">
                  <a:moveTo>
                    <a:pt x="0" y="0"/>
                  </a:moveTo>
                  <a:lnTo>
                    <a:pt x="1254321" y="0"/>
                  </a:lnTo>
                  <a:lnTo>
                    <a:pt x="1254321" y="25086"/>
                  </a:lnTo>
                  <a:lnTo>
                    <a:pt x="0" y="25086"/>
                  </a:lnTo>
                  <a:close/>
                </a:path>
              </a:pathLst>
            </a:custGeom>
            <a:solidFill>
              <a:srgbClr val="E5C857"/>
            </a:solidFill>
          </p:spPr>
        </p:sp>
        <p:sp>
          <p:nvSpPr>
            <p:cNvPr name="TextBox 15" id="15"/>
            <p:cNvSpPr txBox="true"/>
            <p:nvPr/>
          </p:nvSpPr>
          <p:spPr>
            <a:xfrm>
              <a:off x="0" y="-38100"/>
              <a:ext cx="1254321" cy="63186"/>
            </a:xfrm>
            <a:prstGeom prst="rect">
              <a:avLst/>
            </a:prstGeom>
          </p:spPr>
          <p:txBody>
            <a:bodyPr anchor="ctr" rtlCol="false" tIns="50800" lIns="50800" bIns="50800" rIns="50800"/>
            <a:lstStyle/>
            <a:p>
              <a:pPr algn="ctr">
                <a:lnSpc>
                  <a:spcPts val="2659"/>
                </a:lnSpc>
              </a:pPr>
            </a:p>
          </p:txBody>
        </p:sp>
      </p:grpSp>
      <p:sp>
        <p:nvSpPr>
          <p:cNvPr name="Freeform 16" id="16"/>
          <p:cNvSpPr/>
          <p:nvPr/>
        </p:nvSpPr>
        <p:spPr>
          <a:xfrm flipH="false" flipV="false" rot="0">
            <a:off x="1028700" y="2278886"/>
            <a:ext cx="5406813" cy="4531312"/>
          </a:xfrm>
          <a:custGeom>
            <a:avLst/>
            <a:gdLst/>
            <a:ahLst/>
            <a:cxnLst/>
            <a:rect r="r" b="b" t="t" l="l"/>
            <a:pathLst>
              <a:path h="4531312" w="5406813">
                <a:moveTo>
                  <a:pt x="0" y="0"/>
                </a:moveTo>
                <a:lnTo>
                  <a:pt x="5406813" y="0"/>
                </a:lnTo>
                <a:lnTo>
                  <a:pt x="5406813" y="4531312"/>
                </a:lnTo>
                <a:lnTo>
                  <a:pt x="0" y="4531312"/>
                </a:lnTo>
                <a:lnTo>
                  <a:pt x="0" y="0"/>
                </a:lnTo>
                <a:close/>
              </a:path>
            </a:pathLst>
          </a:custGeom>
          <a:blipFill>
            <a:blip r:embed="rId3"/>
            <a:stretch>
              <a:fillRect l="0" t="0" r="0" b="0"/>
            </a:stretch>
          </a:blipFill>
        </p:spPr>
      </p:sp>
      <p:sp>
        <p:nvSpPr>
          <p:cNvPr name="Freeform 17" id="17"/>
          <p:cNvSpPr/>
          <p:nvPr/>
        </p:nvSpPr>
        <p:spPr>
          <a:xfrm flipH="false" flipV="false" rot="0">
            <a:off x="9492308" y="3006312"/>
            <a:ext cx="1020224" cy="1176358"/>
          </a:xfrm>
          <a:custGeom>
            <a:avLst/>
            <a:gdLst/>
            <a:ahLst/>
            <a:cxnLst/>
            <a:rect r="r" b="b" t="t" l="l"/>
            <a:pathLst>
              <a:path h="1176358" w="1020224">
                <a:moveTo>
                  <a:pt x="0" y="0"/>
                </a:moveTo>
                <a:lnTo>
                  <a:pt x="1020224" y="0"/>
                </a:lnTo>
                <a:lnTo>
                  <a:pt x="1020224" y="1176358"/>
                </a:lnTo>
                <a:lnTo>
                  <a:pt x="0" y="117635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8" id="18"/>
          <p:cNvSpPr/>
          <p:nvPr/>
        </p:nvSpPr>
        <p:spPr>
          <a:xfrm flipH="false" flipV="false" rot="0">
            <a:off x="11502802" y="3006312"/>
            <a:ext cx="1270395" cy="1270395"/>
          </a:xfrm>
          <a:custGeom>
            <a:avLst/>
            <a:gdLst/>
            <a:ahLst/>
            <a:cxnLst/>
            <a:rect r="r" b="b" t="t" l="l"/>
            <a:pathLst>
              <a:path h="1270395" w="1270395">
                <a:moveTo>
                  <a:pt x="0" y="0"/>
                </a:moveTo>
                <a:lnTo>
                  <a:pt x="1270395" y="0"/>
                </a:lnTo>
                <a:lnTo>
                  <a:pt x="1270395" y="1270395"/>
                </a:lnTo>
                <a:lnTo>
                  <a:pt x="0" y="127039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9" id="19"/>
          <p:cNvSpPr/>
          <p:nvPr/>
        </p:nvSpPr>
        <p:spPr>
          <a:xfrm flipH="false" flipV="false" rot="0">
            <a:off x="13763467" y="3006312"/>
            <a:ext cx="1182810" cy="1176358"/>
          </a:xfrm>
          <a:custGeom>
            <a:avLst/>
            <a:gdLst/>
            <a:ahLst/>
            <a:cxnLst/>
            <a:rect r="r" b="b" t="t" l="l"/>
            <a:pathLst>
              <a:path h="1176358" w="1182810">
                <a:moveTo>
                  <a:pt x="0" y="0"/>
                </a:moveTo>
                <a:lnTo>
                  <a:pt x="1182810" y="0"/>
                </a:lnTo>
                <a:lnTo>
                  <a:pt x="1182810" y="1176358"/>
                </a:lnTo>
                <a:lnTo>
                  <a:pt x="0" y="117635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20" id="20"/>
          <p:cNvGrpSpPr/>
          <p:nvPr/>
        </p:nvGrpSpPr>
        <p:grpSpPr>
          <a:xfrm rot="0">
            <a:off x="7206522" y="4814887"/>
            <a:ext cx="10052778" cy="95250"/>
            <a:chOff x="0" y="0"/>
            <a:chExt cx="2647645" cy="25086"/>
          </a:xfrm>
        </p:grpSpPr>
        <p:sp>
          <p:nvSpPr>
            <p:cNvPr name="Freeform 21" id="21"/>
            <p:cNvSpPr/>
            <p:nvPr/>
          </p:nvSpPr>
          <p:spPr>
            <a:xfrm flipH="false" flipV="false" rot="0">
              <a:off x="0" y="0"/>
              <a:ext cx="2647645" cy="25086"/>
            </a:xfrm>
            <a:custGeom>
              <a:avLst/>
              <a:gdLst/>
              <a:ahLst/>
              <a:cxnLst/>
              <a:rect r="r" b="b" t="t" l="l"/>
              <a:pathLst>
                <a:path h="25086" w="2647645">
                  <a:moveTo>
                    <a:pt x="0" y="0"/>
                  </a:moveTo>
                  <a:lnTo>
                    <a:pt x="2647645" y="0"/>
                  </a:lnTo>
                  <a:lnTo>
                    <a:pt x="2647645" y="25086"/>
                  </a:lnTo>
                  <a:lnTo>
                    <a:pt x="0" y="25086"/>
                  </a:lnTo>
                  <a:close/>
                </a:path>
              </a:pathLst>
            </a:custGeom>
            <a:solidFill>
              <a:srgbClr val="E5C857"/>
            </a:solidFill>
          </p:spPr>
        </p:sp>
        <p:sp>
          <p:nvSpPr>
            <p:cNvPr name="TextBox 22" id="22"/>
            <p:cNvSpPr txBox="true"/>
            <p:nvPr/>
          </p:nvSpPr>
          <p:spPr>
            <a:xfrm>
              <a:off x="0" y="-38100"/>
              <a:ext cx="2647645" cy="63186"/>
            </a:xfrm>
            <a:prstGeom prst="rect">
              <a:avLst/>
            </a:prstGeom>
          </p:spPr>
          <p:txBody>
            <a:bodyPr anchor="ctr" rtlCol="false" tIns="50800" lIns="50800" bIns="50800" rIns="50800"/>
            <a:lstStyle/>
            <a:p>
              <a:pPr algn="ctr">
                <a:lnSpc>
                  <a:spcPts val="2659"/>
                </a:lnSpc>
              </a:pPr>
            </a:p>
          </p:txBody>
        </p:sp>
      </p:grpSp>
      <p:sp>
        <p:nvSpPr>
          <p:cNvPr name="Freeform 23" id="23"/>
          <p:cNvSpPr/>
          <p:nvPr/>
        </p:nvSpPr>
        <p:spPr>
          <a:xfrm flipH="false" flipV="false" rot="0">
            <a:off x="7206522" y="5722211"/>
            <a:ext cx="6748328" cy="3374164"/>
          </a:xfrm>
          <a:custGeom>
            <a:avLst/>
            <a:gdLst/>
            <a:ahLst/>
            <a:cxnLst/>
            <a:rect r="r" b="b" t="t" l="l"/>
            <a:pathLst>
              <a:path h="3374164" w="6748328">
                <a:moveTo>
                  <a:pt x="0" y="0"/>
                </a:moveTo>
                <a:lnTo>
                  <a:pt x="6748327" y="0"/>
                </a:lnTo>
                <a:lnTo>
                  <a:pt x="6748327" y="3374164"/>
                </a:lnTo>
                <a:lnTo>
                  <a:pt x="0" y="3374164"/>
                </a:lnTo>
                <a:lnTo>
                  <a:pt x="0" y="0"/>
                </a:lnTo>
                <a:close/>
              </a:path>
            </a:pathLst>
          </a:custGeom>
          <a:blipFill>
            <a:blip r:embed="rId10"/>
            <a:stretch>
              <a:fillRect l="0" t="0" r="0" b="0"/>
            </a:stretch>
          </a:blipFill>
        </p:spPr>
      </p:sp>
      <p:sp>
        <p:nvSpPr>
          <p:cNvPr name="TextBox 24" id="24"/>
          <p:cNvSpPr txBox="true"/>
          <p:nvPr/>
        </p:nvSpPr>
        <p:spPr>
          <a:xfrm rot="0">
            <a:off x="863377" y="1112169"/>
            <a:ext cx="4363953" cy="1000423"/>
          </a:xfrm>
          <a:prstGeom prst="rect">
            <a:avLst/>
          </a:prstGeom>
        </p:spPr>
        <p:txBody>
          <a:bodyPr anchor="t" rtlCol="false" tIns="0" lIns="0" bIns="0" rIns="0">
            <a:spAutoFit/>
          </a:bodyPr>
          <a:lstStyle/>
          <a:p>
            <a:pPr algn="ctr">
              <a:lnSpc>
                <a:spcPts val="8142"/>
              </a:lnSpc>
            </a:pPr>
            <a:r>
              <a:rPr lang="en-US" sz="5816">
                <a:solidFill>
                  <a:srgbClr val="E5C857"/>
                </a:solidFill>
                <a:latin typeface="Bebas Neue 1"/>
                <a:ea typeface="Bebas Neue 1"/>
                <a:cs typeface="Bebas Neue 1"/>
                <a:sym typeface="Bebas Neue 1"/>
              </a:rPr>
              <a:t>latar belakang</a:t>
            </a:r>
          </a:p>
        </p:txBody>
      </p:sp>
      <p:sp>
        <p:nvSpPr>
          <p:cNvPr name="TextBox 25" id="25"/>
          <p:cNvSpPr txBox="true"/>
          <p:nvPr/>
        </p:nvSpPr>
        <p:spPr>
          <a:xfrm rot="0">
            <a:off x="863377" y="344178"/>
            <a:ext cx="3752222" cy="1000423"/>
          </a:xfrm>
          <a:prstGeom prst="rect">
            <a:avLst/>
          </a:prstGeom>
        </p:spPr>
        <p:txBody>
          <a:bodyPr anchor="t" rtlCol="false" tIns="0" lIns="0" bIns="0" rIns="0">
            <a:spAutoFit/>
          </a:bodyPr>
          <a:lstStyle/>
          <a:p>
            <a:pPr algn="ctr">
              <a:lnSpc>
                <a:spcPts val="8142"/>
              </a:lnSpc>
            </a:pPr>
            <a:r>
              <a:rPr lang="en-US" sz="5816">
                <a:solidFill>
                  <a:srgbClr val="59524B"/>
                </a:solidFill>
                <a:latin typeface="Bebas Neue 1"/>
                <a:ea typeface="Bebas Neue 1"/>
                <a:cs typeface="Bebas Neue 1"/>
                <a:sym typeface="Bebas Neue 1"/>
              </a:rPr>
              <a:t>pendahuluan</a:t>
            </a:r>
          </a:p>
        </p:txBody>
      </p:sp>
      <p:sp>
        <p:nvSpPr>
          <p:cNvPr name="TextBox 26" id="26"/>
          <p:cNvSpPr txBox="true"/>
          <p:nvPr/>
        </p:nvSpPr>
        <p:spPr>
          <a:xfrm rot="0">
            <a:off x="416328" y="9462135"/>
            <a:ext cx="17422032" cy="824865"/>
          </a:xfrm>
          <a:prstGeom prst="rect">
            <a:avLst/>
          </a:prstGeom>
        </p:spPr>
        <p:txBody>
          <a:bodyPr anchor="t" rtlCol="false" tIns="0" lIns="0" bIns="0" rIns="0">
            <a:spAutoFit/>
          </a:bodyPr>
          <a:lstStyle/>
          <a:p>
            <a:pPr algn="just">
              <a:lnSpc>
                <a:spcPts val="2799"/>
              </a:lnSpc>
            </a:pPr>
            <a:r>
              <a:rPr lang="en-US" b="true" sz="1999">
                <a:solidFill>
                  <a:srgbClr val="000000"/>
                </a:solidFill>
                <a:latin typeface="Poppins Bold"/>
                <a:ea typeface="Poppins Bold"/>
                <a:cs typeface="Poppins Bold"/>
                <a:sym typeface="Poppins Bold"/>
              </a:rPr>
              <a:t>Refrensi :</a:t>
            </a:r>
          </a:p>
          <a:p>
            <a:pPr algn="just" marL="280673" indent="-140336" lvl="1">
              <a:lnSpc>
                <a:spcPts val="1820"/>
              </a:lnSpc>
              <a:buFont typeface="Arial"/>
              <a:buChar char="•"/>
            </a:pPr>
            <a:r>
              <a:rPr lang="en-US" sz="1300">
                <a:solidFill>
                  <a:srgbClr val="000000"/>
                </a:solidFill>
                <a:latin typeface="Poppins"/>
                <a:ea typeface="Poppins"/>
                <a:cs typeface="Poppins"/>
                <a:sym typeface="Poppins"/>
              </a:rPr>
              <a:t>Patil, S., Saxena, R., &amp; Pahariya, Y. (n.d.). Performance Comparison of SRM, PMSM &amp; BLDC Motor Drives via Experimentation in Laboratory for EV Application.</a:t>
            </a:r>
          </a:p>
          <a:p>
            <a:pPr algn="just">
              <a:lnSpc>
                <a:spcPts val="1820"/>
              </a:lnSpc>
            </a:pPr>
          </a:p>
        </p:txBody>
      </p:sp>
      <p:sp>
        <p:nvSpPr>
          <p:cNvPr name="TextBox 27" id="27"/>
          <p:cNvSpPr txBox="true"/>
          <p:nvPr/>
        </p:nvSpPr>
        <p:spPr>
          <a:xfrm rot="0">
            <a:off x="7206522" y="2212211"/>
            <a:ext cx="9242012" cy="523875"/>
          </a:xfrm>
          <a:prstGeom prst="rect">
            <a:avLst/>
          </a:prstGeom>
        </p:spPr>
        <p:txBody>
          <a:bodyPr anchor="t" rtlCol="false" tIns="0" lIns="0" bIns="0" rIns="0">
            <a:spAutoFit/>
          </a:bodyPr>
          <a:lstStyle/>
          <a:p>
            <a:pPr algn="just">
              <a:lnSpc>
                <a:spcPts val="4050"/>
              </a:lnSpc>
            </a:pPr>
            <a:r>
              <a:rPr lang="en-US" b="true" sz="3000">
                <a:solidFill>
                  <a:srgbClr val="E5C857"/>
                </a:solidFill>
                <a:latin typeface="Poppins Bold"/>
                <a:ea typeface="Poppins Bold"/>
                <a:cs typeface="Poppins Bold"/>
                <a:sym typeface="Poppins Bold"/>
              </a:rPr>
              <a:t>Mengapa Motor BLDC umum digunakan?</a:t>
            </a:r>
          </a:p>
        </p:txBody>
      </p:sp>
      <p:sp>
        <p:nvSpPr>
          <p:cNvPr name="TextBox 28" id="28"/>
          <p:cNvSpPr txBox="true"/>
          <p:nvPr/>
        </p:nvSpPr>
        <p:spPr>
          <a:xfrm rot="0">
            <a:off x="1028700" y="7137933"/>
            <a:ext cx="5678736" cy="1863090"/>
          </a:xfrm>
          <a:prstGeom prst="rect">
            <a:avLst/>
          </a:prstGeom>
        </p:spPr>
        <p:txBody>
          <a:bodyPr anchor="t" rtlCol="false" tIns="0" lIns="0" bIns="0" rIns="0">
            <a:spAutoFit/>
          </a:bodyPr>
          <a:lstStyle/>
          <a:p>
            <a:pPr algn="just">
              <a:lnSpc>
                <a:spcPts val="2969"/>
              </a:lnSpc>
            </a:pPr>
            <a:r>
              <a:rPr lang="en-US" sz="2199" b="true">
                <a:solidFill>
                  <a:srgbClr val="000000"/>
                </a:solidFill>
                <a:latin typeface="Poppins Bold"/>
                <a:ea typeface="Poppins Bold"/>
                <a:cs typeface="Poppins Bold"/>
                <a:sym typeface="Poppins Bold"/>
              </a:rPr>
              <a:t>BLDC memiliki efisiensi dan torsi terendah dari ketiganya, akan tetapi merupakan jenis motor yang paling umum digunakan saat ini. (Patil et al., n.d.)</a:t>
            </a:r>
          </a:p>
        </p:txBody>
      </p:sp>
      <p:sp>
        <p:nvSpPr>
          <p:cNvPr name="TextBox 29" id="29"/>
          <p:cNvSpPr txBox="true"/>
          <p:nvPr/>
        </p:nvSpPr>
        <p:spPr>
          <a:xfrm rot="0">
            <a:off x="9144000" y="4293767"/>
            <a:ext cx="1716840" cy="250775"/>
          </a:xfrm>
          <a:prstGeom prst="rect">
            <a:avLst/>
          </a:prstGeom>
        </p:spPr>
        <p:txBody>
          <a:bodyPr anchor="t" rtlCol="false" tIns="0" lIns="0" bIns="0" rIns="0">
            <a:spAutoFit/>
          </a:bodyPr>
          <a:lstStyle/>
          <a:p>
            <a:pPr algn="ctr">
              <a:lnSpc>
                <a:spcPts val="1883"/>
              </a:lnSpc>
            </a:pPr>
            <a:r>
              <a:rPr lang="en-US" sz="1395" b="true">
                <a:solidFill>
                  <a:srgbClr val="000000"/>
                </a:solidFill>
                <a:latin typeface="Poppins Bold"/>
                <a:ea typeface="Poppins Bold"/>
                <a:cs typeface="Poppins Bold"/>
                <a:sym typeface="Poppins Bold"/>
              </a:rPr>
              <a:t>Biaya Rendah</a:t>
            </a:r>
          </a:p>
        </p:txBody>
      </p:sp>
      <p:sp>
        <p:nvSpPr>
          <p:cNvPr name="TextBox 30" id="30"/>
          <p:cNvSpPr txBox="true"/>
          <p:nvPr/>
        </p:nvSpPr>
        <p:spPr>
          <a:xfrm rot="0">
            <a:off x="11062349" y="4293767"/>
            <a:ext cx="2151301" cy="250775"/>
          </a:xfrm>
          <a:prstGeom prst="rect">
            <a:avLst/>
          </a:prstGeom>
        </p:spPr>
        <p:txBody>
          <a:bodyPr anchor="t" rtlCol="false" tIns="0" lIns="0" bIns="0" rIns="0">
            <a:spAutoFit/>
          </a:bodyPr>
          <a:lstStyle/>
          <a:p>
            <a:pPr algn="ctr">
              <a:lnSpc>
                <a:spcPts val="1883"/>
              </a:lnSpc>
            </a:pPr>
            <a:r>
              <a:rPr lang="en-US" sz="1395" b="true">
                <a:solidFill>
                  <a:srgbClr val="000000"/>
                </a:solidFill>
                <a:latin typeface="Poppins Bold"/>
                <a:ea typeface="Poppins Bold"/>
                <a:cs typeface="Poppins Bold"/>
                <a:sym typeface="Poppins Bold"/>
              </a:rPr>
              <a:t>Mudah Ditemukan</a:t>
            </a:r>
          </a:p>
        </p:txBody>
      </p:sp>
      <p:sp>
        <p:nvSpPr>
          <p:cNvPr name="TextBox 31" id="31"/>
          <p:cNvSpPr txBox="true"/>
          <p:nvPr/>
        </p:nvSpPr>
        <p:spPr>
          <a:xfrm rot="0">
            <a:off x="13413033" y="4293767"/>
            <a:ext cx="2151301" cy="250775"/>
          </a:xfrm>
          <a:prstGeom prst="rect">
            <a:avLst/>
          </a:prstGeom>
        </p:spPr>
        <p:txBody>
          <a:bodyPr anchor="t" rtlCol="false" tIns="0" lIns="0" bIns="0" rIns="0">
            <a:spAutoFit/>
          </a:bodyPr>
          <a:lstStyle/>
          <a:p>
            <a:pPr algn="ctr">
              <a:lnSpc>
                <a:spcPts val="1883"/>
              </a:lnSpc>
            </a:pPr>
            <a:r>
              <a:rPr lang="en-US" sz="1395" b="true">
                <a:solidFill>
                  <a:srgbClr val="000000"/>
                </a:solidFill>
                <a:latin typeface="Poppins Bold"/>
                <a:ea typeface="Poppins Bold"/>
                <a:cs typeface="Poppins Bold"/>
                <a:sym typeface="Poppins Bold"/>
              </a:rPr>
              <a:t>Realibilitas Tinggi</a:t>
            </a:r>
          </a:p>
        </p:txBody>
      </p:sp>
      <p:sp>
        <p:nvSpPr>
          <p:cNvPr name="TextBox 32" id="32"/>
          <p:cNvSpPr txBox="true"/>
          <p:nvPr/>
        </p:nvSpPr>
        <p:spPr>
          <a:xfrm rot="0">
            <a:off x="7206522" y="5005387"/>
            <a:ext cx="9764009" cy="523875"/>
          </a:xfrm>
          <a:prstGeom prst="rect">
            <a:avLst/>
          </a:prstGeom>
        </p:spPr>
        <p:txBody>
          <a:bodyPr anchor="t" rtlCol="false" tIns="0" lIns="0" bIns="0" rIns="0">
            <a:spAutoFit/>
          </a:bodyPr>
          <a:lstStyle/>
          <a:p>
            <a:pPr algn="just">
              <a:lnSpc>
                <a:spcPts val="4050"/>
              </a:lnSpc>
            </a:pPr>
            <a:r>
              <a:rPr lang="en-US" b="true" sz="3000">
                <a:solidFill>
                  <a:srgbClr val="E5C857"/>
                </a:solidFill>
                <a:latin typeface="Poppins Bold"/>
                <a:ea typeface="Poppins Bold"/>
                <a:cs typeface="Poppins Bold"/>
                <a:sym typeface="Poppins Bold"/>
              </a:rPr>
              <a:t>Mengapa efisiensi dan torsi BLDC rendah?</a:t>
            </a:r>
          </a:p>
        </p:txBody>
      </p:sp>
      <p:sp>
        <p:nvSpPr>
          <p:cNvPr name="TextBox 33" id="33"/>
          <p:cNvSpPr txBox="true"/>
          <p:nvPr/>
        </p:nvSpPr>
        <p:spPr>
          <a:xfrm rot="0">
            <a:off x="14354872" y="6065418"/>
            <a:ext cx="2711223" cy="1120140"/>
          </a:xfrm>
          <a:prstGeom prst="rect">
            <a:avLst/>
          </a:prstGeom>
        </p:spPr>
        <p:txBody>
          <a:bodyPr anchor="t" rtlCol="false" tIns="0" lIns="0" bIns="0" rIns="0">
            <a:spAutoFit/>
          </a:bodyPr>
          <a:lstStyle/>
          <a:p>
            <a:pPr algn="ctr">
              <a:lnSpc>
                <a:spcPts val="2969"/>
              </a:lnSpc>
            </a:pPr>
            <a:r>
              <a:rPr lang="en-US" sz="2199" b="true">
                <a:solidFill>
                  <a:srgbClr val="000000"/>
                </a:solidFill>
                <a:latin typeface="Poppins Bold"/>
                <a:ea typeface="Poppins Bold"/>
                <a:cs typeface="Poppins Bold"/>
                <a:sym typeface="Poppins Bold"/>
              </a:rPr>
              <a:t>High Torque ripple</a:t>
            </a:r>
          </a:p>
          <a:p>
            <a:pPr algn="ctr">
              <a:lnSpc>
                <a:spcPts val="2969"/>
              </a:lnSpc>
            </a:pPr>
            <a:r>
              <a:rPr lang="en-US" sz="2199" b="true">
                <a:solidFill>
                  <a:srgbClr val="000000"/>
                </a:solidFill>
                <a:latin typeface="Poppins Bold"/>
                <a:ea typeface="Poppins Bold"/>
                <a:cs typeface="Poppins Bold"/>
                <a:sym typeface="Poppins Bold"/>
              </a:rPr>
              <a:t>&amp;</a:t>
            </a:r>
          </a:p>
          <a:p>
            <a:pPr algn="ctr">
              <a:lnSpc>
                <a:spcPts val="2969"/>
              </a:lnSpc>
            </a:pPr>
            <a:r>
              <a:rPr lang="en-US" sz="2199" b="true">
                <a:solidFill>
                  <a:srgbClr val="000000"/>
                </a:solidFill>
                <a:latin typeface="Poppins Bold"/>
                <a:ea typeface="Poppins Bold"/>
                <a:cs typeface="Poppins Bold"/>
                <a:sym typeface="Poppins Bold"/>
              </a:rPr>
              <a:t>Electrical noise</a:t>
            </a:r>
          </a:p>
        </p:txBody>
      </p:sp>
      <p:sp>
        <p:nvSpPr>
          <p:cNvPr name="TextBox 34" id="34"/>
          <p:cNvSpPr txBox="true"/>
          <p:nvPr/>
        </p:nvSpPr>
        <p:spPr>
          <a:xfrm rot="0">
            <a:off x="14185194" y="7369391"/>
            <a:ext cx="3050578" cy="1390650"/>
          </a:xfrm>
          <a:prstGeom prst="rect">
            <a:avLst/>
          </a:prstGeom>
        </p:spPr>
        <p:txBody>
          <a:bodyPr anchor="t" rtlCol="false" tIns="0" lIns="0" bIns="0" rIns="0">
            <a:spAutoFit/>
          </a:bodyPr>
          <a:lstStyle/>
          <a:p>
            <a:pPr algn="ctr">
              <a:lnSpc>
                <a:spcPts val="2700"/>
              </a:lnSpc>
            </a:pPr>
            <a:r>
              <a:rPr lang="en-US" sz="2000" b="true">
                <a:solidFill>
                  <a:srgbClr val="000000"/>
                </a:solidFill>
                <a:latin typeface="Poppins Bold"/>
                <a:ea typeface="Poppins Bold"/>
                <a:cs typeface="Poppins Bold"/>
                <a:sym typeface="Poppins Bold"/>
              </a:rPr>
              <a:t>Pada Komutasi Trapezoidal yang merupkan standar digunakan pada BLDC</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5313" y="464654"/>
            <a:ext cx="4760079" cy="1523631"/>
            <a:chOff x="0" y="0"/>
            <a:chExt cx="1696267" cy="542950"/>
          </a:xfrm>
        </p:grpSpPr>
        <p:sp>
          <p:nvSpPr>
            <p:cNvPr name="Freeform 3" id="3"/>
            <p:cNvSpPr/>
            <p:nvPr/>
          </p:nvSpPr>
          <p:spPr>
            <a:xfrm flipH="false" flipV="false" rot="0">
              <a:off x="0" y="0"/>
              <a:ext cx="1696267" cy="542950"/>
            </a:xfrm>
            <a:custGeom>
              <a:avLst/>
              <a:gdLst/>
              <a:ahLst/>
              <a:cxnLst/>
              <a:rect r="r" b="b" t="t" l="l"/>
              <a:pathLst>
                <a:path h="542950" w="1696267">
                  <a:moveTo>
                    <a:pt x="1493067" y="0"/>
                  </a:moveTo>
                  <a:cubicBezTo>
                    <a:pt x="1605291" y="0"/>
                    <a:pt x="1696267" y="121543"/>
                    <a:pt x="1696267" y="271475"/>
                  </a:cubicBezTo>
                  <a:cubicBezTo>
                    <a:pt x="1696267" y="421406"/>
                    <a:pt x="1605291" y="542950"/>
                    <a:pt x="1493067" y="542950"/>
                  </a:cubicBezTo>
                  <a:lnTo>
                    <a:pt x="203200" y="542950"/>
                  </a:lnTo>
                  <a:cubicBezTo>
                    <a:pt x="90976" y="542950"/>
                    <a:pt x="0" y="421406"/>
                    <a:pt x="0" y="271475"/>
                  </a:cubicBezTo>
                  <a:cubicBezTo>
                    <a:pt x="0" y="121543"/>
                    <a:pt x="90976" y="0"/>
                    <a:pt x="203200" y="0"/>
                  </a:cubicBezTo>
                  <a:close/>
                </a:path>
              </a:pathLst>
            </a:custGeom>
            <a:solidFill>
              <a:srgbClr val="F2F2F2"/>
            </a:solidFill>
          </p:spPr>
        </p:sp>
        <p:sp>
          <p:nvSpPr>
            <p:cNvPr name="TextBox 4" id="4"/>
            <p:cNvSpPr txBox="true"/>
            <p:nvPr/>
          </p:nvSpPr>
          <p:spPr>
            <a:xfrm>
              <a:off x="0" y="-38100"/>
              <a:ext cx="1696267" cy="5810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038174" y="458478"/>
            <a:ext cx="4563040" cy="1140443"/>
            <a:chOff x="0" y="0"/>
            <a:chExt cx="6084053" cy="1520591"/>
          </a:xfrm>
        </p:grpSpPr>
        <p:grpSp>
          <p:nvGrpSpPr>
            <p:cNvPr name="Group 6" id="6"/>
            <p:cNvGrpSpPr/>
            <p:nvPr/>
          </p:nvGrpSpPr>
          <p:grpSpPr>
            <a:xfrm rot="0">
              <a:off x="0" y="0"/>
              <a:ext cx="6084053" cy="1520591"/>
              <a:chOff x="0" y="0"/>
              <a:chExt cx="1626052" cy="406400"/>
            </a:xfrm>
          </p:grpSpPr>
          <p:sp>
            <p:nvSpPr>
              <p:cNvPr name="Freeform 7" id="7"/>
              <p:cNvSpPr/>
              <p:nvPr/>
            </p:nvSpPr>
            <p:spPr>
              <a:xfrm flipH="false" flipV="false" rot="0">
                <a:off x="0" y="0"/>
                <a:ext cx="1626052" cy="406400"/>
              </a:xfrm>
              <a:custGeom>
                <a:avLst/>
                <a:gdLst/>
                <a:ahLst/>
                <a:cxnLst/>
                <a:rect r="r" b="b" t="t" l="l"/>
                <a:pathLst>
                  <a:path h="406400" w="1626052">
                    <a:moveTo>
                      <a:pt x="1422852" y="0"/>
                    </a:moveTo>
                    <a:cubicBezTo>
                      <a:pt x="1535076" y="0"/>
                      <a:pt x="1626052" y="90976"/>
                      <a:pt x="1626052" y="203200"/>
                    </a:cubicBezTo>
                    <a:cubicBezTo>
                      <a:pt x="1626052" y="315424"/>
                      <a:pt x="1535076" y="406400"/>
                      <a:pt x="1422852"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8" id="8"/>
              <p:cNvSpPr txBox="true"/>
              <p:nvPr/>
            </p:nvSpPr>
            <p:spPr>
              <a:xfrm>
                <a:off x="0" y="-38100"/>
                <a:ext cx="1626052" cy="44450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414535" y="124612"/>
              <a:ext cx="5254984" cy="1271367"/>
            </a:xfrm>
            <a:custGeom>
              <a:avLst/>
              <a:gdLst/>
              <a:ahLst/>
              <a:cxnLst/>
              <a:rect r="r" b="b" t="t" l="l"/>
              <a:pathLst>
                <a:path h="1271367" w="5254984">
                  <a:moveTo>
                    <a:pt x="0" y="0"/>
                  </a:moveTo>
                  <a:lnTo>
                    <a:pt x="5254983" y="0"/>
                  </a:lnTo>
                  <a:lnTo>
                    <a:pt x="5254983" y="1271367"/>
                  </a:lnTo>
                  <a:lnTo>
                    <a:pt x="0" y="1271367"/>
                  </a:lnTo>
                  <a:lnTo>
                    <a:pt x="0" y="0"/>
                  </a:lnTo>
                  <a:close/>
                </a:path>
              </a:pathLst>
            </a:custGeom>
            <a:blipFill>
              <a:blip r:embed="rId2"/>
              <a:stretch>
                <a:fillRect l="0" t="0" r="0" b="0"/>
              </a:stretch>
            </a:blipFill>
          </p:spPr>
        </p:sp>
      </p:grpSp>
      <p:sp>
        <p:nvSpPr>
          <p:cNvPr name="Freeform 10" id="10"/>
          <p:cNvSpPr/>
          <p:nvPr/>
        </p:nvSpPr>
        <p:spPr>
          <a:xfrm flipH="false" flipV="false" rot="0">
            <a:off x="10452309" y="3062487"/>
            <a:ext cx="5171731" cy="3612674"/>
          </a:xfrm>
          <a:custGeom>
            <a:avLst/>
            <a:gdLst/>
            <a:ahLst/>
            <a:cxnLst/>
            <a:rect r="r" b="b" t="t" l="l"/>
            <a:pathLst>
              <a:path h="3612674" w="5171731">
                <a:moveTo>
                  <a:pt x="0" y="0"/>
                </a:moveTo>
                <a:lnTo>
                  <a:pt x="5171731" y="0"/>
                </a:lnTo>
                <a:lnTo>
                  <a:pt x="5171731" y="3612674"/>
                </a:lnTo>
                <a:lnTo>
                  <a:pt x="0" y="3612674"/>
                </a:lnTo>
                <a:lnTo>
                  <a:pt x="0" y="0"/>
                </a:lnTo>
                <a:close/>
              </a:path>
            </a:pathLst>
          </a:custGeom>
          <a:blipFill>
            <a:blip r:embed="rId3"/>
            <a:stretch>
              <a:fillRect l="0" t="-17560" r="-67336" b="-17186"/>
            </a:stretch>
          </a:blipFill>
        </p:spPr>
      </p:sp>
      <p:grpSp>
        <p:nvGrpSpPr>
          <p:cNvPr name="Group 11" id="11"/>
          <p:cNvGrpSpPr/>
          <p:nvPr/>
        </p:nvGrpSpPr>
        <p:grpSpPr>
          <a:xfrm rot="-5400000">
            <a:off x="5435138" y="6391219"/>
            <a:ext cx="6667500" cy="95250"/>
            <a:chOff x="0" y="0"/>
            <a:chExt cx="1756049" cy="25086"/>
          </a:xfrm>
        </p:grpSpPr>
        <p:sp>
          <p:nvSpPr>
            <p:cNvPr name="Freeform 12" id="12"/>
            <p:cNvSpPr/>
            <p:nvPr/>
          </p:nvSpPr>
          <p:spPr>
            <a:xfrm flipH="false" flipV="false" rot="0">
              <a:off x="0" y="0"/>
              <a:ext cx="1756049" cy="25086"/>
            </a:xfrm>
            <a:custGeom>
              <a:avLst/>
              <a:gdLst/>
              <a:ahLst/>
              <a:cxnLst/>
              <a:rect r="r" b="b" t="t" l="l"/>
              <a:pathLst>
                <a:path h="25086" w="1756049">
                  <a:moveTo>
                    <a:pt x="0" y="0"/>
                  </a:moveTo>
                  <a:lnTo>
                    <a:pt x="1756049" y="0"/>
                  </a:lnTo>
                  <a:lnTo>
                    <a:pt x="1756049" y="25086"/>
                  </a:lnTo>
                  <a:lnTo>
                    <a:pt x="0" y="25086"/>
                  </a:lnTo>
                  <a:close/>
                </a:path>
              </a:pathLst>
            </a:custGeom>
            <a:solidFill>
              <a:srgbClr val="E5C857"/>
            </a:solidFill>
          </p:spPr>
        </p:sp>
        <p:sp>
          <p:nvSpPr>
            <p:cNvPr name="TextBox 13" id="13"/>
            <p:cNvSpPr txBox="true"/>
            <p:nvPr/>
          </p:nvSpPr>
          <p:spPr>
            <a:xfrm>
              <a:off x="0" y="-38100"/>
              <a:ext cx="1756049" cy="63186"/>
            </a:xfrm>
            <a:prstGeom prst="rect">
              <a:avLst/>
            </a:prstGeom>
          </p:spPr>
          <p:txBody>
            <a:bodyPr anchor="ctr" rtlCol="false" tIns="50800" lIns="50800" bIns="50800" rIns="50800"/>
            <a:lstStyle/>
            <a:p>
              <a:pPr algn="ctr">
                <a:lnSpc>
                  <a:spcPts val="2659"/>
                </a:lnSpc>
              </a:pPr>
            </a:p>
          </p:txBody>
        </p:sp>
      </p:grpSp>
      <p:sp>
        <p:nvSpPr>
          <p:cNvPr name="AutoShape 14" id="14"/>
          <p:cNvSpPr/>
          <p:nvPr/>
        </p:nvSpPr>
        <p:spPr>
          <a:xfrm>
            <a:off x="9336221" y="7101752"/>
            <a:ext cx="670623" cy="0"/>
          </a:xfrm>
          <a:prstGeom prst="line">
            <a:avLst/>
          </a:prstGeom>
          <a:ln cap="flat" w="76200">
            <a:solidFill>
              <a:srgbClr val="E5C857"/>
            </a:solidFill>
            <a:prstDash val="solid"/>
            <a:headEnd type="none" len="sm" w="sm"/>
            <a:tailEnd type="triangle" len="med" w="lg"/>
          </a:ln>
        </p:spPr>
      </p:sp>
      <p:sp>
        <p:nvSpPr>
          <p:cNvPr name="Freeform 15" id="15"/>
          <p:cNvSpPr/>
          <p:nvPr/>
        </p:nvSpPr>
        <p:spPr>
          <a:xfrm flipH="false" flipV="false" rot="0">
            <a:off x="2232572" y="3171716"/>
            <a:ext cx="4766053" cy="4602412"/>
          </a:xfrm>
          <a:custGeom>
            <a:avLst/>
            <a:gdLst/>
            <a:ahLst/>
            <a:cxnLst/>
            <a:rect r="r" b="b" t="t" l="l"/>
            <a:pathLst>
              <a:path h="4602412" w="4766053">
                <a:moveTo>
                  <a:pt x="0" y="0"/>
                </a:moveTo>
                <a:lnTo>
                  <a:pt x="4766053" y="0"/>
                </a:lnTo>
                <a:lnTo>
                  <a:pt x="4766053" y="4602412"/>
                </a:lnTo>
                <a:lnTo>
                  <a:pt x="0" y="4602412"/>
                </a:lnTo>
                <a:lnTo>
                  <a:pt x="0" y="0"/>
                </a:lnTo>
                <a:close/>
              </a:path>
            </a:pathLst>
          </a:custGeom>
          <a:blipFill>
            <a:blip r:embed="rId4"/>
            <a:stretch>
              <a:fillRect l="0" t="0" r="0" b="0"/>
            </a:stretch>
          </a:blipFill>
        </p:spPr>
      </p:sp>
      <p:sp>
        <p:nvSpPr>
          <p:cNvPr name="TextBox 16" id="16"/>
          <p:cNvSpPr txBox="true"/>
          <p:nvPr/>
        </p:nvSpPr>
        <p:spPr>
          <a:xfrm rot="0">
            <a:off x="863377" y="1112169"/>
            <a:ext cx="4363953" cy="1000423"/>
          </a:xfrm>
          <a:prstGeom prst="rect">
            <a:avLst/>
          </a:prstGeom>
        </p:spPr>
        <p:txBody>
          <a:bodyPr anchor="t" rtlCol="false" tIns="0" lIns="0" bIns="0" rIns="0">
            <a:spAutoFit/>
          </a:bodyPr>
          <a:lstStyle/>
          <a:p>
            <a:pPr algn="ctr">
              <a:lnSpc>
                <a:spcPts val="8142"/>
              </a:lnSpc>
            </a:pPr>
            <a:r>
              <a:rPr lang="en-US" sz="5816">
                <a:solidFill>
                  <a:srgbClr val="E5C857"/>
                </a:solidFill>
                <a:latin typeface="Bebas Neue 1"/>
                <a:ea typeface="Bebas Neue 1"/>
                <a:cs typeface="Bebas Neue 1"/>
                <a:sym typeface="Bebas Neue 1"/>
              </a:rPr>
              <a:t>latar belakang</a:t>
            </a:r>
          </a:p>
        </p:txBody>
      </p:sp>
      <p:sp>
        <p:nvSpPr>
          <p:cNvPr name="TextBox 17" id="17"/>
          <p:cNvSpPr txBox="true"/>
          <p:nvPr/>
        </p:nvSpPr>
        <p:spPr>
          <a:xfrm rot="0">
            <a:off x="863377" y="344178"/>
            <a:ext cx="3752222" cy="1000423"/>
          </a:xfrm>
          <a:prstGeom prst="rect">
            <a:avLst/>
          </a:prstGeom>
        </p:spPr>
        <p:txBody>
          <a:bodyPr anchor="t" rtlCol="false" tIns="0" lIns="0" bIns="0" rIns="0">
            <a:spAutoFit/>
          </a:bodyPr>
          <a:lstStyle/>
          <a:p>
            <a:pPr algn="ctr">
              <a:lnSpc>
                <a:spcPts val="8142"/>
              </a:lnSpc>
            </a:pPr>
            <a:r>
              <a:rPr lang="en-US" sz="5816">
                <a:solidFill>
                  <a:srgbClr val="59524B"/>
                </a:solidFill>
                <a:latin typeface="Bebas Neue 1"/>
                <a:ea typeface="Bebas Neue 1"/>
                <a:cs typeface="Bebas Neue 1"/>
                <a:sym typeface="Bebas Neue 1"/>
              </a:rPr>
              <a:t>pendahuluan</a:t>
            </a:r>
          </a:p>
        </p:txBody>
      </p:sp>
      <p:sp>
        <p:nvSpPr>
          <p:cNvPr name="TextBox 18" id="18"/>
          <p:cNvSpPr txBox="true"/>
          <p:nvPr/>
        </p:nvSpPr>
        <p:spPr>
          <a:xfrm rot="0">
            <a:off x="5369012" y="1931135"/>
            <a:ext cx="7549976" cy="883920"/>
          </a:xfrm>
          <a:prstGeom prst="rect">
            <a:avLst/>
          </a:prstGeom>
        </p:spPr>
        <p:txBody>
          <a:bodyPr anchor="t" rtlCol="false" tIns="0" lIns="0" bIns="0" rIns="0">
            <a:spAutoFit/>
          </a:bodyPr>
          <a:lstStyle/>
          <a:p>
            <a:pPr algn="ctr">
              <a:lnSpc>
                <a:spcPts val="3509"/>
              </a:lnSpc>
            </a:pPr>
            <a:r>
              <a:rPr lang="en-US" b="true" sz="2599">
                <a:solidFill>
                  <a:srgbClr val="59524B"/>
                </a:solidFill>
                <a:latin typeface="Poppins Bold"/>
                <a:ea typeface="Poppins Bold"/>
                <a:cs typeface="Poppins Bold"/>
                <a:sym typeface="Poppins Bold"/>
              </a:rPr>
              <a:t>BLDC Menggunakan komutasi trapezoidal atau komutasi 6-step </a:t>
            </a:r>
          </a:p>
        </p:txBody>
      </p:sp>
      <p:sp>
        <p:nvSpPr>
          <p:cNvPr name="TextBox 19" id="19"/>
          <p:cNvSpPr txBox="true"/>
          <p:nvPr/>
        </p:nvSpPr>
        <p:spPr>
          <a:xfrm rot="0">
            <a:off x="10133092" y="6865443"/>
            <a:ext cx="6937190" cy="1649730"/>
          </a:xfrm>
          <a:prstGeom prst="rect">
            <a:avLst/>
          </a:prstGeom>
        </p:spPr>
        <p:txBody>
          <a:bodyPr anchor="t" rtlCol="false" tIns="0" lIns="0" bIns="0" rIns="0">
            <a:spAutoFit/>
          </a:bodyPr>
          <a:lstStyle/>
          <a:p>
            <a:pPr algn="l">
              <a:lnSpc>
                <a:spcPts val="3240"/>
              </a:lnSpc>
            </a:pPr>
            <a:r>
              <a:rPr lang="en-US" sz="2400" b="true">
                <a:solidFill>
                  <a:srgbClr val="E5C857"/>
                </a:solidFill>
                <a:latin typeface="Poppins Bold"/>
                <a:ea typeface="Poppins Bold"/>
                <a:cs typeface="Poppins Bold"/>
                <a:sym typeface="Poppins Bold"/>
              </a:rPr>
              <a:t>Karena sifat konstruksi fisik motor BLDC</a:t>
            </a:r>
          </a:p>
          <a:p>
            <a:pPr algn="l" marL="518162" indent="-259081" lvl="1">
              <a:lnSpc>
                <a:spcPts val="3240"/>
              </a:lnSpc>
              <a:buFont typeface="Arial"/>
              <a:buChar char="•"/>
            </a:pPr>
            <a:r>
              <a:rPr lang="en-US" b="true" sz="2400">
                <a:solidFill>
                  <a:srgbClr val="E5C857"/>
                </a:solidFill>
                <a:latin typeface="Poppins Bold"/>
                <a:ea typeface="Poppins Bold"/>
                <a:cs typeface="Poppins Bold"/>
                <a:sym typeface="Poppins Bold"/>
              </a:rPr>
              <a:t>Bentuk Magnet</a:t>
            </a:r>
          </a:p>
          <a:p>
            <a:pPr algn="l" marL="518162" indent="-259081" lvl="1">
              <a:lnSpc>
                <a:spcPts val="3240"/>
              </a:lnSpc>
              <a:buFont typeface="Arial"/>
              <a:buChar char="•"/>
            </a:pPr>
            <a:r>
              <a:rPr lang="en-US" b="true" sz="2400">
                <a:solidFill>
                  <a:srgbClr val="E5C857"/>
                </a:solidFill>
                <a:latin typeface="Poppins Bold"/>
                <a:ea typeface="Poppins Bold"/>
                <a:cs typeface="Poppins Bold"/>
                <a:sym typeface="Poppins Bold"/>
              </a:rPr>
              <a:t>Distribusi Lilitan Stator</a:t>
            </a:r>
          </a:p>
          <a:p>
            <a:pPr algn="l" marL="518162" indent="-259081" lvl="1">
              <a:lnSpc>
                <a:spcPts val="3240"/>
              </a:lnSpc>
              <a:buFont typeface="Arial"/>
              <a:buChar char="•"/>
            </a:pPr>
            <a:r>
              <a:rPr lang="en-US" b="true" sz="2400">
                <a:solidFill>
                  <a:srgbClr val="E5C857"/>
                </a:solidFill>
                <a:latin typeface="Poppins Bold"/>
                <a:ea typeface="Poppins Bold"/>
                <a:cs typeface="Poppins Bold"/>
                <a:sym typeface="Poppins Bold"/>
              </a:rPr>
              <a:t>Kombinasi Jumlah Slot dan Pole</a:t>
            </a:r>
          </a:p>
        </p:txBody>
      </p:sp>
      <p:sp>
        <p:nvSpPr>
          <p:cNvPr name="TextBox 20" id="20"/>
          <p:cNvSpPr txBox="true"/>
          <p:nvPr/>
        </p:nvSpPr>
        <p:spPr>
          <a:xfrm rot="0">
            <a:off x="9147203" y="8705673"/>
            <a:ext cx="8112097" cy="1240155"/>
          </a:xfrm>
          <a:prstGeom prst="rect">
            <a:avLst/>
          </a:prstGeom>
        </p:spPr>
        <p:txBody>
          <a:bodyPr anchor="t" rtlCol="false" tIns="0" lIns="0" bIns="0" rIns="0">
            <a:spAutoFit/>
          </a:bodyPr>
          <a:lstStyle/>
          <a:p>
            <a:pPr algn="ctr">
              <a:lnSpc>
                <a:spcPts val="3239"/>
              </a:lnSpc>
            </a:pPr>
            <a:r>
              <a:rPr lang="en-US" sz="2399" b="true">
                <a:solidFill>
                  <a:srgbClr val="000000"/>
                </a:solidFill>
                <a:latin typeface="Poppins Bold"/>
                <a:ea typeface="Poppins Bold"/>
                <a:cs typeface="Poppins Bold"/>
                <a:sym typeface="Poppins Bold"/>
              </a:rPr>
              <a:t>Menghasilkan t</a:t>
            </a:r>
            <a:r>
              <a:rPr lang="en-US" sz="2399" b="true">
                <a:solidFill>
                  <a:srgbClr val="000000"/>
                </a:solidFill>
                <a:latin typeface="Poppins Bold"/>
                <a:ea typeface="Poppins Bold"/>
                <a:cs typeface="Poppins Bold"/>
                <a:sym typeface="Poppins Bold"/>
              </a:rPr>
              <a:t>egangan induksi yang timbul di dalam kumparan motor saat rotor berputar atau disebut </a:t>
            </a:r>
            <a:r>
              <a:rPr lang="en-US" b="true" sz="2399" i="true">
                <a:solidFill>
                  <a:srgbClr val="000000"/>
                </a:solidFill>
                <a:latin typeface="Poppins Bold Italics"/>
                <a:ea typeface="Poppins Bold Italics"/>
                <a:cs typeface="Poppins Bold Italics"/>
                <a:sym typeface="Poppins Bold Italics"/>
              </a:rPr>
              <a:t>Back Electromotive Force</a:t>
            </a:r>
            <a:r>
              <a:rPr lang="en-US" sz="2399" b="true">
                <a:solidFill>
                  <a:srgbClr val="000000"/>
                </a:solidFill>
                <a:latin typeface="Poppins Bold"/>
                <a:ea typeface="Poppins Bold"/>
                <a:cs typeface="Poppins Bold"/>
                <a:sym typeface="Poppins Bold"/>
              </a:rPr>
              <a:t> (BEMF)</a:t>
            </a:r>
          </a:p>
        </p:txBody>
      </p:sp>
      <p:sp>
        <p:nvSpPr>
          <p:cNvPr name="TextBox 21" id="21"/>
          <p:cNvSpPr txBox="true"/>
          <p:nvPr/>
        </p:nvSpPr>
        <p:spPr>
          <a:xfrm rot="0">
            <a:off x="275792" y="8069403"/>
            <a:ext cx="8112097" cy="1649730"/>
          </a:xfrm>
          <a:prstGeom prst="rect">
            <a:avLst/>
          </a:prstGeom>
        </p:spPr>
        <p:txBody>
          <a:bodyPr anchor="t" rtlCol="false" tIns="0" lIns="0" bIns="0" rIns="0">
            <a:spAutoFit/>
          </a:bodyPr>
          <a:lstStyle/>
          <a:p>
            <a:pPr algn="ctr">
              <a:lnSpc>
                <a:spcPts val="3239"/>
              </a:lnSpc>
            </a:pPr>
            <a:r>
              <a:rPr lang="en-US" sz="2399" b="true">
                <a:solidFill>
                  <a:srgbClr val="000000"/>
                </a:solidFill>
                <a:latin typeface="Poppins Bold"/>
                <a:ea typeface="Poppins Bold"/>
                <a:cs typeface="Poppins Bold"/>
                <a:sym typeface="Poppins Bold"/>
              </a:rPr>
              <a:t>Komutasi six-st</a:t>
            </a:r>
            <a:r>
              <a:rPr lang="en-US" sz="2399" b="true">
                <a:solidFill>
                  <a:srgbClr val="000000"/>
                </a:solidFill>
                <a:latin typeface="Poppins Bold"/>
                <a:ea typeface="Poppins Bold"/>
                <a:cs typeface="Poppins Bold"/>
                <a:sym typeface="Poppins Bold"/>
              </a:rPr>
              <a:t>ep hanya mengaktifkan dua fasa secara bergantian setiap 60° elektrik, sehingga perpindahan  pada setiap commutation point mengh</a:t>
            </a:r>
            <a:r>
              <a:rPr lang="en-US" b="true" sz="2399">
                <a:solidFill>
                  <a:srgbClr val="000000"/>
                </a:solidFill>
                <a:latin typeface="Poppins Bold"/>
                <a:ea typeface="Poppins Bold"/>
                <a:cs typeface="Poppins Bold"/>
                <a:sym typeface="Poppins Bold"/>
              </a:rPr>
              <a:t>a</a:t>
            </a:r>
            <a:r>
              <a:rPr lang="en-US" sz="2399" b="true">
                <a:solidFill>
                  <a:srgbClr val="000000"/>
                </a:solidFill>
                <a:latin typeface="Poppins Bold"/>
                <a:ea typeface="Poppins Bold"/>
                <a:cs typeface="Poppins Bold"/>
                <a:sym typeface="Poppins Bold"/>
              </a:rPr>
              <a:t>sil</a:t>
            </a:r>
            <a:r>
              <a:rPr lang="en-US" b="true" sz="2399">
                <a:solidFill>
                  <a:srgbClr val="000000"/>
                </a:solidFill>
                <a:latin typeface="Poppins Bold"/>
                <a:ea typeface="Poppins Bold"/>
                <a:cs typeface="Poppins Bold"/>
                <a:sym typeface="Poppins Bold"/>
              </a:rPr>
              <a:t>k</a:t>
            </a:r>
            <a:r>
              <a:rPr lang="en-US" sz="2399" b="true">
                <a:solidFill>
                  <a:srgbClr val="000000"/>
                </a:solidFill>
                <a:latin typeface="Poppins Bold"/>
                <a:ea typeface="Poppins Bold"/>
                <a:cs typeface="Poppins Bold"/>
                <a:sym typeface="Poppins Bold"/>
              </a:rPr>
              <a:t>an</a:t>
            </a:r>
            <a:r>
              <a:rPr lang="en-US" b="true" sz="2399">
                <a:solidFill>
                  <a:srgbClr val="000000"/>
                </a:solidFill>
                <a:latin typeface="Poppins Bold"/>
                <a:ea typeface="Poppins Bold"/>
                <a:cs typeface="Poppins Bold"/>
                <a:sym typeface="Poppins Bold"/>
              </a:rPr>
              <a:t> c</a:t>
            </a:r>
            <a:r>
              <a:rPr lang="en-US" sz="2399" b="true">
                <a:solidFill>
                  <a:srgbClr val="000000"/>
                </a:solidFill>
                <a:latin typeface="Poppins Bold"/>
                <a:ea typeface="Poppins Bold"/>
                <a:cs typeface="Poppins Bold"/>
                <a:sym typeface="Poppins Bold"/>
              </a:rPr>
              <a:t>u</a:t>
            </a:r>
            <a:r>
              <a:rPr lang="en-US" b="true" sz="2399">
                <a:solidFill>
                  <a:srgbClr val="000000"/>
                </a:solidFill>
                <a:latin typeface="Poppins Bold"/>
                <a:ea typeface="Poppins Bold"/>
                <a:cs typeface="Poppins Bold"/>
                <a:sym typeface="Poppins Bold"/>
              </a:rPr>
              <a:t>r</a:t>
            </a:r>
            <a:r>
              <a:rPr lang="en-US" sz="2399" b="true">
                <a:solidFill>
                  <a:srgbClr val="000000"/>
                </a:solidFill>
                <a:latin typeface="Poppins Bold"/>
                <a:ea typeface="Poppins Bold"/>
                <a:cs typeface="Poppins Bold"/>
                <a:sym typeface="Poppins Bold"/>
              </a:rPr>
              <a:t>ren</a:t>
            </a:r>
            <a:r>
              <a:rPr lang="en-US" b="true" sz="2399">
                <a:solidFill>
                  <a:srgbClr val="000000"/>
                </a:solidFill>
                <a:latin typeface="Poppins Bold"/>
                <a:ea typeface="Poppins Bold"/>
                <a:cs typeface="Poppins Bold"/>
                <a:sym typeface="Poppins Bold"/>
              </a:rPr>
              <a:t>t</a:t>
            </a:r>
            <a:r>
              <a:rPr lang="en-US" sz="2399" b="true">
                <a:solidFill>
                  <a:srgbClr val="000000"/>
                </a:solidFill>
                <a:latin typeface="Poppins Bold"/>
                <a:ea typeface="Poppins Bold"/>
                <a:cs typeface="Poppins Bold"/>
                <a:sym typeface="Poppins Bold"/>
              </a:rPr>
              <a:t> sp</a:t>
            </a:r>
            <a:r>
              <a:rPr lang="en-US" b="true" sz="2399">
                <a:solidFill>
                  <a:srgbClr val="000000"/>
                </a:solidFill>
                <a:latin typeface="Poppins Bold"/>
                <a:ea typeface="Poppins Bold"/>
                <a:cs typeface="Poppins Bold"/>
                <a:sym typeface="Poppins Bold"/>
              </a:rPr>
              <a:t>i</a:t>
            </a:r>
            <a:r>
              <a:rPr lang="en-US" sz="2399" b="true">
                <a:solidFill>
                  <a:srgbClr val="000000"/>
                </a:solidFill>
                <a:latin typeface="Poppins Bold"/>
                <a:ea typeface="Poppins Bold"/>
                <a:cs typeface="Poppins Bold"/>
                <a:sym typeface="Poppins Bold"/>
              </a:rPr>
              <a:t>k</a:t>
            </a:r>
            <a:r>
              <a:rPr lang="en-US" b="true" sz="2399">
                <a:solidFill>
                  <a:srgbClr val="000000"/>
                </a:solidFill>
                <a:latin typeface="Poppins Bold"/>
                <a:ea typeface="Poppins Bold"/>
                <a:cs typeface="Poppins Bold"/>
                <a:sym typeface="Poppins Bold"/>
              </a:rPr>
              <a:t>e </a:t>
            </a:r>
            <a:r>
              <a:rPr lang="en-US" sz="2399" b="true">
                <a:solidFill>
                  <a:srgbClr val="000000"/>
                </a:solidFill>
                <a:latin typeface="Poppins Bold"/>
                <a:ea typeface="Poppins Bold"/>
                <a:cs typeface="Poppins Bold"/>
                <a:sym typeface="Poppins Bold"/>
              </a:rPr>
              <a:t>dan t</a:t>
            </a:r>
            <a:r>
              <a:rPr lang="en-US" b="true" sz="2399">
                <a:solidFill>
                  <a:srgbClr val="000000"/>
                </a:solidFill>
                <a:latin typeface="Poppins Bold"/>
                <a:ea typeface="Poppins Bold"/>
                <a:cs typeface="Poppins Bold"/>
                <a:sym typeface="Poppins Bold"/>
              </a:rPr>
              <a:t>or</a:t>
            </a:r>
            <a:r>
              <a:rPr lang="en-US" sz="2399" b="true">
                <a:solidFill>
                  <a:srgbClr val="000000"/>
                </a:solidFill>
                <a:latin typeface="Poppins Bold"/>
                <a:ea typeface="Poppins Bold"/>
                <a:cs typeface="Poppins Bold"/>
                <a:sym typeface="Poppins Bold"/>
              </a:rPr>
              <a:t>qu</a:t>
            </a:r>
            <a:r>
              <a:rPr lang="en-US" b="true" sz="2399">
                <a:solidFill>
                  <a:srgbClr val="000000"/>
                </a:solidFill>
                <a:latin typeface="Poppins Bold"/>
                <a:ea typeface="Poppins Bold"/>
                <a:cs typeface="Poppins Bold"/>
                <a:sym typeface="Poppins Bold"/>
              </a:rPr>
              <a:t>e</a:t>
            </a:r>
            <a:r>
              <a:rPr lang="en-US" sz="2399" b="true">
                <a:solidFill>
                  <a:srgbClr val="000000"/>
                </a:solidFill>
                <a:latin typeface="Poppins Bold"/>
                <a:ea typeface="Poppins Bold"/>
                <a:cs typeface="Poppins Bold"/>
                <a:sym typeface="Poppins Bold"/>
              </a:rPr>
              <a:t> ripple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5313" y="464654"/>
            <a:ext cx="4760079" cy="1523631"/>
            <a:chOff x="0" y="0"/>
            <a:chExt cx="1696267" cy="542950"/>
          </a:xfrm>
        </p:grpSpPr>
        <p:sp>
          <p:nvSpPr>
            <p:cNvPr name="Freeform 3" id="3"/>
            <p:cNvSpPr/>
            <p:nvPr/>
          </p:nvSpPr>
          <p:spPr>
            <a:xfrm flipH="false" flipV="false" rot="0">
              <a:off x="0" y="0"/>
              <a:ext cx="1696267" cy="542950"/>
            </a:xfrm>
            <a:custGeom>
              <a:avLst/>
              <a:gdLst/>
              <a:ahLst/>
              <a:cxnLst/>
              <a:rect r="r" b="b" t="t" l="l"/>
              <a:pathLst>
                <a:path h="542950" w="1696267">
                  <a:moveTo>
                    <a:pt x="1493067" y="0"/>
                  </a:moveTo>
                  <a:cubicBezTo>
                    <a:pt x="1605291" y="0"/>
                    <a:pt x="1696267" y="121543"/>
                    <a:pt x="1696267" y="271475"/>
                  </a:cubicBezTo>
                  <a:cubicBezTo>
                    <a:pt x="1696267" y="421406"/>
                    <a:pt x="1605291" y="542950"/>
                    <a:pt x="1493067" y="542950"/>
                  </a:cubicBezTo>
                  <a:lnTo>
                    <a:pt x="203200" y="542950"/>
                  </a:lnTo>
                  <a:cubicBezTo>
                    <a:pt x="90976" y="542950"/>
                    <a:pt x="0" y="421406"/>
                    <a:pt x="0" y="271475"/>
                  </a:cubicBezTo>
                  <a:cubicBezTo>
                    <a:pt x="0" y="121543"/>
                    <a:pt x="90976" y="0"/>
                    <a:pt x="203200" y="0"/>
                  </a:cubicBezTo>
                  <a:close/>
                </a:path>
              </a:pathLst>
            </a:custGeom>
            <a:solidFill>
              <a:srgbClr val="F2F2F2"/>
            </a:solidFill>
          </p:spPr>
        </p:sp>
        <p:sp>
          <p:nvSpPr>
            <p:cNvPr name="TextBox 4" id="4"/>
            <p:cNvSpPr txBox="true"/>
            <p:nvPr/>
          </p:nvSpPr>
          <p:spPr>
            <a:xfrm>
              <a:off x="0" y="-38100"/>
              <a:ext cx="1696267" cy="5810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038174" y="458478"/>
            <a:ext cx="4563040" cy="1140443"/>
            <a:chOff x="0" y="0"/>
            <a:chExt cx="6084053" cy="1520591"/>
          </a:xfrm>
        </p:grpSpPr>
        <p:grpSp>
          <p:nvGrpSpPr>
            <p:cNvPr name="Group 6" id="6"/>
            <p:cNvGrpSpPr/>
            <p:nvPr/>
          </p:nvGrpSpPr>
          <p:grpSpPr>
            <a:xfrm rot="0">
              <a:off x="0" y="0"/>
              <a:ext cx="6084053" cy="1520591"/>
              <a:chOff x="0" y="0"/>
              <a:chExt cx="1626052" cy="406400"/>
            </a:xfrm>
          </p:grpSpPr>
          <p:sp>
            <p:nvSpPr>
              <p:cNvPr name="Freeform 7" id="7"/>
              <p:cNvSpPr/>
              <p:nvPr/>
            </p:nvSpPr>
            <p:spPr>
              <a:xfrm flipH="false" flipV="false" rot="0">
                <a:off x="0" y="0"/>
                <a:ext cx="1626052" cy="406400"/>
              </a:xfrm>
              <a:custGeom>
                <a:avLst/>
                <a:gdLst/>
                <a:ahLst/>
                <a:cxnLst/>
                <a:rect r="r" b="b" t="t" l="l"/>
                <a:pathLst>
                  <a:path h="406400" w="1626052">
                    <a:moveTo>
                      <a:pt x="1422852" y="0"/>
                    </a:moveTo>
                    <a:cubicBezTo>
                      <a:pt x="1535076" y="0"/>
                      <a:pt x="1626052" y="90976"/>
                      <a:pt x="1626052" y="203200"/>
                    </a:cubicBezTo>
                    <a:cubicBezTo>
                      <a:pt x="1626052" y="315424"/>
                      <a:pt x="1535076" y="406400"/>
                      <a:pt x="1422852"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8" id="8"/>
              <p:cNvSpPr txBox="true"/>
              <p:nvPr/>
            </p:nvSpPr>
            <p:spPr>
              <a:xfrm>
                <a:off x="0" y="-38100"/>
                <a:ext cx="1626052" cy="44450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414535" y="124612"/>
              <a:ext cx="5254984" cy="1271367"/>
            </a:xfrm>
            <a:custGeom>
              <a:avLst/>
              <a:gdLst/>
              <a:ahLst/>
              <a:cxnLst/>
              <a:rect r="r" b="b" t="t" l="l"/>
              <a:pathLst>
                <a:path h="1271367" w="5254984">
                  <a:moveTo>
                    <a:pt x="0" y="0"/>
                  </a:moveTo>
                  <a:lnTo>
                    <a:pt x="5254983" y="0"/>
                  </a:lnTo>
                  <a:lnTo>
                    <a:pt x="5254983" y="1271367"/>
                  </a:lnTo>
                  <a:lnTo>
                    <a:pt x="0" y="1271367"/>
                  </a:lnTo>
                  <a:lnTo>
                    <a:pt x="0" y="0"/>
                  </a:lnTo>
                  <a:close/>
                </a:path>
              </a:pathLst>
            </a:custGeom>
            <a:blipFill>
              <a:blip r:embed="rId2"/>
              <a:stretch>
                <a:fillRect l="0" t="0" r="0" b="0"/>
              </a:stretch>
            </a:blipFill>
          </p:spPr>
        </p:sp>
      </p:grpSp>
      <p:grpSp>
        <p:nvGrpSpPr>
          <p:cNvPr name="Group 10" id="10"/>
          <p:cNvGrpSpPr/>
          <p:nvPr/>
        </p:nvGrpSpPr>
        <p:grpSpPr>
          <a:xfrm rot="0">
            <a:off x="3082842" y="6547485"/>
            <a:ext cx="12122316" cy="95250"/>
            <a:chOff x="0" y="0"/>
            <a:chExt cx="3192709" cy="25086"/>
          </a:xfrm>
        </p:grpSpPr>
        <p:sp>
          <p:nvSpPr>
            <p:cNvPr name="Freeform 11" id="11"/>
            <p:cNvSpPr/>
            <p:nvPr/>
          </p:nvSpPr>
          <p:spPr>
            <a:xfrm flipH="false" flipV="false" rot="0">
              <a:off x="0" y="0"/>
              <a:ext cx="3192709" cy="25086"/>
            </a:xfrm>
            <a:custGeom>
              <a:avLst/>
              <a:gdLst/>
              <a:ahLst/>
              <a:cxnLst/>
              <a:rect r="r" b="b" t="t" l="l"/>
              <a:pathLst>
                <a:path h="25086" w="3192709">
                  <a:moveTo>
                    <a:pt x="0" y="0"/>
                  </a:moveTo>
                  <a:lnTo>
                    <a:pt x="3192709" y="0"/>
                  </a:lnTo>
                  <a:lnTo>
                    <a:pt x="3192709" y="25086"/>
                  </a:lnTo>
                  <a:lnTo>
                    <a:pt x="0" y="25086"/>
                  </a:lnTo>
                  <a:close/>
                </a:path>
              </a:pathLst>
            </a:custGeom>
            <a:solidFill>
              <a:srgbClr val="E5C857"/>
            </a:solidFill>
          </p:spPr>
        </p:sp>
        <p:sp>
          <p:nvSpPr>
            <p:cNvPr name="TextBox 12" id="12"/>
            <p:cNvSpPr txBox="true"/>
            <p:nvPr/>
          </p:nvSpPr>
          <p:spPr>
            <a:xfrm>
              <a:off x="0" y="-38100"/>
              <a:ext cx="3192709" cy="63186"/>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3455222" y="2226872"/>
            <a:ext cx="11141824" cy="4038418"/>
          </a:xfrm>
          <a:custGeom>
            <a:avLst/>
            <a:gdLst/>
            <a:ahLst/>
            <a:cxnLst/>
            <a:rect r="r" b="b" t="t" l="l"/>
            <a:pathLst>
              <a:path h="4038418" w="11141824">
                <a:moveTo>
                  <a:pt x="0" y="0"/>
                </a:moveTo>
                <a:lnTo>
                  <a:pt x="11141824" y="0"/>
                </a:lnTo>
                <a:lnTo>
                  <a:pt x="11141824" y="4038418"/>
                </a:lnTo>
                <a:lnTo>
                  <a:pt x="0" y="4038418"/>
                </a:lnTo>
                <a:lnTo>
                  <a:pt x="0" y="0"/>
                </a:lnTo>
                <a:close/>
              </a:path>
            </a:pathLst>
          </a:custGeom>
          <a:blipFill>
            <a:blip r:embed="rId3"/>
            <a:stretch>
              <a:fillRect l="0" t="0" r="0" b="0"/>
            </a:stretch>
          </a:blipFill>
        </p:spPr>
      </p:sp>
      <p:sp>
        <p:nvSpPr>
          <p:cNvPr name="TextBox 14" id="14"/>
          <p:cNvSpPr txBox="true"/>
          <p:nvPr/>
        </p:nvSpPr>
        <p:spPr>
          <a:xfrm rot="0">
            <a:off x="863377" y="1112169"/>
            <a:ext cx="4363953" cy="1000423"/>
          </a:xfrm>
          <a:prstGeom prst="rect">
            <a:avLst/>
          </a:prstGeom>
        </p:spPr>
        <p:txBody>
          <a:bodyPr anchor="t" rtlCol="false" tIns="0" lIns="0" bIns="0" rIns="0">
            <a:spAutoFit/>
          </a:bodyPr>
          <a:lstStyle/>
          <a:p>
            <a:pPr algn="ctr">
              <a:lnSpc>
                <a:spcPts val="8142"/>
              </a:lnSpc>
            </a:pPr>
            <a:r>
              <a:rPr lang="en-US" sz="5816">
                <a:solidFill>
                  <a:srgbClr val="E5C857"/>
                </a:solidFill>
                <a:latin typeface="Bebas Neue 1"/>
                <a:ea typeface="Bebas Neue 1"/>
                <a:cs typeface="Bebas Neue 1"/>
                <a:sym typeface="Bebas Neue 1"/>
              </a:rPr>
              <a:t>latar belakang</a:t>
            </a:r>
          </a:p>
        </p:txBody>
      </p:sp>
      <p:sp>
        <p:nvSpPr>
          <p:cNvPr name="TextBox 15" id="15"/>
          <p:cNvSpPr txBox="true"/>
          <p:nvPr/>
        </p:nvSpPr>
        <p:spPr>
          <a:xfrm rot="0">
            <a:off x="863377" y="344178"/>
            <a:ext cx="3752222" cy="1000423"/>
          </a:xfrm>
          <a:prstGeom prst="rect">
            <a:avLst/>
          </a:prstGeom>
        </p:spPr>
        <p:txBody>
          <a:bodyPr anchor="t" rtlCol="false" tIns="0" lIns="0" bIns="0" rIns="0">
            <a:spAutoFit/>
          </a:bodyPr>
          <a:lstStyle/>
          <a:p>
            <a:pPr algn="ctr">
              <a:lnSpc>
                <a:spcPts val="8142"/>
              </a:lnSpc>
            </a:pPr>
            <a:r>
              <a:rPr lang="en-US" sz="5816">
                <a:solidFill>
                  <a:srgbClr val="59524B"/>
                </a:solidFill>
                <a:latin typeface="Bebas Neue 1"/>
                <a:ea typeface="Bebas Neue 1"/>
                <a:cs typeface="Bebas Neue 1"/>
                <a:sym typeface="Bebas Neue 1"/>
              </a:rPr>
              <a:t>pendahuluan</a:t>
            </a:r>
          </a:p>
        </p:txBody>
      </p:sp>
      <p:sp>
        <p:nvSpPr>
          <p:cNvPr name="TextBox 16" id="16"/>
          <p:cNvSpPr txBox="true"/>
          <p:nvPr/>
        </p:nvSpPr>
        <p:spPr>
          <a:xfrm rot="0">
            <a:off x="416328" y="9481185"/>
            <a:ext cx="17422032" cy="824865"/>
          </a:xfrm>
          <a:prstGeom prst="rect">
            <a:avLst/>
          </a:prstGeom>
        </p:spPr>
        <p:txBody>
          <a:bodyPr anchor="t" rtlCol="false" tIns="0" lIns="0" bIns="0" rIns="0">
            <a:spAutoFit/>
          </a:bodyPr>
          <a:lstStyle/>
          <a:p>
            <a:pPr algn="just">
              <a:lnSpc>
                <a:spcPts val="2799"/>
              </a:lnSpc>
            </a:pPr>
            <a:r>
              <a:rPr lang="en-US" b="true" sz="1999">
                <a:solidFill>
                  <a:srgbClr val="000000"/>
                </a:solidFill>
                <a:latin typeface="Poppins Bold"/>
                <a:ea typeface="Poppins Bold"/>
                <a:cs typeface="Poppins Bold"/>
                <a:sym typeface="Poppins Bold"/>
              </a:rPr>
              <a:t>Refrensi :</a:t>
            </a:r>
          </a:p>
          <a:p>
            <a:pPr algn="just" marL="280673" indent="-140336" lvl="1">
              <a:lnSpc>
                <a:spcPts val="1820"/>
              </a:lnSpc>
              <a:buFont typeface="Arial"/>
              <a:buChar char="•"/>
            </a:pPr>
            <a:r>
              <a:rPr lang="en-US" sz="1300">
                <a:solidFill>
                  <a:srgbClr val="000000"/>
                </a:solidFill>
                <a:latin typeface="Poppins"/>
                <a:ea typeface="Poppins"/>
                <a:cs typeface="Poppins"/>
                <a:sym typeface="Poppins"/>
              </a:rPr>
              <a:t>Nurtriartono, A., Mukhlisin, A., Yuniarto, M. N., &amp; Rijanto, E. (2019). Performance comparison of BLDC motor controllers designed based on trapezoidal commutation and FOC. 060002.</a:t>
            </a:r>
          </a:p>
          <a:p>
            <a:pPr algn="just">
              <a:lnSpc>
                <a:spcPts val="1820"/>
              </a:lnSpc>
            </a:pPr>
          </a:p>
        </p:txBody>
      </p:sp>
      <p:sp>
        <p:nvSpPr>
          <p:cNvPr name="TextBox 17" id="17"/>
          <p:cNvSpPr txBox="true"/>
          <p:nvPr/>
        </p:nvSpPr>
        <p:spPr>
          <a:xfrm rot="0">
            <a:off x="792968" y="6890385"/>
            <a:ext cx="13544299" cy="489585"/>
          </a:xfrm>
          <a:prstGeom prst="rect">
            <a:avLst/>
          </a:prstGeom>
        </p:spPr>
        <p:txBody>
          <a:bodyPr anchor="t" rtlCol="false" tIns="0" lIns="0" bIns="0" rIns="0">
            <a:spAutoFit/>
          </a:bodyPr>
          <a:lstStyle/>
          <a:p>
            <a:pPr algn="just">
              <a:lnSpc>
                <a:spcPts val="3780"/>
              </a:lnSpc>
            </a:pPr>
            <a:r>
              <a:rPr lang="en-US" b="true" sz="2800">
                <a:solidFill>
                  <a:srgbClr val="E5C857"/>
                </a:solidFill>
                <a:latin typeface="Poppins Bold"/>
                <a:ea typeface="Poppins Bold"/>
                <a:cs typeface="Poppins Bold"/>
                <a:sym typeface="Poppins Bold"/>
              </a:rPr>
              <a:t>BLDC dapat dioperasikan menggunakan Komutasi Field Oriented Control</a:t>
            </a:r>
          </a:p>
        </p:txBody>
      </p:sp>
      <p:grpSp>
        <p:nvGrpSpPr>
          <p:cNvPr name="Group 18" id="18"/>
          <p:cNvGrpSpPr/>
          <p:nvPr/>
        </p:nvGrpSpPr>
        <p:grpSpPr>
          <a:xfrm rot="0">
            <a:off x="792968" y="9258300"/>
            <a:ext cx="16668750" cy="95250"/>
            <a:chOff x="0" y="0"/>
            <a:chExt cx="4390123" cy="25086"/>
          </a:xfrm>
        </p:grpSpPr>
        <p:sp>
          <p:nvSpPr>
            <p:cNvPr name="Freeform 19" id="19"/>
            <p:cNvSpPr/>
            <p:nvPr/>
          </p:nvSpPr>
          <p:spPr>
            <a:xfrm flipH="false" flipV="false" rot="0">
              <a:off x="0" y="0"/>
              <a:ext cx="4390124" cy="25086"/>
            </a:xfrm>
            <a:custGeom>
              <a:avLst/>
              <a:gdLst/>
              <a:ahLst/>
              <a:cxnLst/>
              <a:rect r="r" b="b" t="t" l="l"/>
              <a:pathLst>
                <a:path h="25086" w="4390124">
                  <a:moveTo>
                    <a:pt x="0" y="0"/>
                  </a:moveTo>
                  <a:lnTo>
                    <a:pt x="4390124" y="0"/>
                  </a:lnTo>
                  <a:lnTo>
                    <a:pt x="4390124" y="25086"/>
                  </a:lnTo>
                  <a:lnTo>
                    <a:pt x="0" y="25086"/>
                  </a:lnTo>
                  <a:close/>
                </a:path>
              </a:pathLst>
            </a:custGeom>
            <a:solidFill>
              <a:srgbClr val="59524B"/>
            </a:solidFill>
          </p:spPr>
        </p:sp>
        <p:sp>
          <p:nvSpPr>
            <p:cNvPr name="TextBox 20" id="20"/>
            <p:cNvSpPr txBox="true"/>
            <p:nvPr/>
          </p:nvSpPr>
          <p:spPr>
            <a:xfrm>
              <a:off x="0" y="-38100"/>
              <a:ext cx="4390123" cy="63186"/>
            </a:xfrm>
            <a:prstGeom prst="rect">
              <a:avLst/>
            </a:prstGeom>
          </p:spPr>
          <p:txBody>
            <a:bodyPr anchor="ctr" rtlCol="false" tIns="50800" lIns="50800" bIns="50800" rIns="50800"/>
            <a:lstStyle/>
            <a:p>
              <a:pPr algn="ctr">
                <a:lnSpc>
                  <a:spcPts val="2659"/>
                </a:lnSpc>
              </a:pPr>
            </a:p>
          </p:txBody>
        </p:sp>
      </p:grpSp>
      <p:sp>
        <p:nvSpPr>
          <p:cNvPr name="TextBox 21" id="21"/>
          <p:cNvSpPr txBox="true"/>
          <p:nvPr/>
        </p:nvSpPr>
        <p:spPr>
          <a:xfrm rot="0">
            <a:off x="792968" y="7637145"/>
            <a:ext cx="16466332" cy="1240155"/>
          </a:xfrm>
          <a:prstGeom prst="rect">
            <a:avLst/>
          </a:prstGeom>
        </p:spPr>
        <p:txBody>
          <a:bodyPr anchor="t" rtlCol="false" tIns="0" lIns="0" bIns="0" rIns="0">
            <a:spAutoFit/>
          </a:bodyPr>
          <a:lstStyle/>
          <a:p>
            <a:pPr algn="l">
              <a:lnSpc>
                <a:spcPts val="3239"/>
              </a:lnSpc>
            </a:pPr>
            <a:r>
              <a:rPr lang="en-US" sz="2399" b="true">
                <a:solidFill>
                  <a:srgbClr val="000000"/>
                </a:solidFill>
                <a:latin typeface="Poppins Bold"/>
                <a:ea typeface="Poppins Bold"/>
                <a:cs typeface="Poppins Bold"/>
                <a:sym typeface="Poppins Bold"/>
              </a:rPr>
              <a:t>Menggunakan komutasi FOC BLDC memiliki respon kec</a:t>
            </a:r>
            <a:r>
              <a:rPr lang="en-US" sz="2399" b="true">
                <a:solidFill>
                  <a:srgbClr val="000000"/>
                </a:solidFill>
                <a:latin typeface="Poppins Bold"/>
                <a:ea typeface="Poppins Bold"/>
                <a:cs typeface="Poppins Bold"/>
                <a:sym typeface="Poppins Bold"/>
              </a:rPr>
              <a:t>epatan lebih halus dan stabi</a:t>
            </a:r>
            <a:r>
              <a:rPr lang="en-US" sz="2399" b="true">
                <a:solidFill>
                  <a:srgbClr val="000000"/>
                </a:solidFill>
                <a:latin typeface="Poppins Bold"/>
                <a:ea typeface="Poppins Bold"/>
                <a:cs typeface="Poppins Bold"/>
                <a:sym typeface="Poppins Bold"/>
              </a:rPr>
              <a:t>l, overshoot torsi yang lebih kecil dan torsi steady state yang lebih kecil menghasilkan torsi yang lebih baik. </a:t>
            </a:r>
          </a:p>
          <a:p>
            <a:pPr algn="l">
              <a:lnSpc>
                <a:spcPts val="3239"/>
              </a:lnSpc>
            </a:pPr>
            <a:r>
              <a:rPr lang="en-US" sz="2399" b="true">
                <a:solidFill>
                  <a:srgbClr val="000000"/>
                </a:solidFill>
                <a:latin typeface="Poppins Bold"/>
                <a:ea typeface="Poppins Bold"/>
                <a:cs typeface="Poppins Bold"/>
                <a:sym typeface="Poppins Bold"/>
              </a:rPr>
              <a:t>(Nurtriartono et al., 2019)</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5313" y="464654"/>
            <a:ext cx="4760079" cy="1523631"/>
            <a:chOff x="0" y="0"/>
            <a:chExt cx="1696267" cy="542950"/>
          </a:xfrm>
        </p:grpSpPr>
        <p:sp>
          <p:nvSpPr>
            <p:cNvPr name="Freeform 3" id="3"/>
            <p:cNvSpPr/>
            <p:nvPr/>
          </p:nvSpPr>
          <p:spPr>
            <a:xfrm flipH="false" flipV="false" rot="0">
              <a:off x="0" y="0"/>
              <a:ext cx="1696267" cy="542950"/>
            </a:xfrm>
            <a:custGeom>
              <a:avLst/>
              <a:gdLst/>
              <a:ahLst/>
              <a:cxnLst/>
              <a:rect r="r" b="b" t="t" l="l"/>
              <a:pathLst>
                <a:path h="542950" w="1696267">
                  <a:moveTo>
                    <a:pt x="1493067" y="0"/>
                  </a:moveTo>
                  <a:cubicBezTo>
                    <a:pt x="1605291" y="0"/>
                    <a:pt x="1696267" y="121543"/>
                    <a:pt x="1696267" y="271475"/>
                  </a:cubicBezTo>
                  <a:cubicBezTo>
                    <a:pt x="1696267" y="421406"/>
                    <a:pt x="1605291" y="542950"/>
                    <a:pt x="1493067" y="542950"/>
                  </a:cubicBezTo>
                  <a:lnTo>
                    <a:pt x="203200" y="542950"/>
                  </a:lnTo>
                  <a:cubicBezTo>
                    <a:pt x="90976" y="542950"/>
                    <a:pt x="0" y="421406"/>
                    <a:pt x="0" y="271475"/>
                  </a:cubicBezTo>
                  <a:cubicBezTo>
                    <a:pt x="0" y="121543"/>
                    <a:pt x="90976" y="0"/>
                    <a:pt x="203200" y="0"/>
                  </a:cubicBezTo>
                  <a:close/>
                </a:path>
              </a:pathLst>
            </a:custGeom>
            <a:solidFill>
              <a:srgbClr val="F2F2F2"/>
            </a:solidFill>
          </p:spPr>
        </p:sp>
        <p:sp>
          <p:nvSpPr>
            <p:cNvPr name="TextBox 4" id="4"/>
            <p:cNvSpPr txBox="true"/>
            <p:nvPr/>
          </p:nvSpPr>
          <p:spPr>
            <a:xfrm>
              <a:off x="0" y="-38100"/>
              <a:ext cx="1696267" cy="5810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792968" y="8950873"/>
            <a:ext cx="16668750" cy="95250"/>
            <a:chOff x="0" y="0"/>
            <a:chExt cx="4390123" cy="25086"/>
          </a:xfrm>
        </p:grpSpPr>
        <p:sp>
          <p:nvSpPr>
            <p:cNvPr name="Freeform 6" id="6"/>
            <p:cNvSpPr/>
            <p:nvPr/>
          </p:nvSpPr>
          <p:spPr>
            <a:xfrm flipH="false" flipV="false" rot="0">
              <a:off x="0" y="0"/>
              <a:ext cx="4390124" cy="25086"/>
            </a:xfrm>
            <a:custGeom>
              <a:avLst/>
              <a:gdLst/>
              <a:ahLst/>
              <a:cxnLst/>
              <a:rect r="r" b="b" t="t" l="l"/>
              <a:pathLst>
                <a:path h="25086" w="4390124">
                  <a:moveTo>
                    <a:pt x="0" y="0"/>
                  </a:moveTo>
                  <a:lnTo>
                    <a:pt x="4390124" y="0"/>
                  </a:lnTo>
                  <a:lnTo>
                    <a:pt x="4390124" y="25086"/>
                  </a:lnTo>
                  <a:lnTo>
                    <a:pt x="0" y="25086"/>
                  </a:lnTo>
                  <a:close/>
                </a:path>
              </a:pathLst>
            </a:custGeom>
            <a:solidFill>
              <a:srgbClr val="59524B"/>
            </a:solidFill>
          </p:spPr>
        </p:sp>
        <p:sp>
          <p:nvSpPr>
            <p:cNvPr name="TextBox 7" id="7"/>
            <p:cNvSpPr txBox="true"/>
            <p:nvPr/>
          </p:nvSpPr>
          <p:spPr>
            <a:xfrm>
              <a:off x="0" y="-38100"/>
              <a:ext cx="4390123" cy="63186"/>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3038174" y="458478"/>
            <a:ext cx="4563040" cy="1140443"/>
            <a:chOff x="0" y="0"/>
            <a:chExt cx="6084053" cy="1520591"/>
          </a:xfrm>
        </p:grpSpPr>
        <p:grpSp>
          <p:nvGrpSpPr>
            <p:cNvPr name="Group 9" id="9"/>
            <p:cNvGrpSpPr/>
            <p:nvPr/>
          </p:nvGrpSpPr>
          <p:grpSpPr>
            <a:xfrm rot="0">
              <a:off x="0" y="0"/>
              <a:ext cx="6084053" cy="1520591"/>
              <a:chOff x="0" y="0"/>
              <a:chExt cx="1626052" cy="406400"/>
            </a:xfrm>
          </p:grpSpPr>
          <p:sp>
            <p:nvSpPr>
              <p:cNvPr name="Freeform 10" id="10"/>
              <p:cNvSpPr/>
              <p:nvPr/>
            </p:nvSpPr>
            <p:spPr>
              <a:xfrm flipH="false" flipV="false" rot="0">
                <a:off x="0" y="0"/>
                <a:ext cx="1626052" cy="406400"/>
              </a:xfrm>
              <a:custGeom>
                <a:avLst/>
                <a:gdLst/>
                <a:ahLst/>
                <a:cxnLst/>
                <a:rect r="r" b="b" t="t" l="l"/>
                <a:pathLst>
                  <a:path h="406400" w="1626052">
                    <a:moveTo>
                      <a:pt x="1422852" y="0"/>
                    </a:moveTo>
                    <a:cubicBezTo>
                      <a:pt x="1535076" y="0"/>
                      <a:pt x="1626052" y="90976"/>
                      <a:pt x="1626052" y="203200"/>
                    </a:cubicBezTo>
                    <a:cubicBezTo>
                      <a:pt x="1626052" y="315424"/>
                      <a:pt x="1535076" y="406400"/>
                      <a:pt x="1422852"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11" id="11"/>
              <p:cNvSpPr txBox="true"/>
              <p:nvPr/>
            </p:nvSpPr>
            <p:spPr>
              <a:xfrm>
                <a:off x="0" y="-38100"/>
                <a:ext cx="1626052" cy="444500"/>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414535" y="124612"/>
              <a:ext cx="5254984" cy="1271367"/>
            </a:xfrm>
            <a:custGeom>
              <a:avLst/>
              <a:gdLst/>
              <a:ahLst/>
              <a:cxnLst/>
              <a:rect r="r" b="b" t="t" l="l"/>
              <a:pathLst>
                <a:path h="1271367" w="5254984">
                  <a:moveTo>
                    <a:pt x="0" y="0"/>
                  </a:moveTo>
                  <a:lnTo>
                    <a:pt x="5254983" y="0"/>
                  </a:lnTo>
                  <a:lnTo>
                    <a:pt x="5254983" y="1271367"/>
                  </a:lnTo>
                  <a:lnTo>
                    <a:pt x="0" y="1271367"/>
                  </a:lnTo>
                  <a:lnTo>
                    <a:pt x="0" y="0"/>
                  </a:lnTo>
                  <a:close/>
                </a:path>
              </a:pathLst>
            </a:custGeom>
            <a:blipFill>
              <a:blip r:embed="rId2"/>
              <a:stretch>
                <a:fillRect l="0" t="0" r="0" b="0"/>
              </a:stretch>
            </a:blipFill>
          </p:spPr>
        </p:sp>
      </p:grpSp>
      <p:grpSp>
        <p:nvGrpSpPr>
          <p:cNvPr name="Group 13" id="13"/>
          <p:cNvGrpSpPr/>
          <p:nvPr/>
        </p:nvGrpSpPr>
        <p:grpSpPr>
          <a:xfrm rot="0">
            <a:off x="2910343" y="6076406"/>
            <a:ext cx="4762500" cy="95250"/>
            <a:chOff x="0" y="0"/>
            <a:chExt cx="1254321" cy="25086"/>
          </a:xfrm>
        </p:grpSpPr>
        <p:sp>
          <p:nvSpPr>
            <p:cNvPr name="Freeform 14" id="14"/>
            <p:cNvSpPr/>
            <p:nvPr/>
          </p:nvSpPr>
          <p:spPr>
            <a:xfrm flipH="false" flipV="false" rot="0">
              <a:off x="0" y="0"/>
              <a:ext cx="1254321" cy="25086"/>
            </a:xfrm>
            <a:custGeom>
              <a:avLst/>
              <a:gdLst/>
              <a:ahLst/>
              <a:cxnLst/>
              <a:rect r="r" b="b" t="t" l="l"/>
              <a:pathLst>
                <a:path h="25086" w="1254321">
                  <a:moveTo>
                    <a:pt x="0" y="0"/>
                  </a:moveTo>
                  <a:lnTo>
                    <a:pt x="1254321" y="0"/>
                  </a:lnTo>
                  <a:lnTo>
                    <a:pt x="1254321" y="25086"/>
                  </a:lnTo>
                  <a:lnTo>
                    <a:pt x="0" y="25086"/>
                  </a:lnTo>
                  <a:close/>
                </a:path>
              </a:pathLst>
            </a:custGeom>
            <a:solidFill>
              <a:srgbClr val="E5C857"/>
            </a:solidFill>
          </p:spPr>
        </p:sp>
        <p:sp>
          <p:nvSpPr>
            <p:cNvPr name="TextBox 15" id="15"/>
            <p:cNvSpPr txBox="true"/>
            <p:nvPr/>
          </p:nvSpPr>
          <p:spPr>
            <a:xfrm>
              <a:off x="0" y="-38100"/>
              <a:ext cx="1254321" cy="63186"/>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0210044" y="6085439"/>
            <a:ext cx="4762500" cy="95250"/>
            <a:chOff x="0" y="0"/>
            <a:chExt cx="1254321" cy="25086"/>
          </a:xfrm>
        </p:grpSpPr>
        <p:sp>
          <p:nvSpPr>
            <p:cNvPr name="Freeform 17" id="17"/>
            <p:cNvSpPr/>
            <p:nvPr/>
          </p:nvSpPr>
          <p:spPr>
            <a:xfrm flipH="false" flipV="false" rot="0">
              <a:off x="0" y="0"/>
              <a:ext cx="1254321" cy="25086"/>
            </a:xfrm>
            <a:custGeom>
              <a:avLst/>
              <a:gdLst/>
              <a:ahLst/>
              <a:cxnLst/>
              <a:rect r="r" b="b" t="t" l="l"/>
              <a:pathLst>
                <a:path h="25086" w="1254321">
                  <a:moveTo>
                    <a:pt x="0" y="0"/>
                  </a:moveTo>
                  <a:lnTo>
                    <a:pt x="1254321" y="0"/>
                  </a:lnTo>
                  <a:lnTo>
                    <a:pt x="1254321" y="25086"/>
                  </a:lnTo>
                  <a:lnTo>
                    <a:pt x="0" y="25086"/>
                  </a:lnTo>
                  <a:close/>
                </a:path>
              </a:pathLst>
            </a:custGeom>
            <a:solidFill>
              <a:srgbClr val="E5C857"/>
            </a:solidFill>
          </p:spPr>
        </p:sp>
        <p:sp>
          <p:nvSpPr>
            <p:cNvPr name="TextBox 18" id="18"/>
            <p:cNvSpPr txBox="true"/>
            <p:nvPr/>
          </p:nvSpPr>
          <p:spPr>
            <a:xfrm>
              <a:off x="0" y="-38100"/>
              <a:ext cx="1254321" cy="63186"/>
            </a:xfrm>
            <a:prstGeom prst="rect">
              <a:avLst/>
            </a:prstGeom>
          </p:spPr>
          <p:txBody>
            <a:bodyPr anchor="ctr" rtlCol="false" tIns="50800" lIns="50800" bIns="50800" rIns="50800"/>
            <a:lstStyle/>
            <a:p>
              <a:pPr algn="ctr">
                <a:lnSpc>
                  <a:spcPts val="2659"/>
                </a:lnSpc>
              </a:pPr>
            </a:p>
          </p:txBody>
        </p:sp>
      </p:grpSp>
      <p:sp>
        <p:nvSpPr>
          <p:cNvPr name="Freeform 19" id="19"/>
          <p:cNvSpPr/>
          <p:nvPr/>
        </p:nvSpPr>
        <p:spPr>
          <a:xfrm flipH="false" flipV="false" rot="0">
            <a:off x="3246958" y="2968138"/>
            <a:ext cx="4122584" cy="2993968"/>
          </a:xfrm>
          <a:custGeom>
            <a:avLst/>
            <a:gdLst/>
            <a:ahLst/>
            <a:cxnLst/>
            <a:rect r="r" b="b" t="t" l="l"/>
            <a:pathLst>
              <a:path h="2993968" w="4122584">
                <a:moveTo>
                  <a:pt x="0" y="0"/>
                </a:moveTo>
                <a:lnTo>
                  <a:pt x="4122584" y="0"/>
                </a:lnTo>
                <a:lnTo>
                  <a:pt x="4122584" y="2993968"/>
                </a:lnTo>
                <a:lnTo>
                  <a:pt x="0" y="2993968"/>
                </a:lnTo>
                <a:lnTo>
                  <a:pt x="0" y="0"/>
                </a:lnTo>
                <a:close/>
              </a:path>
            </a:pathLst>
          </a:custGeom>
          <a:blipFill>
            <a:blip r:embed="rId3"/>
            <a:stretch>
              <a:fillRect l="0" t="0" r="0" b="0"/>
            </a:stretch>
          </a:blipFill>
        </p:spPr>
      </p:sp>
      <p:sp>
        <p:nvSpPr>
          <p:cNvPr name="AutoShape 20" id="20"/>
          <p:cNvSpPr/>
          <p:nvPr/>
        </p:nvSpPr>
        <p:spPr>
          <a:xfrm>
            <a:off x="10210044" y="7342827"/>
            <a:ext cx="501403" cy="0"/>
          </a:xfrm>
          <a:prstGeom prst="line">
            <a:avLst/>
          </a:prstGeom>
          <a:ln cap="flat" w="76200">
            <a:solidFill>
              <a:srgbClr val="E5C857"/>
            </a:solidFill>
            <a:prstDash val="solid"/>
            <a:headEnd type="none" len="sm" w="sm"/>
            <a:tailEnd type="triangle" len="med" w="lg"/>
          </a:ln>
        </p:spPr>
      </p:sp>
      <p:sp>
        <p:nvSpPr>
          <p:cNvPr name="AutoShape 21" id="21"/>
          <p:cNvSpPr/>
          <p:nvPr/>
        </p:nvSpPr>
        <p:spPr>
          <a:xfrm>
            <a:off x="2295456" y="7893865"/>
            <a:ext cx="501403" cy="0"/>
          </a:xfrm>
          <a:prstGeom prst="line">
            <a:avLst/>
          </a:prstGeom>
          <a:ln cap="flat" w="76200">
            <a:solidFill>
              <a:srgbClr val="E5C857"/>
            </a:solidFill>
            <a:prstDash val="solid"/>
            <a:headEnd type="none" len="sm" w="sm"/>
            <a:tailEnd type="triangle" len="med" w="lg"/>
          </a:ln>
        </p:spPr>
      </p:sp>
      <p:sp>
        <p:nvSpPr>
          <p:cNvPr name="Freeform 22" id="22"/>
          <p:cNvSpPr/>
          <p:nvPr/>
        </p:nvSpPr>
        <p:spPr>
          <a:xfrm flipH="false" flipV="false" rot="0">
            <a:off x="10599178" y="2980912"/>
            <a:ext cx="3984231" cy="2990227"/>
          </a:xfrm>
          <a:custGeom>
            <a:avLst/>
            <a:gdLst/>
            <a:ahLst/>
            <a:cxnLst/>
            <a:rect r="r" b="b" t="t" l="l"/>
            <a:pathLst>
              <a:path h="2990227" w="3984231">
                <a:moveTo>
                  <a:pt x="0" y="0"/>
                </a:moveTo>
                <a:lnTo>
                  <a:pt x="3984231" y="0"/>
                </a:lnTo>
                <a:lnTo>
                  <a:pt x="3984231" y="2990227"/>
                </a:lnTo>
                <a:lnTo>
                  <a:pt x="0" y="2990227"/>
                </a:lnTo>
                <a:lnTo>
                  <a:pt x="0" y="0"/>
                </a:lnTo>
                <a:close/>
              </a:path>
            </a:pathLst>
          </a:custGeom>
          <a:blipFill>
            <a:blip r:embed="rId4"/>
            <a:stretch>
              <a:fillRect l="0" t="0" r="0" b="0"/>
            </a:stretch>
          </a:blipFill>
        </p:spPr>
      </p:sp>
      <p:sp>
        <p:nvSpPr>
          <p:cNvPr name="TextBox 23" id="23"/>
          <p:cNvSpPr txBox="true"/>
          <p:nvPr/>
        </p:nvSpPr>
        <p:spPr>
          <a:xfrm rot="0">
            <a:off x="863377" y="1112169"/>
            <a:ext cx="4363953" cy="1000423"/>
          </a:xfrm>
          <a:prstGeom prst="rect">
            <a:avLst/>
          </a:prstGeom>
        </p:spPr>
        <p:txBody>
          <a:bodyPr anchor="t" rtlCol="false" tIns="0" lIns="0" bIns="0" rIns="0">
            <a:spAutoFit/>
          </a:bodyPr>
          <a:lstStyle/>
          <a:p>
            <a:pPr algn="ctr">
              <a:lnSpc>
                <a:spcPts val="8142"/>
              </a:lnSpc>
            </a:pPr>
            <a:r>
              <a:rPr lang="en-US" sz="5816">
                <a:solidFill>
                  <a:srgbClr val="E5C857"/>
                </a:solidFill>
                <a:latin typeface="Bebas Neue 1"/>
                <a:ea typeface="Bebas Neue 1"/>
                <a:cs typeface="Bebas Neue 1"/>
                <a:sym typeface="Bebas Neue 1"/>
              </a:rPr>
              <a:t>latar belakang</a:t>
            </a:r>
          </a:p>
        </p:txBody>
      </p:sp>
      <p:sp>
        <p:nvSpPr>
          <p:cNvPr name="TextBox 24" id="24"/>
          <p:cNvSpPr txBox="true"/>
          <p:nvPr/>
        </p:nvSpPr>
        <p:spPr>
          <a:xfrm rot="0">
            <a:off x="863377" y="344178"/>
            <a:ext cx="3752222" cy="1000423"/>
          </a:xfrm>
          <a:prstGeom prst="rect">
            <a:avLst/>
          </a:prstGeom>
        </p:spPr>
        <p:txBody>
          <a:bodyPr anchor="t" rtlCol="false" tIns="0" lIns="0" bIns="0" rIns="0">
            <a:spAutoFit/>
          </a:bodyPr>
          <a:lstStyle/>
          <a:p>
            <a:pPr algn="ctr">
              <a:lnSpc>
                <a:spcPts val="8142"/>
              </a:lnSpc>
            </a:pPr>
            <a:r>
              <a:rPr lang="en-US" sz="5816">
                <a:solidFill>
                  <a:srgbClr val="59524B"/>
                </a:solidFill>
                <a:latin typeface="Bebas Neue 1"/>
                <a:ea typeface="Bebas Neue 1"/>
                <a:cs typeface="Bebas Neue 1"/>
                <a:sym typeface="Bebas Neue 1"/>
              </a:rPr>
              <a:t>pendahuluan</a:t>
            </a:r>
          </a:p>
        </p:txBody>
      </p:sp>
      <p:sp>
        <p:nvSpPr>
          <p:cNvPr name="TextBox 25" id="25"/>
          <p:cNvSpPr txBox="true"/>
          <p:nvPr/>
        </p:nvSpPr>
        <p:spPr>
          <a:xfrm rot="0">
            <a:off x="416328" y="9100806"/>
            <a:ext cx="17422032" cy="1053465"/>
          </a:xfrm>
          <a:prstGeom prst="rect">
            <a:avLst/>
          </a:prstGeom>
        </p:spPr>
        <p:txBody>
          <a:bodyPr anchor="t" rtlCol="false" tIns="0" lIns="0" bIns="0" rIns="0">
            <a:spAutoFit/>
          </a:bodyPr>
          <a:lstStyle/>
          <a:p>
            <a:pPr algn="just">
              <a:lnSpc>
                <a:spcPts val="2799"/>
              </a:lnSpc>
            </a:pPr>
            <a:r>
              <a:rPr lang="en-US" b="true" sz="1999">
                <a:solidFill>
                  <a:srgbClr val="000000"/>
                </a:solidFill>
                <a:latin typeface="Poppins Bold"/>
                <a:ea typeface="Poppins Bold"/>
                <a:cs typeface="Poppins Bold"/>
                <a:sym typeface="Poppins Bold"/>
              </a:rPr>
              <a:t>Refrensi :</a:t>
            </a:r>
          </a:p>
          <a:p>
            <a:pPr algn="just" marL="280673" indent="-140336" lvl="1">
              <a:lnSpc>
                <a:spcPts val="1820"/>
              </a:lnSpc>
              <a:buFont typeface="Arial"/>
              <a:buChar char="•"/>
            </a:pPr>
            <a:r>
              <a:rPr lang="en-US" sz="1300">
                <a:solidFill>
                  <a:srgbClr val="000000"/>
                </a:solidFill>
                <a:latin typeface="Poppins"/>
                <a:ea typeface="Poppins"/>
                <a:cs typeface="Poppins"/>
                <a:sym typeface="Poppins"/>
              </a:rPr>
              <a:t>Kumar, M., Tiwari, S., Kumar, V., Sampathi, S.J. &amp; Jarial, R.K. (2024) ‘Implementation of Field-Oriented Control (FOC) Algorithm for Brushless DC (BLDC) Motor Speed Regulation’, Proceedings of the 2023 IEEE 2nd International Conference on Measurement, Instrumentation, Control and Automation (ICMICA). doi: 10.1109/ICMICA61068.2024.10732537.</a:t>
            </a:r>
          </a:p>
          <a:p>
            <a:pPr algn="just" marL="280673" indent="-140336" lvl="1">
              <a:lnSpc>
                <a:spcPts val="1820"/>
              </a:lnSpc>
              <a:buFont typeface="Arial"/>
              <a:buChar char="•"/>
            </a:pPr>
            <a:r>
              <a:rPr lang="en-US" sz="1300">
                <a:solidFill>
                  <a:srgbClr val="000000"/>
                </a:solidFill>
                <a:latin typeface="Poppins"/>
                <a:ea typeface="Poppins"/>
                <a:cs typeface="Poppins"/>
                <a:sym typeface="Poppins"/>
              </a:rPr>
              <a:t>Lee, W.J. and Sul, S.K., 2006. A new starting method of BLDC motors without position sensor. IEEE Transactions on Industry Applications, 42(6), pp.1532–1538. doi:10.1109/TIA.2006.882668.</a:t>
            </a:r>
          </a:p>
        </p:txBody>
      </p:sp>
      <p:sp>
        <p:nvSpPr>
          <p:cNvPr name="TextBox 26" id="26"/>
          <p:cNvSpPr txBox="true"/>
          <p:nvPr/>
        </p:nvSpPr>
        <p:spPr>
          <a:xfrm rot="0">
            <a:off x="2295456" y="6228806"/>
            <a:ext cx="6025588" cy="1295400"/>
          </a:xfrm>
          <a:prstGeom prst="rect">
            <a:avLst/>
          </a:prstGeom>
        </p:spPr>
        <p:txBody>
          <a:bodyPr anchor="t" rtlCol="false" tIns="0" lIns="0" bIns="0" rIns="0">
            <a:spAutoFit/>
          </a:bodyPr>
          <a:lstStyle/>
          <a:p>
            <a:pPr algn="ctr">
              <a:lnSpc>
                <a:spcPts val="3375"/>
              </a:lnSpc>
            </a:pPr>
            <a:r>
              <a:rPr lang="en-US" b="true" sz="2500">
                <a:solidFill>
                  <a:srgbClr val="000000"/>
                </a:solidFill>
                <a:latin typeface="Poppins Bold"/>
                <a:ea typeface="Poppins Bold"/>
                <a:cs typeface="Poppins Bold"/>
                <a:sym typeface="Poppins Bold"/>
              </a:rPr>
              <a:t>L</a:t>
            </a:r>
            <a:r>
              <a:rPr lang="en-US" b="true" sz="2500">
                <a:solidFill>
                  <a:srgbClr val="000000"/>
                </a:solidFill>
                <a:latin typeface="Poppins Bold"/>
                <a:ea typeface="Poppins Bold"/>
                <a:cs typeface="Poppins Bold"/>
                <a:sym typeface="Poppins Bold"/>
              </a:rPr>
              <a:t>emahnya sinyal feedback sehingga sulit untuk mendapatkan estimasi posisi rotor yang akurat</a:t>
            </a:r>
          </a:p>
        </p:txBody>
      </p:sp>
      <p:sp>
        <p:nvSpPr>
          <p:cNvPr name="TextBox 27" id="27"/>
          <p:cNvSpPr txBox="true"/>
          <p:nvPr/>
        </p:nvSpPr>
        <p:spPr>
          <a:xfrm rot="0">
            <a:off x="10210044" y="6237839"/>
            <a:ext cx="5782501" cy="866775"/>
          </a:xfrm>
          <a:prstGeom prst="rect">
            <a:avLst/>
          </a:prstGeom>
        </p:spPr>
        <p:txBody>
          <a:bodyPr anchor="t" rtlCol="false" tIns="0" lIns="0" bIns="0" rIns="0">
            <a:spAutoFit/>
          </a:bodyPr>
          <a:lstStyle/>
          <a:p>
            <a:pPr algn="ctr">
              <a:lnSpc>
                <a:spcPts val="3375"/>
              </a:lnSpc>
            </a:pPr>
            <a:r>
              <a:rPr lang="en-US" b="true" sz="2500">
                <a:solidFill>
                  <a:srgbClr val="000000"/>
                </a:solidFill>
                <a:latin typeface="Poppins Bold"/>
                <a:ea typeface="Poppins Bold"/>
                <a:cs typeface="Poppins Bold"/>
                <a:sym typeface="Poppins Bold"/>
              </a:rPr>
              <a:t>Kebutuhan sensor posisi untuk pengoperasian</a:t>
            </a:r>
          </a:p>
        </p:txBody>
      </p:sp>
      <p:sp>
        <p:nvSpPr>
          <p:cNvPr name="TextBox 28" id="28"/>
          <p:cNvSpPr txBox="true"/>
          <p:nvPr/>
        </p:nvSpPr>
        <p:spPr>
          <a:xfrm rot="0">
            <a:off x="4522994" y="2120413"/>
            <a:ext cx="9242012" cy="523875"/>
          </a:xfrm>
          <a:prstGeom prst="rect">
            <a:avLst/>
          </a:prstGeom>
        </p:spPr>
        <p:txBody>
          <a:bodyPr anchor="t" rtlCol="false" tIns="0" lIns="0" bIns="0" rIns="0">
            <a:spAutoFit/>
          </a:bodyPr>
          <a:lstStyle/>
          <a:p>
            <a:pPr algn="ctr">
              <a:lnSpc>
                <a:spcPts val="4050"/>
              </a:lnSpc>
            </a:pPr>
            <a:r>
              <a:rPr lang="en-US" b="true" sz="3000">
                <a:solidFill>
                  <a:srgbClr val="59524B"/>
                </a:solidFill>
                <a:latin typeface="Poppins Bold"/>
                <a:ea typeface="Poppins Bold"/>
                <a:cs typeface="Poppins Bold"/>
                <a:sym typeface="Poppins Bold"/>
              </a:rPr>
              <a:t>Kelemahan Komutasi FOC pada BLDC </a:t>
            </a:r>
          </a:p>
        </p:txBody>
      </p:sp>
      <p:sp>
        <p:nvSpPr>
          <p:cNvPr name="TextBox 29" id="29"/>
          <p:cNvSpPr txBox="true"/>
          <p:nvPr/>
        </p:nvSpPr>
        <p:spPr>
          <a:xfrm rot="0">
            <a:off x="10805838" y="7106518"/>
            <a:ext cx="5186706" cy="1649730"/>
          </a:xfrm>
          <a:prstGeom prst="rect">
            <a:avLst/>
          </a:prstGeom>
        </p:spPr>
        <p:txBody>
          <a:bodyPr anchor="t" rtlCol="false" tIns="0" lIns="0" bIns="0" rIns="0">
            <a:spAutoFit/>
          </a:bodyPr>
          <a:lstStyle/>
          <a:p>
            <a:pPr algn="l" marL="518162" indent="-259081" lvl="1">
              <a:lnSpc>
                <a:spcPts val="3240"/>
              </a:lnSpc>
              <a:buFont typeface="Arial"/>
              <a:buChar char="•"/>
            </a:pPr>
            <a:r>
              <a:rPr lang="en-US" b="true" sz="2400">
                <a:solidFill>
                  <a:srgbClr val="E5C857"/>
                </a:solidFill>
                <a:latin typeface="Poppins Bold"/>
                <a:ea typeface="Poppins Bold"/>
                <a:cs typeface="Poppins Bold"/>
                <a:sym typeface="Poppins Bold"/>
              </a:rPr>
              <a:t>Bi</a:t>
            </a:r>
            <a:r>
              <a:rPr lang="en-US" b="true" sz="2400">
                <a:solidFill>
                  <a:srgbClr val="E5C857"/>
                </a:solidFill>
                <a:latin typeface="Poppins Bold"/>
                <a:ea typeface="Poppins Bold"/>
                <a:cs typeface="Poppins Bold"/>
                <a:sym typeface="Poppins Bold"/>
              </a:rPr>
              <a:t>aya dan kompleksitas hardware bertambah</a:t>
            </a:r>
          </a:p>
          <a:p>
            <a:pPr algn="l" marL="518162" indent="-259081" lvl="1">
              <a:lnSpc>
                <a:spcPts val="3240"/>
              </a:lnSpc>
              <a:buFont typeface="Arial"/>
              <a:buChar char="•"/>
            </a:pPr>
            <a:r>
              <a:rPr lang="en-US" b="true" sz="2400">
                <a:solidFill>
                  <a:srgbClr val="E5C857"/>
                </a:solidFill>
                <a:latin typeface="Poppins Bold"/>
                <a:ea typeface="Poppins Bold"/>
                <a:cs typeface="Poppins Bold"/>
                <a:sym typeface="Poppins Bold"/>
              </a:rPr>
              <a:t>Me</a:t>
            </a:r>
            <a:r>
              <a:rPr lang="en-US" b="true" sz="2400">
                <a:solidFill>
                  <a:srgbClr val="E5C857"/>
                </a:solidFill>
                <a:latin typeface="Poppins Bold"/>
                <a:ea typeface="Poppins Bold"/>
                <a:cs typeface="Poppins Bold"/>
                <a:sym typeface="Poppins Bold"/>
              </a:rPr>
              <a:t>nambah bobot dan ruang</a:t>
            </a:r>
          </a:p>
          <a:p>
            <a:pPr algn="l">
              <a:lnSpc>
                <a:spcPts val="3240"/>
              </a:lnSpc>
            </a:pPr>
          </a:p>
        </p:txBody>
      </p:sp>
      <p:sp>
        <p:nvSpPr>
          <p:cNvPr name="TextBox 30" id="30"/>
          <p:cNvSpPr txBox="true"/>
          <p:nvPr/>
        </p:nvSpPr>
        <p:spPr>
          <a:xfrm rot="0">
            <a:off x="2832039" y="7657556"/>
            <a:ext cx="5186706" cy="421005"/>
          </a:xfrm>
          <a:prstGeom prst="rect">
            <a:avLst/>
          </a:prstGeom>
        </p:spPr>
        <p:txBody>
          <a:bodyPr anchor="t" rtlCol="false" tIns="0" lIns="0" bIns="0" rIns="0">
            <a:spAutoFit/>
          </a:bodyPr>
          <a:lstStyle/>
          <a:p>
            <a:pPr algn="l" marL="518162" indent="-259081" lvl="1">
              <a:lnSpc>
                <a:spcPts val="3240"/>
              </a:lnSpc>
              <a:buFont typeface="Arial"/>
              <a:buChar char="•"/>
            </a:pPr>
            <a:r>
              <a:rPr lang="en-US" b="true" sz="2400">
                <a:solidFill>
                  <a:srgbClr val="E5C857"/>
                </a:solidFill>
                <a:latin typeface="Poppins Bold"/>
                <a:ea typeface="Poppins Bold"/>
                <a:cs typeface="Poppins Bold"/>
                <a:sym typeface="Poppins Bold"/>
              </a:rPr>
              <a:t>z</a:t>
            </a:r>
            <a:r>
              <a:rPr lang="en-US" b="true" sz="2400">
                <a:solidFill>
                  <a:srgbClr val="E5C857"/>
                </a:solidFill>
                <a:latin typeface="Poppins Bold"/>
                <a:ea typeface="Poppins Bold"/>
                <a:cs typeface="Poppins Bold"/>
                <a:sym typeface="Poppins Bold"/>
              </a:rPr>
              <a:t>ero-crossing point BEMF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5313" y="464654"/>
            <a:ext cx="4760079" cy="1523631"/>
            <a:chOff x="0" y="0"/>
            <a:chExt cx="1696267" cy="542950"/>
          </a:xfrm>
        </p:grpSpPr>
        <p:sp>
          <p:nvSpPr>
            <p:cNvPr name="Freeform 3" id="3"/>
            <p:cNvSpPr/>
            <p:nvPr/>
          </p:nvSpPr>
          <p:spPr>
            <a:xfrm flipH="false" flipV="false" rot="0">
              <a:off x="0" y="0"/>
              <a:ext cx="1696267" cy="542950"/>
            </a:xfrm>
            <a:custGeom>
              <a:avLst/>
              <a:gdLst/>
              <a:ahLst/>
              <a:cxnLst/>
              <a:rect r="r" b="b" t="t" l="l"/>
              <a:pathLst>
                <a:path h="542950" w="1696267">
                  <a:moveTo>
                    <a:pt x="1493067" y="0"/>
                  </a:moveTo>
                  <a:cubicBezTo>
                    <a:pt x="1605291" y="0"/>
                    <a:pt x="1696267" y="121543"/>
                    <a:pt x="1696267" y="271475"/>
                  </a:cubicBezTo>
                  <a:cubicBezTo>
                    <a:pt x="1696267" y="421406"/>
                    <a:pt x="1605291" y="542950"/>
                    <a:pt x="1493067" y="542950"/>
                  </a:cubicBezTo>
                  <a:lnTo>
                    <a:pt x="203200" y="542950"/>
                  </a:lnTo>
                  <a:cubicBezTo>
                    <a:pt x="90976" y="542950"/>
                    <a:pt x="0" y="421406"/>
                    <a:pt x="0" y="271475"/>
                  </a:cubicBezTo>
                  <a:cubicBezTo>
                    <a:pt x="0" y="121543"/>
                    <a:pt x="90976" y="0"/>
                    <a:pt x="203200" y="0"/>
                  </a:cubicBezTo>
                  <a:close/>
                </a:path>
              </a:pathLst>
            </a:custGeom>
            <a:solidFill>
              <a:srgbClr val="F2F2F2"/>
            </a:solidFill>
          </p:spPr>
        </p:sp>
        <p:sp>
          <p:nvSpPr>
            <p:cNvPr name="TextBox 4" id="4"/>
            <p:cNvSpPr txBox="true"/>
            <p:nvPr/>
          </p:nvSpPr>
          <p:spPr>
            <a:xfrm>
              <a:off x="0" y="-38100"/>
              <a:ext cx="1696267" cy="5810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038174" y="458478"/>
            <a:ext cx="4563040" cy="1140443"/>
            <a:chOff x="0" y="0"/>
            <a:chExt cx="6084053" cy="1520591"/>
          </a:xfrm>
        </p:grpSpPr>
        <p:grpSp>
          <p:nvGrpSpPr>
            <p:cNvPr name="Group 6" id="6"/>
            <p:cNvGrpSpPr/>
            <p:nvPr/>
          </p:nvGrpSpPr>
          <p:grpSpPr>
            <a:xfrm rot="0">
              <a:off x="0" y="0"/>
              <a:ext cx="6084053" cy="1520591"/>
              <a:chOff x="0" y="0"/>
              <a:chExt cx="1626052" cy="406400"/>
            </a:xfrm>
          </p:grpSpPr>
          <p:sp>
            <p:nvSpPr>
              <p:cNvPr name="Freeform 7" id="7"/>
              <p:cNvSpPr/>
              <p:nvPr/>
            </p:nvSpPr>
            <p:spPr>
              <a:xfrm flipH="false" flipV="false" rot="0">
                <a:off x="0" y="0"/>
                <a:ext cx="1626052" cy="406400"/>
              </a:xfrm>
              <a:custGeom>
                <a:avLst/>
                <a:gdLst/>
                <a:ahLst/>
                <a:cxnLst/>
                <a:rect r="r" b="b" t="t" l="l"/>
                <a:pathLst>
                  <a:path h="406400" w="1626052">
                    <a:moveTo>
                      <a:pt x="1422852" y="0"/>
                    </a:moveTo>
                    <a:cubicBezTo>
                      <a:pt x="1535076" y="0"/>
                      <a:pt x="1626052" y="90976"/>
                      <a:pt x="1626052" y="203200"/>
                    </a:cubicBezTo>
                    <a:cubicBezTo>
                      <a:pt x="1626052" y="315424"/>
                      <a:pt x="1535076" y="406400"/>
                      <a:pt x="1422852"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8" id="8"/>
              <p:cNvSpPr txBox="true"/>
              <p:nvPr/>
            </p:nvSpPr>
            <p:spPr>
              <a:xfrm>
                <a:off x="0" y="-38100"/>
                <a:ext cx="1626052" cy="44450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414535" y="124612"/>
              <a:ext cx="5254984" cy="1271367"/>
            </a:xfrm>
            <a:custGeom>
              <a:avLst/>
              <a:gdLst/>
              <a:ahLst/>
              <a:cxnLst/>
              <a:rect r="r" b="b" t="t" l="l"/>
              <a:pathLst>
                <a:path h="1271367" w="5254984">
                  <a:moveTo>
                    <a:pt x="0" y="0"/>
                  </a:moveTo>
                  <a:lnTo>
                    <a:pt x="5254983" y="0"/>
                  </a:lnTo>
                  <a:lnTo>
                    <a:pt x="5254983" y="1271367"/>
                  </a:lnTo>
                  <a:lnTo>
                    <a:pt x="0" y="1271367"/>
                  </a:lnTo>
                  <a:lnTo>
                    <a:pt x="0" y="0"/>
                  </a:lnTo>
                  <a:close/>
                </a:path>
              </a:pathLst>
            </a:custGeom>
            <a:blipFill>
              <a:blip r:embed="rId2"/>
              <a:stretch>
                <a:fillRect l="0" t="0" r="0" b="0"/>
              </a:stretch>
            </a:blipFill>
          </p:spPr>
        </p:sp>
      </p:grpSp>
      <p:grpSp>
        <p:nvGrpSpPr>
          <p:cNvPr name="Group 10" id="10"/>
          <p:cNvGrpSpPr/>
          <p:nvPr/>
        </p:nvGrpSpPr>
        <p:grpSpPr>
          <a:xfrm rot="0">
            <a:off x="1028700" y="4367950"/>
            <a:ext cx="2857500" cy="95250"/>
            <a:chOff x="0" y="0"/>
            <a:chExt cx="752593" cy="25086"/>
          </a:xfrm>
        </p:grpSpPr>
        <p:sp>
          <p:nvSpPr>
            <p:cNvPr name="Freeform 11" id="11"/>
            <p:cNvSpPr/>
            <p:nvPr/>
          </p:nvSpPr>
          <p:spPr>
            <a:xfrm flipH="false" flipV="false" rot="0">
              <a:off x="0" y="0"/>
              <a:ext cx="752593" cy="25086"/>
            </a:xfrm>
            <a:custGeom>
              <a:avLst/>
              <a:gdLst/>
              <a:ahLst/>
              <a:cxnLst/>
              <a:rect r="r" b="b" t="t" l="l"/>
              <a:pathLst>
                <a:path h="25086" w="752593">
                  <a:moveTo>
                    <a:pt x="0" y="0"/>
                  </a:moveTo>
                  <a:lnTo>
                    <a:pt x="752593" y="0"/>
                  </a:lnTo>
                  <a:lnTo>
                    <a:pt x="752593" y="25086"/>
                  </a:lnTo>
                  <a:lnTo>
                    <a:pt x="0" y="25086"/>
                  </a:lnTo>
                  <a:close/>
                </a:path>
              </a:pathLst>
            </a:custGeom>
            <a:solidFill>
              <a:srgbClr val="E5C857"/>
            </a:solidFill>
          </p:spPr>
        </p:sp>
        <p:sp>
          <p:nvSpPr>
            <p:cNvPr name="TextBox 12" id="12"/>
            <p:cNvSpPr txBox="true"/>
            <p:nvPr/>
          </p:nvSpPr>
          <p:spPr>
            <a:xfrm>
              <a:off x="0" y="-38100"/>
              <a:ext cx="752593" cy="63186"/>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1028700" y="4834675"/>
            <a:ext cx="6740027" cy="3416994"/>
          </a:xfrm>
          <a:custGeom>
            <a:avLst/>
            <a:gdLst/>
            <a:ahLst/>
            <a:cxnLst/>
            <a:rect r="r" b="b" t="t" l="l"/>
            <a:pathLst>
              <a:path h="3416994" w="6740027">
                <a:moveTo>
                  <a:pt x="0" y="0"/>
                </a:moveTo>
                <a:lnTo>
                  <a:pt x="6740027" y="0"/>
                </a:lnTo>
                <a:lnTo>
                  <a:pt x="6740027" y="3416995"/>
                </a:lnTo>
                <a:lnTo>
                  <a:pt x="0" y="3416995"/>
                </a:lnTo>
                <a:lnTo>
                  <a:pt x="0" y="0"/>
                </a:lnTo>
                <a:close/>
              </a:path>
            </a:pathLst>
          </a:custGeom>
          <a:blipFill>
            <a:blip r:embed="rId3"/>
            <a:stretch>
              <a:fillRect l="-16098" t="-10970" r="-16366" b="0"/>
            </a:stretch>
          </a:blipFill>
        </p:spPr>
      </p:sp>
      <p:sp>
        <p:nvSpPr>
          <p:cNvPr name="TextBox 14" id="14"/>
          <p:cNvSpPr txBox="true"/>
          <p:nvPr/>
        </p:nvSpPr>
        <p:spPr>
          <a:xfrm rot="0">
            <a:off x="863377" y="1112169"/>
            <a:ext cx="4363953" cy="1000423"/>
          </a:xfrm>
          <a:prstGeom prst="rect">
            <a:avLst/>
          </a:prstGeom>
        </p:spPr>
        <p:txBody>
          <a:bodyPr anchor="t" rtlCol="false" tIns="0" lIns="0" bIns="0" rIns="0">
            <a:spAutoFit/>
          </a:bodyPr>
          <a:lstStyle/>
          <a:p>
            <a:pPr algn="ctr">
              <a:lnSpc>
                <a:spcPts val="8142"/>
              </a:lnSpc>
            </a:pPr>
            <a:r>
              <a:rPr lang="en-US" sz="5816">
                <a:solidFill>
                  <a:srgbClr val="E5C857"/>
                </a:solidFill>
                <a:latin typeface="Bebas Neue 1"/>
                <a:ea typeface="Bebas Neue 1"/>
                <a:cs typeface="Bebas Neue 1"/>
                <a:sym typeface="Bebas Neue 1"/>
              </a:rPr>
              <a:t>latar belakang</a:t>
            </a:r>
          </a:p>
        </p:txBody>
      </p:sp>
      <p:sp>
        <p:nvSpPr>
          <p:cNvPr name="TextBox 15" id="15"/>
          <p:cNvSpPr txBox="true"/>
          <p:nvPr/>
        </p:nvSpPr>
        <p:spPr>
          <a:xfrm rot="0">
            <a:off x="863377" y="344178"/>
            <a:ext cx="3752222" cy="1000423"/>
          </a:xfrm>
          <a:prstGeom prst="rect">
            <a:avLst/>
          </a:prstGeom>
        </p:spPr>
        <p:txBody>
          <a:bodyPr anchor="t" rtlCol="false" tIns="0" lIns="0" bIns="0" rIns="0">
            <a:spAutoFit/>
          </a:bodyPr>
          <a:lstStyle/>
          <a:p>
            <a:pPr algn="ctr">
              <a:lnSpc>
                <a:spcPts val="8142"/>
              </a:lnSpc>
            </a:pPr>
            <a:r>
              <a:rPr lang="en-US" sz="5816">
                <a:solidFill>
                  <a:srgbClr val="59524B"/>
                </a:solidFill>
                <a:latin typeface="Bebas Neue 1"/>
                <a:ea typeface="Bebas Neue 1"/>
                <a:cs typeface="Bebas Neue 1"/>
                <a:sym typeface="Bebas Neue 1"/>
              </a:rPr>
              <a:t>pendahuluan</a:t>
            </a:r>
          </a:p>
        </p:txBody>
      </p:sp>
      <p:sp>
        <p:nvSpPr>
          <p:cNvPr name="TextBox 16" id="16"/>
          <p:cNvSpPr txBox="true"/>
          <p:nvPr/>
        </p:nvSpPr>
        <p:spPr>
          <a:xfrm rot="0">
            <a:off x="1028700" y="2354365"/>
            <a:ext cx="15351695" cy="1101090"/>
          </a:xfrm>
          <a:prstGeom prst="rect">
            <a:avLst/>
          </a:prstGeom>
        </p:spPr>
        <p:txBody>
          <a:bodyPr anchor="t" rtlCol="false" tIns="0" lIns="0" bIns="0" rIns="0">
            <a:spAutoFit/>
          </a:bodyPr>
          <a:lstStyle/>
          <a:p>
            <a:pPr algn="l">
              <a:lnSpc>
                <a:spcPts val="4319"/>
              </a:lnSpc>
            </a:pPr>
            <a:r>
              <a:rPr lang="en-US" sz="3199" b="true">
                <a:solidFill>
                  <a:srgbClr val="59524B"/>
                </a:solidFill>
                <a:latin typeface="Poppins Bold"/>
                <a:ea typeface="Poppins Bold"/>
                <a:cs typeface="Poppins Bold"/>
                <a:sym typeface="Poppins Bold"/>
              </a:rPr>
              <a:t>Diusulkan p</a:t>
            </a:r>
            <a:r>
              <a:rPr lang="en-US" b="true" sz="3199">
                <a:solidFill>
                  <a:srgbClr val="59524B"/>
                </a:solidFill>
                <a:latin typeface="Poppins Bold"/>
                <a:ea typeface="Poppins Bold"/>
                <a:cs typeface="Poppins Bold"/>
                <a:sym typeface="Poppins Bold"/>
              </a:rPr>
              <a:t>engaplikasian Estimator untuk Mengetahui Posisi Rotor BLDC secara </a:t>
            </a:r>
            <a:r>
              <a:rPr lang="en-US" b="true" sz="3199" i="true">
                <a:solidFill>
                  <a:srgbClr val="59524B"/>
                </a:solidFill>
                <a:latin typeface="Poppins Bold Italics"/>
                <a:ea typeface="Poppins Bold Italics"/>
                <a:cs typeface="Poppins Bold Italics"/>
                <a:sym typeface="Poppins Bold Italics"/>
              </a:rPr>
              <a:t>sensorless</a:t>
            </a:r>
          </a:p>
        </p:txBody>
      </p:sp>
      <p:sp>
        <p:nvSpPr>
          <p:cNvPr name="TextBox 17" id="17"/>
          <p:cNvSpPr txBox="true"/>
          <p:nvPr/>
        </p:nvSpPr>
        <p:spPr>
          <a:xfrm rot="0">
            <a:off x="1028700" y="3741205"/>
            <a:ext cx="5648117" cy="626745"/>
          </a:xfrm>
          <a:prstGeom prst="rect">
            <a:avLst/>
          </a:prstGeom>
        </p:spPr>
        <p:txBody>
          <a:bodyPr anchor="t" rtlCol="false" tIns="0" lIns="0" bIns="0" rIns="0">
            <a:spAutoFit/>
          </a:bodyPr>
          <a:lstStyle/>
          <a:p>
            <a:pPr algn="l">
              <a:lnSpc>
                <a:spcPts val="4859"/>
              </a:lnSpc>
            </a:pPr>
            <a:r>
              <a:rPr lang="en-US" sz="3599" b="true">
                <a:solidFill>
                  <a:srgbClr val="E5C857"/>
                </a:solidFill>
                <a:latin typeface="Poppins Bold"/>
                <a:ea typeface="Poppins Bold"/>
                <a:cs typeface="Poppins Bold"/>
                <a:sym typeface="Poppins Bold"/>
              </a:rPr>
              <a:t>Extended Kalman Filter</a:t>
            </a:r>
          </a:p>
        </p:txBody>
      </p:sp>
      <p:sp>
        <p:nvSpPr>
          <p:cNvPr name="TextBox 18" id="18"/>
          <p:cNvSpPr txBox="true"/>
          <p:nvPr/>
        </p:nvSpPr>
        <p:spPr>
          <a:xfrm rot="0">
            <a:off x="8290803" y="4467225"/>
            <a:ext cx="8968497" cy="1295400"/>
          </a:xfrm>
          <a:prstGeom prst="rect">
            <a:avLst/>
          </a:prstGeom>
        </p:spPr>
        <p:txBody>
          <a:bodyPr anchor="t" rtlCol="false" tIns="0" lIns="0" bIns="0" rIns="0">
            <a:spAutoFit/>
          </a:bodyPr>
          <a:lstStyle/>
          <a:p>
            <a:pPr algn="l">
              <a:lnSpc>
                <a:spcPts val="3375"/>
              </a:lnSpc>
            </a:pPr>
            <a:r>
              <a:rPr lang="en-US" sz="2500" b="true">
                <a:solidFill>
                  <a:srgbClr val="000000"/>
                </a:solidFill>
                <a:latin typeface="Poppins Bold"/>
                <a:ea typeface="Poppins Bold"/>
                <a:cs typeface="Poppins Bold"/>
                <a:sym typeface="Poppins Bold"/>
              </a:rPr>
              <a:t>Extended Kalman Filter (EKF) adalah estimator state berbasis model yang bekerja secara rekursif untuk sistem nonlinear.</a:t>
            </a:r>
          </a:p>
        </p:txBody>
      </p:sp>
      <p:sp>
        <p:nvSpPr>
          <p:cNvPr name="TextBox 19" id="19"/>
          <p:cNvSpPr txBox="true"/>
          <p:nvPr/>
        </p:nvSpPr>
        <p:spPr>
          <a:xfrm rot="0">
            <a:off x="8290803" y="6364102"/>
            <a:ext cx="8968497" cy="2581275"/>
          </a:xfrm>
          <a:prstGeom prst="rect">
            <a:avLst/>
          </a:prstGeom>
        </p:spPr>
        <p:txBody>
          <a:bodyPr anchor="t" rtlCol="false" tIns="0" lIns="0" bIns="0" rIns="0">
            <a:spAutoFit/>
          </a:bodyPr>
          <a:lstStyle/>
          <a:p>
            <a:pPr algn="l">
              <a:lnSpc>
                <a:spcPts val="3375"/>
              </a:lnSpc>
            </a:pPr>
            <a:r>
              <a:rPr lang="en-US" sz="2500" b="true">
                <a:solidFill>
                  <a:srgbClr val="000000"/>
                </a:solidFill>
                <a:latin typeface="Poppins Bold"/>
                <a:ea typeface="Poppins Bold"/>
                <a:cs typeface="Poppins Bold"/>
                <a:sym typeface="Poppins Bold"/>
              </a:rPr>
              <a:t>Komutasi FOC pada motor BLDC, EKF secara teoritis cocok digunakan karena FOC membutuhkan informasi sudut (θₑ) dan kecepatan (ωₑ) elektrik rotor secara kontinu untuk melakukan transformasi Clark-Park informasi yang pada operasi sensorless tidak dapat diukur langsung, dan harus direkonstruksi.</a:t>
            </a:r>
          </a:p>
        </p:txBody>
      </p:sp>
      <p:sp>
        <p:nvSpPr>
          <p:cNvPr name="TextBox 20" id="20"/>
          <p:cNvSpPr txBox="true"/>
          <p:nvPr/>
        </p:nvSpPr>
        <p:spPr>
          <a:xfrm rot="0">
            <a:off x="416328" y="9481185"/>
            <a:ext cx="17422032" cy="824865"/>
          </a:xfrm>
          <a:prstGeom prst="rect">
            <a:avLst/>
          </a:prstGeom>
        </p:spPr>
        <p:txBody>
          <a:bodyPr anchor="t" rtlCol="false" tIns="0" lIns="0" bIns="0" rIns="0">
            <a:spAutoFit/>
          </a:bodyPr>
          <a:lstStyle/>
          <a:p>
            <a:pPr algn="just">
              <a:lnSpc>
                <a:spcPts val="2799"/>
              </a:lnSpc>
            </a:pPr>
            <a:r>
              <a:rPr lang="en-US" b="true" sz="1999">
                <a:solidFill>
                  <a:srgbClr val="000000"/>
                </a:solidFill>
                <a:latin typeface="Poppins Bold"/>
                <a:ea typeface="Poppins Bold"/>
                <a:cs typeface="Poppins Bold"/>
                <a:sym typeface="Poppins Bold"/>
              </a:rPr>
              <a:t>Refrensi :</a:t>
            </a:r>
          </a:p>
          <a:p>
            <a:pPr algn="just" marL="280673" indent="-140336" lvl="1">
              <a:lnSpc>
                <a:spcPts val="1820"/>
              </a:lnSpc>
              <a:buFont typeface="Arial"/>
              <a:buChar char="•"/>
            </a:pPr>
            <a:r>
              <a:rPr lang="en-US" sz="1300">
                <a:solidFill>
                  <a:srgbClr val="000000"/>
                </a:solidFill>
                <a:latin typeface="Poppins"/>
                <a:ea typeface="Poppins"/>
                <a:cs typeface="Poppins"/>
                <a:sym typeface="Poppins"/>
              </a:rPr>
              <a:t>So, R. (2015). Extended Kalman Filter Simulink Model for Nonlinear System Modeling.</a:t>
            </a:r>
          </a:p>
          <a:p>
            <a:pPr algn="just">
              <a:lnSpc>
                <a:spcPts val="1820"/>
              </a:lnSpc>
            </a:pPr>
          </a:p>
        </p:txBody>
      </p:sp>
      <p:grpSp>
        <p:nvGrpSpPr>
          <p:cNvPr name="Group 21" id="21"/>
          <p:cNvGrpSpPr/>
          <p:nvPr/>
        </p:nvGrpSpPr>
        <p:grpSpPr>
          <a:xfrm rot="0">
            <a:off x="792968" y="9258300"/>
            <a:ext cx="16668750" cy="95250"/>
            <a:chOff x="0" y="0"/>
            <a:chExt cx="4390123" cy="25086"/>
          </a:xfrm>
        </p:grpSpPr>
        <p:sp>
          <p:nvSpPr>
            <p:cNvPr name="Freeform 22" id="22"/>
            <p:cNvSpPr/>
            <p:nvPr/>
          </p:nvSpPr>
          <p:spPr>
            <a:xfrm flipH="false" flipV="false" rot="0">
              <a:off x="0" y="0"/>
              <a:ext cx="4390124" cy="25086"/>
            </a:xfrm>
            <a:custGeom>
              <a:avLst/>
              <a:gdLst/>
              <a:ahLst/>
              <a:cxnLst/>
              <a:rect r="r" b="b" t="t" l="l"/>
              <a:pathLst>
                <a:path h="25086" w="4390124">
                  <a:moveTo>
                    <a:pt x="0" y="0"/>
                  </a:moveTo>
                  <a:lnTo>
                    <a:pt x="4390124" y="0"/>
                  </a:lnTo>
                  <a:lnTo>
                    <a:pt x="4390124" y="25086"/>
                  </a:lnTo>
                  <a:lnTo>
                    <a:pt x="0" y="25086"/>
                  </a:lnTo>
                  <a:close/>
                </a:path>
              </a:pathLst>
            </a:custGeom>
            <a:solidFill>
              <a:srgbClr val="59524B"/>
            </a:solidFill>
          </p:spPr>
        </p:sp>
        <p:sp>
          <p:nvSpPr>
            <p:cNvPr name="TextBox 23" id="23"/>
            <p:cNvSpPr txBox="true"/>
            <p:nvPr/>
          </p:nvSpPr>
          <p:spPr>
            <a:xfrm>
              <a:off x="0" y="-38100"/>
              <a:ext cx="4390123" cy="63186"/>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44000" y="0"/>
            <a:ext cx="9144000" cy="10287000"/>
            <a:chOff x="0" y="0"/>
            <a:chExt cx="2408296" cy="2709333"/>
          </a:xfrm>
        </p:grpSpPr>
        <p:sp>
          <p:nvSpPr>
            <p:cNvPr name="Freeform 3" id="3"/>
            <p:cNvSpPr/>
            <p:nvPr/>
          </p:nvSpPr>
          <p:spPr>
            <a:xfrm flipH="false" flipV="false" rot="0">
              <a:off x="0" y="0"/>
              <a:ext cx="2408296" cy="2709333"/>
            </a:xfrm>
            <a:custGeom>
              <a:avLst/>
              <a:gdLst/>
              <a:ahLst/>
              <a:cxnLst/>
              <a:rect r="r" b="b" t="t" l="l"/>
              <a:pathLst>
                <a:path h="2709333" w="2408296">
                  <a:moveTo>
                    <a:pt x="0" y="0"/>
                  </a:moveTo>
                  <a:lnTo>
                    <a:pt x="2408296" y="0"/>
                  </a:lnTo>
                  <a:lnTo>
                    <a:pt x="2408296" y="2709333"/>
                  </a:lnTo>
                  <a:lnTo>
                    <a:pt x="0" y="2709333"/>
                  </a:lnTo>
                  <a:close/>
                </a:path>
              </a:pathLst>
            </a:custGeom>
            <a:solidFill>
              <a:srgbClr val="59524B"/>
            </a:solidFill>
          </p:spPr>
        </p:sp>
        <p:sp>
          <p:nvSpPr>
            <p:cNvPr name="TextBox 4" id="4"/>
            <p:cNvSpPr txBox="true"/>
            <p:nvPr/>
          </p:nvSpPr>
          <p:spPr>
            <a:xfrm>
              <a:off x="0" y="-38100"/>
              <a:ext cx="2408296" cy="2747433"/>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3794152" y="2759760"/>
            <a:ext cx="2852142" cy="197878"/>
            <a:chOff x="0" y="0"/>
            <a:chExt cx="751181" cy="52116"/>
          </a:xfrm>
        </p:grpSpPr>
        <p:sp>
          <p:nvSpPr>
            <p:cNvPr name="Freeform 6" id="6"/>
            <p:cNvSpPr/>
            <p:nvPr/>
          </p:nvSpPr>
          <p:spPr>
            <a:xfrm flipH="false" flipV="false" rot="0">
              <a:off x="0" y="0"/>
              <a:ext cx="751181" cy="52116"/>
            </a:xfrm>
            <a:custGeom>
              <a:avLst/>
              <a:gdLst/>
              <a:ahLst/>
              <a:cxnLst/>
              <a:rect r="r" b="b" t="t" l="l"/>
              <a:pathLst>
                <a:path h="52116" w="751181">
                  <a:moveTo>
                    <a:pt x="0" y="0"/>
                  </a:moveTo>
                  <a:lnTo>
                    <a:pt x="751181" y="0"/>
                  </a:lnTo>
                  <a:lnTo>
                    <a:pt x="751181" y="52116"/>
                  </a:lnTo>
                  <a:lnTo>
                    <a:pt x="0" y="52116"/>
                  </a:lnTo>
                  <a:close/>
                </a:path>
              </a:pathLst>
            </a:custGeom>
            <a:solidFill>
              <a:srgbClr val="E5C857"/>
            </a:solidFill>
          </p:spPr>
        </p:sp>
        <p:sp>
          <p:nvSpPr>
            <p:cNvPr name="TextBox 7" id="7"/>
            <p:cNvSpPr txBox="true"/>
            <p:nvPr/>
          </p:nvSpPr>
          <p:spPr>
            <a:xfrm>
              <a:off x="0" y="-38100"/>
              <a:ext cx="751181" cy="90216"/>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657183" y="458478"/>
            <a:ext cx="4563040" cy="1140443"/>
            <a:chOff x="0" y="0"/>
            <a:chExt cx="1626052" cy="406400"/>
          </a:xfrm>
        </p:grpSpPr>
        <p:sp>
          <p:nvSpPr>
            <p:cNvPr name="Freeform 9" id="9"/>
            <p:cNvSpPr/>
            <p:nvPr/>
          </p:nvSpPr>
          <p:spPr>
            <a:xfrm flipH="false" flipV="false" rot="0">
              <a:off x="0" y="0"/>
              <a:ext cx="1626052" cy="406400"/>
            </a:xfrm>
            <a:custGeom>
              <a:avLst/>
              <a:gdLst/>
              <a:ahLst/>
              <a:cxnLst/>
              <a:rect r="r" b="b" t="t" l="l"/>
              <a:pathLst>
                <a:path h="406400" w="1626052">
                  <a:moveTo>
                    <a:pt x="1422852" y="0"/>
                  </a:moveTo>
                  <a:cubicBezTo>
                    <a:pt x="1535076" y="0"/>
                    <a:pt x="1626052" y="90976"/>
                    <a:pt x="1626052" y="203200"/>
                  </a:cubicBezTo>
                  <a:cubicBezTo>
                    <a:pt x="1626052" y="315424"/>
                    <a:pt x="1535076" y="406400"/>
                    <a:pt x="1422852"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10" id="10"/>
            <p:cNvSpPr txBox="true"/>
            <p:nvPr/>
          </p:nvSpPr>
          <p:spPr>
            <a:xfrm>
              <a:off x="0" y="-38100"/>
              <a:ext cx="1626052" cy="444500"/>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9144000" y="0"/>
            <a:ext cx="9144000" cy="10287000"/>
          </a:xfrm>
          <a:custGeom>
            <a:avLst/>
            <a:gdLst/>
            <a:ahLst/>
            <a:cxnLst/>
            <a:rect r="r" b="b" t="t" l="l"/>
            <a:pathLst>
              <a:path h="10287000" w="9144000">
                <a:moveTo>
                  <a:pt x="0" y="0"/>
                </a:moveTo>
                <a:lnTo>
                  <a:pt x="9144000" y="0"/>
                </a:lnTo>
                <a:lnTo>
                  <a:pt x="9144000" y="10287000"/>
                </a:lnTo>
                <a:lnTo>
                  <a:pt x="0" y="10287000"/>
                </a:lnTo>
                <a:lnTo>
                  <a:pt x="0" y="0"/>
                </a:lnTo>
                <a:close/>
              </a:path>
            </a:pathLst>
          </a:custGeom>
          <a:blipFill>
            <a:blip r:embed="rId2">
              <a:alphaModFix amt="50000"/>
            </a:blip>
            <a:stretch>
              <a:fillRect l="-83779" t="0" r="-16220" b="0"/>
            </a:stretch>
          </a:blipFill>
        </p:spPr>
      </p:sp>
      <p:grpSp>
        <p:nvGrpSpPr>
          <p:cNvPr name="Group 12" id="12"/>
          <p:cNvGrpSpPr/>
          <p:nvPr/>
        </p:nvGrpSpPr>
        <p:grpSpPr>
          <a:xfrm rot="0">
            <a:off x="13038174" y="458478"/>
            <a:ext cx="4563040" cy="1140443"/>
            <a:chOff x="0" y="0"/>
            <a:chExt cx="6084053" cy="1520591"/>
          </a:xfrm>
        </p:grpSpPr>
        <p:grpSp>
          <p:nvGrpSpPr>
            <p:cNvPr name="Group 13" id="13"/>
            <p:cNvGrpSpPr/>
            <p:nvPr/>
          </p:nvGrpSpPr>
          <p:grpSpPr>
            <a:xfrm rot="0">
              <a:off x="0" y="0"/>
              <a:ext cx="6084053" cy="1520591"/>
              <a:chOff x="0" y="0"/>
              <a:chExt cx="1626052" cy="406400"/>
            </a:xfrm>
          </p:grpSpPr>
          <p:sp>
            <p:nvSpPr>
              <p:cNvPr name="Freeform 14" id="14"/>
              <p:cNvSpPr/>
              <p:nvPr/>
            </p:nvSpPr>
            <p:spPr>
              <a:xfrm flipH="false" flipV="false" rot="0">
                <a:off x="0" y="0"/>
                <a:ext cx="1626052" cy="406400"/>
              </a:xfrm>
              <a:custGeom>
                <a:avLst/>
                <a:gdLst/>
                <a:ahLst/>
                <a:cxnLst/>
                <a:rect r="r" b="b" t="t" l="l"/>
                <a:pathLst>
                  <a:path h="406400" w="1626052">
                    <a:moveTo>
                      <a:pt x="1422852" y="0"/>
                    </a:moveTo>
                    <a:cubicBezTo>
                      <a:pt x="1535076" y="0"/>
                      <a:pt x="1626052" y="90976"/>
                      <a:pt x="1626052" y="203200"/>
                    </a:cubicBezTo>
                    <a:cubicBezTo>
                      <a:pt x="1626052" y="315424"/>
                      <a:pt x="1535076" y="406400"/>
                      <a:pt x="1422852"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15" id="15"/>
              <p:cNvSpPr txBox="true"/>
              <p:nvPr/>
            </p:nvSpPr>
            <p:spPr>
              <a:xfrm>
                <a:off x="0" y="-38100"/>
                <a:ext cx="1626052" cy="444500"/>
              </a:xfrm>
              <a:prstGeom prst="rect">
                <a:avLst/>
              </a:prstGeom>
            </p:spPr>
            <p:txBody>
              <a:bodyPr anchor="ctr" rtlCol="false" tIns="50800" lIns="50800" bIns="50800" rIns="50800"/>
              <a:lstStyle/>
              <a:p>
                <a:pPr algn="ctr">
                  <a:lnSpc>
                    <a:spcPts val="2659"/>
                  </a:lnSpc>
                </a:pPr>
              </a:p>
            </p:txBody>
          </p:sp>
        </p:grpSp>
        <p:sp>
          <p:nvSpPr>
            <p:cNvPr name="Freeform 16" id="16"/>
            <p:cNvSpPr/>
            <p:nvPr/>
          </p:nvSpPr>
          <p:spPr>
            <a:xfrm flipH="false" flipV="false" rot="0">
              <a:off x="414535" y="124612"/>
              <a:ext cx="5254984" cy="1271367"/>
            </a:xfrm>
            <a:custGeom>
              <a:avLst/>
              <a:gdLst/>
              <a:ahLst/>
              <a:cxnLst/>
              <a:rect r="r" b="b" t="t" l="l"/>
              <a:pathLst>
                <a:path h="1271367" w="5254984">
                  <a:moveTo>
                    <a:pt x="0" y="0"/>
                  </a:moveTo>
                  <a:lnTo>
                    <a:pt x="5254983" y="0"/>
                  </a:lnTo>
                  <a:lnTo>
                    <a:pt x="5254983" y="1271367"/>
                  </a:lnTo>
                  <a:lnTo>
                    <a:pt x="0" y="1271367"/>
                  </a:lnTo>
                  <a:lnTo>
                    <a:pt x="0" y="0"/>
                  </a:lnTo>
                  <a:close/>
                </a:path>
              </a:pathLst>
            </a:custGeom>
            <a:blipFill>
              <a:blip r:embed="rId3"/>
              <a:stretch>
                <a:fillRect l="0" t="0" r="0" b="0"/>
              </a:stretch>
            </a:blipFill>
          </p:spPr>
        </p:sp>
      </p:grpSp>
      <p:sp>
        <p:nvSpPr>
          <p:cNvPr name="TextBox 17" id="17"/>
          <p:cNvSpPr txBox="true"/>
          <p:nvPr/>
        </p:nvSpPr>
        <p:spPr>
          <a:xfrm rot="0">
            <a:off x="1989036" y="3329113"/>
            <a:ext cx="6810084" cy="6435090"/>
          </a:xfrm>
          <a:prstGeom prst="rect">
            <a:avLst/>
          </a:prstGeom>
        </p:spPr>
        <p:txBody>
          <a:bodyPr anchor="t" rtlCol="false" tIns="0" lIns="0" bIns="0" rIns="0">
            <a:spAutoFit/>
          </a:bodyPr>
          <a:lstStyle/>
          <a:p>
            <a:pPr algn="just">
              <a:lnSpc>
                <a:spcPts val="3900"/>
              </a:lnSpc>
            </a:pPr>
            <a:r>
              <a:rPr lang="en-US" sz="2600">
                <a:solidFill>
                  <a:srgbClr val="000000"/>
                </a:solidFill>
                <a:latin typeface="Poppins"/>
                <a:ea typeface="Poppins"/>
                <a:cs typeface="Poppins"/>
                <a:sym typeface="Poppins"/>
              </a:rPr>
              <a:t>Mengembangkan pemodelan motor BLDC untuk keperluan estimator EKF</a:t>
            </a:r>
          </a:p>
          <a:p>
            <a:pPr algn="just">
              <a:lnSpc>
                <a:spcPts val="3900"/>
              </a:lnSpc>
            </a:pPr>
          </a:p>
          <a:p>
            <a:pPr algn="just">
              <a:lnSpc>
                <a:spcPts val="3900"/>
              </a:lnSpc>
            </a:pPr>
            <a:r>
              <a:rPr lang="en-US" sz="2600">
                <a:solidFill>
                  <a:srgbClr val="000000"/>
                </a:solidFill>
                <a:latin typeface="Poppins"/>
                <a:ea typeface="Poppins"/>
                <a:cs typeface="Poppins"/>
                <a:sym typeface="Poppins"/>
              </a:rPr>
              <a:t>Membuat sistem kontrol FOC pada motor BLDC</a:t>
            </a:r>
          </a:p>
          <a:p>
            <a:pPr algn="just">
              <a:lnSpc>
                <a:spcPts val="3900"/>
              </a:lnSpc>
            </a:pPr>
          </a:p>
          <a:p>
            <a:pPr algn="just">
              <a:lnSpc>
                <a:spcPts val="3900"/>
              </a:lnSpc>
            </a:pPr>
            <a:r>
              <a:rPr lang="en-US" sz="2600">
                <a:solidFill>
                  <a:srgbClr val="000000"/>
                </a:solidFill>
                <a:latin typeface="Poppins"/>
                <a:ea typeface="Poppins"/>
                <a:cs typeface="Poppins"/>
                <a:sym typeface="Poppins"/>
              </a:rPr>
              <a:t>Membuat estimator EKF pada motor BLDC</a:t>
            </a:r>
          </a:p>
          <a:p>
            <a:pPr algn="just">
              <a:lnSpc>
                <a:spcPts val="3900"/>
              </a:lnSpc>
            </a:pPr>
          </a:p>
          <a:p>
            <a:pPr algn="just">
              <a:lnSpc>
                <a:spcPts val="3900"/>
              </a:lnSpc>
            </a:pPr>
            <a:r>
              <a:rPr lang="en-US" sz="2600">
                <a:solidFill>
                  <a:srgbClr val="000000"/>
                </a:solidFill>
                <a:latin typeface="Poppins"/>
                <a:ea typeface="Poppins"/>
                <a:cs typeface="Poppins"/>
                <a:sym typeface="Poppins"/>
              </a:rPr>
              <a:t>Membuat sistem kontrol sensorless FOC dengan estimator EKF untuk mengestimasi posisi rotor motor BLDC pada kondisi ramp-up</a:t>
            </a:r>
          </a:p>
        </p:txBody>
      </p:sp>
      <p:sp>
        <p:nvSpPr>
          <p:cNvPr name="TextBox 18" id="18"/>
          <p:cNvSpPr txBox="true"/>
          <p:nvPr/>
        </p:nvSpPr>
        <p:spPr>
          <a:xfrm rot="0">
            <a:off x="4043778" y="1992086"/>
            <a:ext cx="2352889" cy="676275"/>
          </a:xfrm>
          <a:prstGeom prst="rect">
            <a:avLst/>
          </a:prstGeom>
        </p:spPr>
        <p:txBody>
          <a:bodyPr anchor="t" rtlCol="false" tIns="0" lIns="0" bIns="0" rIns="0">
            <a:spAutoFit/>
          </a:bodyPr>
          <a:lstStyle/>
          <a:p>
            <a:pPr algn="just">
              <a:lnSpc>
                <a:spcPts val="5159"/>
              </a:lnSpc>
            </a:pPr>
            <a:r>
              <a:rPr lang="en-US" b="true" sz="4299">
                <a:solidFill>
                  <a:srgbClr val="E5C857"/>
                </a:solidFill>
                <a:latin typeface="Poppins Bold"/>
                <a:ea typeface="Poppins Bold"/>
                <a:cs typeface="Poppins Bold"/>
                <a:sym typeface="Poppins Bold"/>
              </a:rPr>
              <a:t>TUJUAN</a:t>
            </a:r>
          </a:p>
        </p:txBody>
      </p:sp>
      <p:sp>
        <p:nvSpPr>
          <p:cNvPr name="TextBox 19" id="19"/>
          <p:cNvSpPr txBox="true"/>
          <p:nvPr/>
        </p:nvSpPr>
        <p:spPr>
          <a:xfrm rot="0">
            <a:off x="1062592" y="471338"/>
            <a:ext cx="3752222" cy="1000423"/>
          </a:xfrm>
          <a:prstGeom prst="rect">
            <a:avLst/>
          </a:prstGeom>
        </p:spPr>
        <p:txBody>
          <a:bodyPr anchor="t" rtlCol="false" tIns="0" lIns="0" bIns="0" rIns="0">
            <a:spAutoFit/>
          </a:bodyPr>
          <a:lstStyle/>
          <a:p>
            <a:pPr algn="ctr">
              <a:lnSpc>
                <a:spcPts val="8142"/>
              </a:lnSpc>
            </a:pPr>
            <a:r>
              <a:rPr lang="en-US" sz="5816">
                <a:solidFill>
                  <a:srgbClr val="59524B"/>
                </a:solidFill>
                <a:latin typeface="Bebas Neue 1"/>
                <a:ea typeface="Bebas Neue 1"/>
                <a:cs typeface="Bebas Neue 1"/>
                <a:sym typeface="Bebas Neue 1"/>
              </a:rPr>
              <a:t>pendahuluan</a:t>
            </a:r>
          </a:p>
        </p:txBody>
      </p:sp>
      <p:grpSp>
        <p:nvGrpSpPr>
          <p:cNvPr name="Group 20" id="20"/>
          <p:cNvGrpSpPr/>
          <p:nvPr/>
        </p:nvGrpSpPr>
        <p:grpSpPr>
          <a:xfrm rot="0">
            <a:off x="885979" y="3424363"/>
            <a:ext cx="4666259" cy="922020"/>
            <a:chOff x="0" y="0"/>
            <a:chExt cx="6221678" cy="1229360"/>
          </a:xfrm>
        </p:grpSpPr>
        <p:sp>
          <p:nvSpPr>
            <p:cNvPr name="TextBox 21" id="21"/>
            <p:cNvSpPr txBox="true"/>
            <p:nvPr/>
          </p:nvSpPr>
          <p:spPr>
            <a:xfrm rot="0">
              <a:off x="0" y="95250"/>
              <a:ext cx="1229871" cy="1134110"/>
            </a:xfrm>
            <a:prstGeom prst="rect">
              <a:avLst/>
            </a:prstGeom>
          </p:spPr>
          <p:txBody>
            <a:bodyPr anchor="t" rtlCol="false" tIns="0" lIns="0" bIns="0" rIns="0">
              <a:spAutoFit/>
            </a:bodyPr>
            <a:lstStyle/>
            <a:p>
              <a:pPr algn="l">
                <a:lnSpc>
                  <a:spcPts val="6000"/>
                </a:lnSpc>
              </a:pPr>
              <a:r>
                <a:rPr lang="en-US" b="true" sz="6000">
                  <a:solidFill>
                    <a:srgbClr val="FADB5E"/>
                  </a:solidFill>
                  <a:latin typeface="Bebas Neue 2 Bold"/>
                  <a:ea typeface="Bebas Neue 2 Bold"/>
                  <a:cs typeface="Bebas Neue 2 Bold"/>
                  <a:sym typeface="Bebas Neue 2 Bold"/>
                </a:rPr>
                <a:t>01</a:t>
              </a:r>
            </a:p>
          </p:txBody>
        </p:sp>
        <p:sp>
          <p:nvSpPr>
            <p:cNvPr name="TextBox 22" id="22"/>
            <p:cNvSpPr txBox="true"/>
            <p:nvPr/>
          </p:nvSpPr>
          <p:spPr>
            <a:xfrm rot="0">
              <a:off x="1644572" y="74666"/>
              <a:ext cx="4577106" cy="448345"/>
            </a:xfrm>
            <a:prstGeom prst="rect">
              <a:avLst/>
            </a:prstGeom>
          </p:spPr>
          <p:txBody>
            <a:bodyPr anchor="t" rtlCol="false" tIns="0" lIns="0" bIns="0" rIns="0">
              <a:spAutoFit/>
            </a:bodyPr>
            <a:lstStyle/>
            <a:p>
              <a:pPr algn="l">
                <a:lnSpc>
                  <a:spcPts val="2632"/>
                </a:lnSpc>
              </a:pPr>
            </a:p>
          </p:txBody>
        </p:sp>
        <p:sp>
          <p:nvSpPr>
            <p:cNvPr name="TextBox 23" id="23"/>
            <p:cNvSpPr txBox="true"/>
            <p:nvPr/>
          </p:nvSpPr>
          <p:spPr>
            <a:xfrm rot="0">
              <a:off x="1644572" y="658739"/>
              <a:ext cx="4577106" cy="385247"/>
            </a:xfrm>
            <a:prstGeom prst="rect">
              <a:avLst/>
            </a:prstGeom>
          </p:spPr>
          <p:txBody>
            <a:bodyPr anchor="t" rtlCol="false" tIns="0" lIns="0" bIns="0" rIns="0">
              <a:spAutoFit/>
            </a:bodyPr>
            <a:lstStyle/>
            <a:p>
              <a:pPr algn="l">
                <a:lnSpc>
                  <a:spcPts val="2369"/>
                </a:lnSpc>
              </a:pPr>
            </a:p>
          </p:txBody>
        </p:sp>
      </p:grpSp>
      <p:grpSp>
        <p:nvGrpSpPr>
          <p:cNvPr name="Group 24" id="24"/>
          <p:cNvGrpSpPr/>
          <p:nvPr/>
        </p:nvGrpSpPr>
        <p:grpSpPr>
          <a:xfrm rot="0">
            <a:off x="885979" y="4898833"/>
            <a:ext cx="4666259" cy="922020"/>
            <a:chOff x="0" y="0"/>
            <a:chExt cx="6221678" cy="1229360"/>
          </a:xfrm>
        </p:grpSpPr>
        <p:sp>
          <p:nvSpPr>
            <p:cNvPr name="TextBox 25" id="25"/>
            <p:cNvSpPr txBox="true"/>
            <p:nvPr/>
          </p:nvSpPr>
          <p:spPr>
            <a:xfrm rot="0">
              <a:off x="0" y="95250"/>
              <a:ext cx="1229871" cy="1134110"/>
            </a:xfrm>
            <a:prstGeom prst="rect">
              <a:avLst/>
            </a:prstGeom>
          </p:spPr>
          <p:txBody>
            <a:bodyPr anchor="t" rtlCol="false" tIns="0" lIns="0" bIns="0" rIns="0">
              <a:spAutoFit/>
            </a:bodyPr>
            <a:lstStyle/>
            <a:p>
              <a:pPr algn="l">
                <a:lnSpc>
                  <a:spcPts val="6000"/>
                </a:lnSpc>
              </a:pPr>
              <a:r>
                <a:rPr lang="en-US" b="true" sz="6000">
                  <a:solidFill>
                    <a:srgbClr val="FADB5E"/>
                  </a:solidFill>
                  <a:latin typeface="Bebas Neue 2 Bold"/>
                  <a:ea typeface="Bebas Neue 2 Bold"/>
                  <a:cs typeface="Bebas Neue 2 Bold"/>
                  <a:sym typeface="Bebas Neue 2 Bold"/>
                </a:rPr>
                <a:t>02</a:t>
              </a:r>
            </a:p>
          </p:txBody>
        </p:sp>
        <p:sp>
          <p:nvSpPr>
            <p:cNvPr name="TextBox 26" id="26"/>
            <p:cNvSpPr txBox="true"/>
            <p:nvPr/>
          </p:nvSpPr>
          <p:spPr>
            <a:xfrm rot="0">
              <a:off x="1644572" y="74666"/>
              <a:ext cx="4577106" cy="448345"/>
            </a:xfrm>
            <a:prstGeom prst="rect">
              <a:avLst/>
            </a:prstGeom>
          </p:spPr>
          <p:txBody>
            <a:bodyPr anchor="t" rtlCol="false" tIns="0" lIns="0" bIns="0" rIns="0">
              <a:spAutoFit/>
            </a:bodyPr>
            <a:lstStyle/>
            <a:p>
              <a:pPr algn="l">
                <a:lnSpc>
                  <a:spcPts val="2632"/>
                </a:lnSpc>
              </a:pPr>
            </a:p>
          </p:txBody>
        </p:sp>
        <p:sp>
          <p:nvSpPr>
            <p:cNvPr name="TextBox 27" id="27"/>
            <p:cNvSpPr txBox="true"/>
            <p:nvPr/>
          </p:nvSpPr>
          <p:spPr>
            <a:xfrm rot="0">
              <a:off x="1644572" y="658739"/>
              <a:ext cx="4577106" cy="385247"/>
            </a:xfrm>
            <a:prstGeom prst="rect">
              <a:avLst/>
            </a:prstGeom>
          </p:spPr>
          <p:txBody>
            <a:bodyPr anchor="t" rtlCol="false" tIns="0" lIns="0" bIns="0" rIns="0">
              <a:spAutoFit/>
            </a:bodyPr>
            <a:lstStyle/>
            <a:p>
              <a:pPr algn="l">
                <a:lnSpc>
                  <a:spcPts val="2369"/>
                </a:lnSpc>
              </a:pPr>
            </a:p>
          </p:txBody>
        </p:sp>
      </p:grpSp>
      <p:grpSp>
        <p:nvGrpSpPr>
          <p:cNvPr name="Group 28" id="28"/>
          <p:cNvGrpSpPr/>
          <p:nvPr/>
        </p:nvGrpSpPr>
        <p:grpSpPr>
          <a:xfrm rot="0">
            <a:off x="885979" y="6373303"/>
            <a:ext cx="4666259" cy="922020"/>
            <a:chOff x="0" y="0"/>
            <a:chExt cx="6221678" cy="1229360"/>
          </a:xfrm>
        </p:grpSpPr>
        <p:sp>
          <p:nvSpPr>
            <p:cNvPr name="TextBox 29" id="29"/>
            <p:cNvSpPr txBox="true"/>
            <p:nvPr/>
          </p:nvSpPr>
          <p:spPr>
            <a:xfrm rot="0">
              <a:off x="0" y="95250"/>
              <a:ext cx="1229871" cy="1134110"/>
            </a:xfrm>
            <a:prstGeom prst="rect">
              <a:avLst/>
            </a:prstGeom>
          </p:spPr>
          <p:txBody>
            <a:bodyPr anchor="t" rtlCol="false" tIns="0" lIns="0" bIns="0" rIns="0">
              <a:spAutoFit/>
            </a:bodyPr>
            <a:lstStyle/>
            <a:p>
              <a:pPr algn="l">
                <a:lnSpc>
                  <a:spcPts val="6000"/>
                </a:lnSpc>
              </a:pPr>
              <a:r>
                <a:rPr lang="en-US" b="true" sz="6000">
                  <a:solidFill>
                    <a:srgbClr val="FADB5E"/>
                  </a:solidFill>
                  <a:latin typeface="Bebas Neue 2 Bold"/>
                  <a:ea typeface="Bebas Neue 2 Bold"/>
                  <a:cs typeface="Bebas Neue 2 Bold"/>
                  <a:sym typeface="Bebas Neue 2 Bold"/>
                </a:rPr>
                <a:t>03</a:t>
              </a:r>
            </a:p>
          </p:txBody>
        </p:sp>
        <p:sp>
          <p:nvSpPr>
            <p:cNvPr name="TextBox 30" id="30"/>
            <p:cNvSpPr txBox="true"/>
            <p:nvPr/>
          </p:nvSpPr>
          <p:spPr>
            <a:xfrm rot="0">
              <a:off x="1644572" y="74666"/>
              <a:ext cx="4577106" cy="448345"/>
            </a:xfrm>
            <a:prstGeom prst="rect">
              <a:avLst/>
            </a:prstGeom>
          </p:spPr>
          <p:txBody>
            <a:bodyPr anchor="t" rtlCol="false" tIns="0" lIns="0" bIns="0" rIns="0">
              <a:spAutoFit/>
            </a:bodyPr>
            <a:lstStyle/>
            <a:p>
              <a:pPr algn="l">
                <a:lnSpc>
                  <a:spcPts val="2632"/>
                </a:lnSpc>
              </a:pPr>
            </a:p>
          </p:txBody>
        </p:sp>
        <p:sp>
          <p:nvSpPr>
            <p:cNvPr name="TextBox 31" id="31"/>
            <p:cNvSpPr txBox="true"/>
            <p:nvPr/>
          </p:nvSpPr>
          <p:spPr>
            <a:xfrm rot="0">
              <a:off x="1644572" y="658739"/>
              <a:ext cx="4577106" cy="385247"/>
            </a:xfrm>
            <a:prstGeom prst="rect">
              <a:avLst/>
            </a:prstGeom>
          </p:spPr>
          <p:txBody>
            <a:bodyPr anchor="t" rtlCol="false" tIns="0" lIns="0" bIns="0" rIns="0">
              <a:spAutoFit/>
            </a:bodyPr>
            <a:lstStyle/>
            <a:p>
              <a:pPr algn="l">
                <a:lnSpc>
                  <a:spcPts val="2369"/>
                </a:lnSpc>
              </a:pPr>
            </a:p>
          </p:txBody>
        </p:sp>
      </p:grpSp>
      <p:grpSp>
        <p:nvGrpSpPr>
          <p:cNvPr name="Group 32" id="32"/>
          <p:cNvGrpSpPr/>
          <p:nvPr/>
        </p:nvGrpSpPr>
        <p:grpSpPr>
          <a:xfrm rot="0">
            <a:off x="885979" y="8336280"/>
            <a:ext cx="4666259" cy="922020"/>
            <a:chOff x="0" y="0"/>
            <a:chExt cx="6221678" cy="1229360"/>
          </a:xfrm>
        </p:grpSpPr>
        <p:sp>
          <p:nvSpPr>
            <p:cNvPr name="TextBox 33" id="33"/>
            <p:cNvSpPr txBox="true"/>
            <p:nvPr/>
          </p:nvSpPr>
          <p:spPr>
            <a:xfrm rot="0">
              <a:off x="0" y="95250"/>
              <a:ext cx="1229871" cy="1134110"/>
            </a:xfrm>
            <a:prstGeom prst="rect">
              <a:avLst/>
            </a:prstGeom>
          </p:spPr>
          <p:txBody>
            <a:bodyPr anchor="t" rtlCol="false" tIns="0" lIns="0" bIns="0" rIns="0">
              <a:spAutoFit/>
            </a:bodyPr>
            <a:lstStyle/>
            <a:p>
              <a:pPr algn="l">
                <a:lnSpc>
                  <a:spcPts val="6000"/>
                </a:lnSpc>
              </a:pPr>
              <a:r>
                <a:rPr lang="en-US" b="true" sz="6000">
                  <a:solidFill>
                    <a:srgbClr val="FADB5E"/>
                  </a:solidFill>
                  <a:latin typeface="Bebas Neue 2 Bold"/>
                  <a:ea typeface="Bebas Neue 2 Bold"/>
                  <a:cs typeface="Bebas Neue 2 Bold"/>
                  <a:sym typeface="Bebas Neue 2 Bold"/>
                </a:rPr>
                <a:t>04</a:t>
              </a:r>
            </a:p>
          </p:txBody>
        </p:sp>
        <p:sp>
          <p:nvSpPr>
            <p:cNvPr name="TextBox 34" id="34"/>
            <p:cNvSpPr txBox="true"/>
            <p:nvPr/>
          </p:nvSpPr>
          <p:spPr>
            <a:xfrm rot="0">
              <a:off x="1644572" y="74666"/>
              <a:ext cx="4577106" cy="448345"/>
            </a:xfrm>
            <a:prstGeom prst="rect">
              <a:avLst/>
            </a:prstGeom>
          </p:spPr>
          <p:txBody>
            <a:bodyPr anchor="t" rtlCol="false" tIns="0" lIns="0" bIns="0" rIns="0">
              <a:spAutoFit/>
            </a:bodyPr>
            <a:lstStyle/>
            <a:p>
              <a:pPr algn="l">
                <a:lnSpc>
                  <a:spcPts val="2632"/>
                </a:lnSpc>
              </a:pPr>
            </a:p>
          </p:txBody>
        </p:sp>
        <p:sp>
          <p:nvSpPr>
            <p:cNvPr name="TextBox 35" id="35"/>
            <p:cNvSpPr txBox="true"/>
            <p:nvPr/>
          </p:nvSpPr>
          <p:spPr>
            <a:xfrm rot="0">
              <a:off x="1644572" y="658739"/>
              <a:ext cx="4577106" cy="385247"/>
            </a:xfrm>
            <a:prstGeom prst="rect">
              <a:avLst/>
            </a:prstGeom>
          </p:spPr>
          <p:txBody>
            <a:bodyPr anchor="t" rtlCol="false" tIns="0" lIns="0" bIns="0" rIns="0">
              <a:spAutoFit/>
            </a:bodyPr>
            <a:lstStyle/>
            <a:p>
              <a:pPr algn="l">
                <a:lnSpc>
                  <a:spcPts val="2369"/>
                </a:lnSpc>
              </a:pP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4816593" cy="2709333"/>
          </a:xfrm>
        </p:grpSpPr>
        <p:sp>
          <p:nvSpPr>
            <p:cNvPr name="Freeform 3" id="3"/>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59524B"/>
            </a:solidFill>
          </p:spPr>
        </p:sp>
        <p:sp>
          <p:nvSpPr>
            <p:cNvPr name="TextBox 4" id="4"/>
            <p:cNvSpPr txBox="true"/>
            <p:nvPr/>
          </p:nvSpPr>
          <p:spPr>
            <a:xfrm>
              <a:off x="0" y="-38100"/>
              <a:ext cx="4816593" cy="2747433"/>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6376151" y="633369"/>
            <a:ext cx="5506095" cy="676275"/>
          </a:xfrm>
          <a:prstGeom prst="rect">
            <a:avLst/>
          </a:prstGeom>
        </p:spPr>
        <p:txBody>
          <a:bodyPr anchor="t" rtlCol="false" tIns="0" lIns="0" bIns="0" rIns="0">
            <a:spAutoFit/>
          </a:bodyPr>
          <a:lstStyle/>
          <a:p>
            <a:pPr algn="just">
              <a:lnSpc>
                <a:spcPts val="5159"/>
              </a:lnSpc>
            </a:pPr>
            <a:r>
              <a:rPr lang="en-US" b="true" sz="4299">
                <a:solidFill>
                  <a:srgbClr val="FFFFFF"/>
                </a:solidFill>
                <a:latin typeface="Poppins Bold"/>
                <a:ea typeface="Poppins Bold"/>
                <a:cs typeface="Poppins Bold"/>
                <a:sym typeface="Poppins Bold"/>
              </a:rPr>
              <a:t>BATASAN MASALAH</a:t>
            </a:r>
          </a:p>
        </p:txBody>
      </p:sp>
      <p:grpSp>
        <p:nvGrpSpPr>
          <p:cNvPr name="Group 6" id="6"/>
          <p:cNvGrpSpPr/>
          <p:nvPr/>
        </p:nvGrpSpPr>
        <p:grpSpPr>
          <a:xfrm rot="0">
            <a:off x="6142738" y="1418409"/>
            <a:ext cx="5972920" cy="180513"/>
            <a:chOff x="0" y="0"/>
            <a:chExt cx="1573115" cy="47542"/>
          </a:xfrm>
        </p:grpSpPr>
        <p:sp>
          <p:nvSpPr>
            <p:cNvPr name="Freeform 7" id="7"/>
            <p:cNvSpPr/>
            <p:nvPr/>
          </p:nvSpPr>
          <p:spPr>
            <a:xfrm flipH="false" flipV="false" rot="0">
              <a:off x="0" y="0"/>
              <a:ext cx="1573115" cy="47542"/>
            </a:xfrm>
            <a:custGeom>
              <a:avLst/>
              <a:gdLst/>
              <a:ahLst/>
              <a:cxnLst/>
              <a:rect r="r" b="b" t="t" l="l"/>
              <a:pathLst>
                <a:path h="47542" w="1573115">
                  <a:moveTo>
                    <a:pt x="0" y="0"/>
                  </a:moveTo>
                  <a:lnTo>
                    <a:pt x="1573115" y="0"/>
                  </a:lnTo>
                  <a:lnTo>
                    <a:pt x="1573115" y="47542"/>
                  </a:lnTo>
                  <a:lnTo>
                    <a:pt x="0" y="47542"/>
                  </a:lnTo>
                  <a:close/>
                </a:path>
              </a:pathLst>
            </a:custGeom>
            <a:solidFill>
              <a:srgbClr val="FFFFFF"/>
            </a:solidFill>
          </p:spPr>
        </p:sp>
        <p:sp>
          <p:nvSpPr>
            <p:cNvPr name="TextBox 8" id="8"/>
            <p:cNvSpPr txBox="true"/>
            <p:nvPr/>
          </p:nvSpPr>
          <p:spPr>
            <a:xfrm>
              <a:off x="0" y="-38100"/>
              <a:ext cx="1573115" cy="85642"/>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657183" y="458478"/>
            <a:ext cx="4563040" cy="1140443"/>
            <a:chOff x="0" y="0"/>
            <a:chExt cx="1626052" cy="406400"/>
          </a:xfrm>
        </p:grpSpPr>
        <p:sp>
          <p:nvSpPr>
            <p:cNvPr name="Freeform 10" id="10"/>
            <p:cNvSpPr/>
            <p:nvPr/>
          </p:nvSpPr>
          <p:spPr>
            <a:xfrm flipH="false" flipV="false" rot="0">
              <a:off x="0" y="0"/>
              <a:ext cx="1626052" cy="406400"/>
            </a:xfrm>
            <a:custGeom>
              <a:avLst/>
              <a:gdLst/>
              <a:ahLst/>
              <a:cxnLst/>
              <a:rect r="r" b="b" t="t" l="l"/>
              <a:pathLst>
                <a:path h="406400" w="1626052">
                  <a:moveTo>
                    <a:pt x="1422852" y="0"/>
                  </a:moveTo>
                  <a:cubicBezTo>
                    <a:pt x="1535076" y="0"/>
                    <a:pt x="1626052" y="90976"/>
                    <a:pt x="1626052" y="203200"/>
                  </a:cubicBezTo>
                  <a:cubicBezTo>
                    <a:pt x="1626052" y="315424"/>
                    <a:pt x="1535076" y="406400"/>
                    <a:pt x="1422852"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11" id="11"/>
            <p:cNvSpPr txBox="true"/>
            <p:nvPr/>
          </p:nvSpPr>
          <p:spPr>
            <a:xfrm>
              <a:off x="0" y="-38100"/>
              <a:ext cx="1626052" cy="444500"/>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062592" y="471338"/>
            <a:ext cx="3752222" cy="1000423"/>
          </a:xfrm>
          <a:prstGeom prst="rect">
            <a:avLst/>
          </a:prstGeom>
        </p:spPr>
        <p:txBody>
          <a:bodyPr anchor="t" rtlCol="false" tIns="0" lIns="0" bIns="0" rIns="0">
            <a:spAutoFit/>
          </a:bodyPr>
          <a:lstStyle/>
          <a:p>
            <a:pPr algn="ctr">
              <a:lnSpc>
                <a:spcPts val="8142"/>
              </a:lnSpc>
            </a:pPr>
            <a:r>
              <a:rPr lang="en-US" sz="5816">
                <a:solidFill>
                  <a:srgbClr val="59524B"/>
                </a:solidFill>
                <a:latin typeface="Bebas Neue 1"/>
                <a:ea typeface="Bebas Neue 1"/>
                <a:cs typeface="Bebas Neue 1"/>
                <a:sym typeface="Bebas Neue 1"/>
              </a:rPr>
              <a:t>pendahuluan</a:t>
            </a:r>
          </a:p>
        </p:txBody>
      </p:sp>
      <p:grpSp>
        <p:nvGrpSpPr>
          <p:cNvPr name="Group 13" id="13"/>
          <p:cNvGrpSpPr/>
          <p:nvPr/>
        </p:nvGrpSpPr>
        <p:grpSpPr>
          <a:xfrm rot="0">
            <a:off x="13038174" y="458478"/>
            <a:ext cx="4563040" cy="1140443"/>
            <a:chOff x="0" y="0"/>
            <a:chExt cx="6084053" cy="1520591"/>
          </a:xfrm>
        </p:grpSpPr>
        <p:grpSp>
          <p:nvGrpSpPr>
            <p:cNvPr name="Group 14" id="14"/>
            <p:cNvGrpSpPr/>
            <p:nvPr/>
          </p:nvGrpSpPr>
          <p:grpSpPr>
            <a:xfrm rot="0">
              <a:off x="0" y="0"/>
              <a:ext cx="6084053" cy="1520591"/>
              <a:chOff x="0" y="0"/>
              <a:chExt cx="1626052" cy="406400"/>
            </a:xfrm>
          </p:grpSpPr>
          <p:sp>
            <p:nvSpPr>
              <p:cNvPr name="Freeform 15" id="15"/>
              <p:cNvSpPr/>
              <p:nvPr/>
            </p:nvSpPr>
            <p:spPr>
              <a:xfrm flipH="false" flipV="false" rot="0">
                <a:off x="0" y="0"/>
                <a:ext cx="1626052" cy="406400"/>
              </a:xfrm>
              <a:custGeom>
                <a:avLst/>
                <a:gdLst/>
                <a:ahLst/>
                <a:cxnLst/>
                <a:rect r="r" b="b" t="t" l="l"/>
                <a:pathLst>
                  <a:path h="406400" w="1626052">
                    <a:moveTo>
                      <a:pt x="1422852" y="0"/>
                    </a:moveTo>
                    <a:cubicBezTo>
                      <a:pt x="1535076" y="0"/>
                      <a:pt x="1626052" y="90976"/>
                      <a:pt x="1626052" y="203200"/>
                    </a:cubicBezTo>
                    <a:cubicBezTo>
                      <a:pt x="1626052" y="315424"/>
                      <a:pt x="1535076" y="406400"/>
                      <a:pt x="1422852"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16" id="16"/>
              <p:cNvSpPr txBox="true"/>
              <p:nvPr/>
            </p:nvSpPr>
            <p:spPr>
              <a:xfrm>
                <a:off x="0" y="-38100"/>
                <a:ext cx="1626052" cy="444500"/>
              </a:xfrm>
              <a:prstGeom prst="rect">
                <a:avLst/>
              </a:prstGeom>
            </p:spPr>
            <p:txBody>
              <a:bodyPr anchor="ctr" rtlCol="false" tIns="50800" lIns="50800" bIns="50800" rIns="50800"/>
              <a:lstStyle/>
              <a:p>
                <a:pPr algn="ctr">
                  <a:lnSpc>
                    <a:spcPts val="2659"/>
                  </a:lnSpc>
                </a:pPr>
              </a:p>
            </p:txBody>
          </p:sp>
        </p:grpSp>
        <p:sp>
          <p:nvSpPr>
            <p:cNvPr name="Freeform 17" id="17"/>
            <p:cNvSpPr/>
            <p:nvPr/>
          </p:nvSpPr>
          <p:spPr>
            <a:xfrm flipH="false" flipV="false" rot="0">
              <a:off x="414535" y="124612"/>
              <a:ext cx="5254984" cy="1271367"/>
            </a:xfrm>
            <a:custGeom>
              <a:avLst/>
              <a:gdLst/>
              <a:ahLst/>
              <a:cxnLst/>
              <a:rect r="r" b="b" t="t" l="l"/>
              <a:pathLst>
                <a:path h="1271367" w="5254984">
                  <a:moveTo>
                    <a:pt x="0" y="0"/>
                  </a:moveTo>
                  <a:lnTo>
                    <a:pt x="5254983" y="0"/>
                  </a:lnTo>
                  <a:lnTo>
                    <a:pt x="5254983" y="1271367"/>
                  </a:lnTo>
                  <a:lnTo>
                    <a:pt x="0" y="1271367"/>
                  </a:lnTo>
                  <a:lnTo>
                    <a:pt x="0" y="0"/>
                  </a:lnTo>
                  <a:close/>
                </a:path>
              </a:pathLst>
            </a:custGeom>
            <a:blipFill>
              <a:blip r:embed="rId2"/>
              <a:stretch>
                <a:fillRect l="0" t="0" r="0" b="0"/>
              </a:stretch>
            </a:blipFill>
          </p:spPr>
        </p:sp>
      </p:grpSp>
      <p:sp>
        <p:nvSpPr>
          <p:cNvPr name="TextBox 18" id="18"/>
          <p:cNvSpPr txBox="true"/>
          <p:nvPr/>
        </p:nvSpPr>
        <p:spPr>
          <a:xfrm rot="0">
            <a:off x="1993308" y="2055941"/>
            <a:ext cx="15332719" cy="7776210"/>
          </a:xfrm>
          <a:prstGeom prst="rect">
            <a:avLst/>
          </a:prstGeom>
        </p:spPr>
        <p:txBody>
          <a:bodyPr anchor="t" rtlCol="false" tIns="0" lIns="0" bIns="0" rIns="0">
            <a:spAutoFit/>
          </a:bodyPr>
          <a:lstStyle/>
          <a:p>
            <a:pPr algn="just">
              <a:lnSpc>
                <a:spcPts val="3600"/>
              </a:lnSpc>
            </a:pPr>
            <a:r>
              <a:rPr lang="en-US" sz="2400">
                <a:solidFill>
                  <a:srgbClr val="FFFFFF"/>
                </a:solidFill>
                <a:latin typeface="Poppins"/>
                <a:ea typeface="Poppins"/>
                <a:cs typeface="Poppins"/>
                <a:sym typeface="Poppins"/>
              </a:rPr>
              <a:t>Motor BLDC yang digunakan pada penelitian ini adalah </a:t>
            </a:r>
            <a:r>
              <a:rPr lang="en-US" b="true" sz="2400">
                <a:solidFill>
                  <a:srgbClr val="FFFFFF"/>
                </a:solidFill>
                <a:latin typeface="Poppins Bold"/>
                <a:ea typeface="Poppins Bold"/>
                <a:cs typeface="Poppins Bold"/>
                <a:sym typeface="Poppins Bold"/>
              </a:rPr>
              <a:t>SunnySky X4108S 380KV</a:t>
            </a:r>
          </a:p>
          <a:p>
            <a:pPr algn="just">
              <a:lnSpc>
                <a:spcPts val="3600"/>
              </a:lnSpc>
            </a:pPr>
          </a:p>
          <a:p>
            <a:pPr algn="just">
              <a:lnSpc>
                <a:spcPts val="3600"/>
              </a:lnSpc>
            </a:pPr>
            <a:r>
              <a:rPr lang="en-US" sz="2400">
                <a:solidFill>
                  <a:srgbClr val="FFFFFF"/>
                </a:solidFill>
                <a:latin typeface="Poppins"/>
                <a:ea typeface="Poppins"/>
                <a:cs typeface="Poppins"/>
                <a:sym typeface="Poppins"/>
              </a:rPr>
              <a:t>Sumb</a:t>
            </a:r>
            <a:r>
              <a:rPr lang="en-US" sz="2400">
                <a:solidFill>
                  <a:srgbClr val="FFFFFF"/>
                </a:solidFill>
                <a:latin typeface="Poppins"/>
                <a:ea typeface="Poppins"/>
                <a:cs typeface="Poppins"/>
                <a:sym typeface="Poppins"/>
              </a:rPr>
              <a:t>er tegangan yang digunakan pada penelitian ini adalah </a:t>
            </a:r>
            <a:r>
              <a:rPr lang="en-US" b="true" sz="2400">
                <a:solidFill>
                  <a:srgbClr val="FFFFFF"/>
                </a:solidFill>
                <a:latin typeface="Poppins Bold"/>
                <a:ea typeface="Poppins Bold"/>
                <a:cs typeface="Poppins Bold"/>
                <a:sym typeface="Poppins Bold"/>
              </a:rPr>
              <a:t>power supply</a:t>
            </a:r>
            <a:r>
              <a:rPr lang="en-US" sz="2400">
                <a:solidFill>
                  <a:srgbClr val="FFFFFF"/>
                </a:solidFill>
                <a:latin typeface="Poppins"/>
                <a:ea typeface="Poppins"/>
                <a:cs typeface="Poppins"/>
                <a:sym typeface="Poppins"/>
              </a:rPr>
              <a:t> dengan </a:t>
            </a:r>
            <a:r>
              <a:rPr lang="en-US" b="true" sz="2400">
                <a:solidFill>
                  <a:srgbClr val="FFFFFF"/>
                </a:solidFill>
                <a:latin typeface="Poppins Bold"/>
                <a:ea typeface="Poppins Bold"/>
                <a:cs typeface="Poppins Bold"/>
                <a:sym typeface="Poppins Bold"/>
              </a:rPr>
              <a:t>tegangan supply 12 V konstan</a:t>
            </a:r>
            <a:r>
              <a:rPr lang="en-US" sz="2400">
                <a:solidFill>
                  <a:srgbClr val="FFFFFF"/>
                </a:solidFill>
                <a:latin typeface="Poppins"/>
                <a:ea typeface="Poppins"/>
                <a:cs typeface="Poppins"/>
                <a:sym typeface="Poppins"/>
              </a:rPr>
              <a:t>, terdapat fitur pengaman fuse jika beban &gt; 5 A</a:t>
            </a:r>
          </a:p>
          <a:p>
            <a:pPr algn="just">
              <a:lnSpc>
                <a:spcPts val="3600"/>
              </a:lnSpc>
            </a:pPr>
          </a:p>
          <a:p>
            <a:pPr algn="just">
              <a:lnSpc>
                <a:spcPts val="3600"/>
              </a:lnSpc>
            </a:pPr>
            <a:r>
              <a:rPr lang="en-US" sz="2400">
                <a:solidFill>
                  <a:srgbClr val="FFFFFF"/>
                </a:solidFill>
                <a:latin typeface="Poppins"/>
                <a:ea typeface="Poppins"/>
                <a:cs typeface="Poppins"/>
                <a:sym typeface="Poppins"/>
              </a:rPr>
              <a:t>M</a:t>
            </a:r>
            <a:r>
              <a:rPr lang="en-US" sz="2400">
                <a:solidFill>
                  <a:srgbClr val="FFFFFF"/>
                </a:solidFill>
                <a:latin typeface="Poppins"/>
                <a:ea typeface="Poppins"/>
                <a:cs typeface="Poppins"/>
                <a:sym typeface="Poppins"/>
              </a:rPr>
              <a:t>etode kontrol yang digunakan pada penelitian ini berbasis </a:t>
            </a:r>
            <a:r>
              <a:rPr lang="en-US" b="true" sz="2400">
                <a:solidFill>
                  <a:srgbClr val="FFFFFF"/>
                </a:solidFill>
                <a:latin typeface="Poppins Bold"/>
                <a:ea typeface="Poppins Bold"/>
                <a:cs typeface="Poppins Bold"/>
                <a:sym typeface="Poppins Bold"/>
              </a:rPr>
              <a:t>komutasi stator Field Oriented Control (FOC)</a:t>
            </a:r>
            <a:r>
              <a:rPr lang="en-US" sz="2400">
                <a:solidFill>
                  <a:srgbClr val="FFFFFF"/>
                </a:solidFill>
                <a:latin typeface="Poppins"/>
                <a:ea typeface="Poppins"/>
                <a:cs typeface="Poppins"/>
                <a:sym typeface="Poppins"/>
              </a:rPr>
              <a:t> dengan </a:t>
            </a:r>
            <a:r>
              <a:rPr lang="en-US" b="true" sz="2400">
                <a:solidFill>
                  <a:srgbClr val="FFFFFF"/>
                </a:solidFill>
                <a:latin typeface="Poppins Bold"/>
                <a:ea typeface="Poppins Bold"/>
                <a:cs typeface="Poppins Bold"/>
                <a:sym typeface="Poppins Bold"/>
              </a:rPr>
              <a:t>estimator posisi rotor menggunakan Extended Kalman Filter (EKF)</a:t>
            </a:r>
          </a:p>
          <a:p>
            <a:pPr algn="just">
              <a:lnSpc>
                <a:spcPts val="3600"/>
              </a:lnSpc>
            </a:pPr>
          </a:p>
          <a:p>
            <a:pPr algn="just">
              <a:lnSpc>
                <a:spcPts val="3600"/>
              </a:lnSpc>
            </a:pPr>
            <a:r>
              <a:rPr lang="en-US" sz="2400">
                <a:solidFill>
                  <a:srgbClr val="FFFFFF"/>
                </a:solidFill>
                <a:latin typeface="Poppins"/>
                <a:ea typeface="Poppins"/>
                <a:cs typeface="Poppins"/>
                <a:sym typeface="Poppins"/>
              </a:rPr>
              <a:t>Tidak ada beban yang terpasang pada motor BLDC pada penelitian ini difokuskan pada </a:t>
            </a:r>
            <a:r>
              <a:rPr lang="en-US" b="true" sz="2400">
                <a:solidFill>
                  <a:srgbClr val="FFFFFF"/>
                </a:solidFill>
                <a:latin typeface="Poppins Bold"/>
                <a:ea typeface="Poppins Bold"/>
                <a:cs typeface="Poppins Bold"/>
                <a:sym typeface="Poppins Bold"/>
              </a:rPr>
              <a:t>kondisi no load</a:t>
            </a:r>
          </a:p>
          <a:p>
            <a:pPr algn="just">
              <a:lnSpc>
                <a:spcPts val="3600"/>
              </a:lnSpc>
            </a:pPr>
          </a:p>
          <a:p>
            <a:pPr algn="just">
              <a:lnSpc>
                <a:spcPts val="3600"/>
              </a:lnSpc>
            </a:pPr>
            <a:r>
              <a:rPr lang="en-US" b="true" sz="2400">
                <a:solidFill>
                  <a:srgbClr val="FFFFFF"/>
                </a:solidFill>
                <a:latin typeface="Poppins Bold"/>
                <a:ea typeface="Poppins Bold"/>
                <a:cs typeface="Poppins Bold"/>
                <a:sym typeface="Poppins Bold"/>
              </a:rPr>
              <a:t>Tidak digunakan atau ditemukan nilai tuning optimal</a:t>
            </a:r>
            <a:r>
              <a:rPr lang="en-US" sz="2400">
                <a:solidFill>
                  <a:srgbClr val="FFFFFF"/>
                </a:solidFill>
                <a:latin typeface="Poppins"/>
                <a:ea typeface="Poppins"/>
                <a:cs typeface="Poppins"/>
                <a:sym typeface="Poppins"/>
              </a:rPr>
              <a:t> untuk kontroler PI dan covariansi matriks estimator EKF pada penelitian ini, dicukupkan pada nilai yang menghasilkan </a:t>
            </a:r>
            <a:r>
              <a:rPr lang="en-US" b="true" sz="2400">
                <a:solidFill>
                  <a:srgbClr val="FFFFFF"/>
                </a:solidFill>
                <a:latin typeface="Poppins Bold"/>
                <a:ea typeface="Poppins Bold"/>
                <a:cs typeface="Poppins Bold"/>
                <a:sym typeface="Poppins Bold"/>
              </a:rPr>
              <a:t>kondisi operasinal yang stabil untuk motor BLDC</a:t>
            </a:r>
          </a:p>
          <a:p>
            <a:pPr algn="just">
              <a:lnSpc>
                <a:spcPts val="3600"/>
              </a:lnSpc>
            </a:pPr>
          </a:p>
          <a:p>
            <a:pPr algn="just">
              <a:lnSpc>
                <a:spcPts val="3600"/>
              </a:lnSpc>
            </a:pPr>
            <a:r>
              <a:rPr lang="en-US" sz="2400">
                <a:solidFill>
                  <a:srgbClr val="FFFFFF"/>
                </a:solidFill>
                <a:latin typeface="Poppins"/>
                <a:ea typeface="Poppins"/>
                <a:cs typeface="Poppins"/>
                <a:sym typeface="Poppins"/>
              </a:rPr>
              <a:t>Pengujian pada penelitian ini difokuskan estimasi posisi rotor pada </a:t>
            </a:r>
            <a:r>
              <a:rPr lang="en-US" b="true" sz="2400">
                <a:solidFill>
                  <a:srgbClr val="FFFFFF"/>
                </a:solidFill>
                <a:latin typeface="Poppins Bold"/>
                <a:ea typeface="Poppins Bold"/>
                <a:cs typeface="Poppins Bold"/>
                <a:sym typeface="Poppins Bold"/>
              </a:rPr>
              <a:t>fase ramp-up (percepatan awal)</a:t>
            </a:r>
          </a:p>
        </p:txBody>
      </p:sp>
      <p:grpSp>
        <p:nvGrpSpPr>
          <p:cNvPr name="Group 19" id="19"/>
          <p:cNvGrpSpPr/>
          <p:nvPr/>
        </p:nvGrpSpPr>
        <p:grpSpPr>
          <a:xfrm rot="0">
            <a:off x="932371" y="1943059"/>
            <a:ext cx="4666259" cy="922020"/>
            <a:chOff x="0" y="0"/>
            <a:chExt cx="6221678" cy="1229360"/>
          </a:xfrm>
        </p:grpSpPr>
        <p:sp>
          <p:nvSpPr>
            <p:cNvPr name="TextBox 20" id="20"/>
            <p:cNvSpPr txBox="true"/>
            <p:nvPr/>
          </p:nvSpPr>
          <p:spPr>
            <a:xfrm rot="0">
              <a:off x="0" y="95250"/>
              <a:ext cx="1229871" cy="1134110"/>
            </a:xfrm>
            <a:prstGeom prst="rect">
              <a:avLst/>
            </a:prstGeom>
          </p:spPr>
          <p:txBody>
            <a:bodyPr anchor="t" rtlCol="false" tIns="0" lIns="0" bIns="0" rIns="0">
              <a:spAutoFit/>
            </a:bodyPr>
            <a:lstStyle/>
            <a:p>
              <a:pPr algn="l">
                <a:lnSpc>
                  <a:spcPts val="6000"/>
                </a:lnSpc>
              </a:pPr>
              <a:r>
                <a:rPr lang="en-US" b="true" sz="6000">
                  <a:solidFill>
                    <a:srgbClr val="FFFFFF"/>
                  </a:solidFill>
                  <a:latin typeface="Bebas Neue 2 Bold"/>
                  <a:ea typeface="Bebas Neue 2 Bold"/>
                  <a:cs typeface="Bebas Neue 2 Bold"/>
                  <a:sym typeface="Bebas Neue 2 Bold"/>
                </a:rPr>
                <a:t>01</a:t>
              </a:r>
            </a:p>
          </p:txBody>
        </p:sp>
        <p:sp>
          <p:nvSpPr>
            <p:cNvPr name="TextBox 21" id="21"/>
            <p:cNvSpPr txBox="true"/>
            <p:nvPr/>
          </p:nvSpPr>
          <p:spPr>
            <a:xfrm rot="0">
              <a:off x="1644572" y="74666"/>
              <a:ext cx="4577106" cy="448345"/>
            </a:xfrm>
            <a:prstGeom prst="rect">
              <a:avLst/>
            </a:prstGeom>
          </p:spPr>
          <p:txBody>
            <a:bodyPr anchor="t" rtlCol="false" tIns="0" lIns="0" bIns="0" rIns="0">
              <a:spAutoFit/>
            </a:bodyPr>
            <a:lstStyle/>
            <a:p>
              <a:pPr algn="l">
                <a:lnSpc>
                  <a:spcPts val="2632"/>
                </a:lnSpc>
              </a:pPr>
            </a:p>
          </p:txBody>
        </p:sp>
        <p:sp>
          <p:nvSpPr>
            <p:cNvPr name="TextBox 22" id="22"/>
            <p:cNvSpPr txBox="true"/>
            <p:nvPr/>
          </p:nvSpPr>
          <p:spPr>
            <a:xfrm rot="0">
              <a:off x="1644572" y="658739"/>
              <a:ext cx="4577106" cy="385247"/>
            </a:xfrm>
            <a:prstGeom prst="rect">
              <a:avLst/>
            </a:prstGeom>
          </p:spPr>
          <p:txBody>
            <a:bodyPr anchor="t" rtlCol="false" tIns="0" lIns="0" bIns="0" rIns="0">
              <a:spAutoFit/>
            </a:bodyPr>
            <a:lstStyle/>
            <a:p>
              <a:pPr algn="l">
                <a:lnSpc>
                  <a:spcPts val="2369"/>
                </a:lnSpc>
              </a:pPr>
            </a:p>
          </p:txBody>
        </p:sp>
      </p:grpSp>
      <p:grpSp>
        <p:nvGrpSpPr>
          <p:cNvPr name="Group 23" id="23"/>
          <p:cNvGrpSpPr/>
          <p:nvPr/>
        </p:nvGrpSpPr>
        <p:grpSpPr>
          <a:xfrm rot="0">
            <a:off x="932371" y="3027004"/>
            <a:ext cx="4666259" cy="922020"/>
            <a:chOff x="0" y="0"/>
            <a:chExt cx="6221678" cy="1229360"/>
          </a:xfrm>
        </p:grpSpPr>
        <p:sp>
          <p:nvSpPr>
            <p:cNvPr name="TextBox 24" id="24"/>
            <p:cNvSpPr txBox="true"/>
            <p:nvPr/>
          </p:nvSpPr>
          <p:spPr>
            <a:xfrm rot="0">
              <a:off x="0" y="95250"/>
              <a:ext cx="1229871" cy="1134110"/>
            </a:xfrm>
            <a:prstGeom prst="rect">
              <a:avLst/>
            </a:prstGeom>
          </p:spPr>
          <p:txBody>
            <a:bodyPr anchor="t" rtlCol="false" tIns="0" lIns="0" bIns="0" rIns="0">
              <a:spAutoFit/>
            </a:bodyPr>
            <a:lstStyle/>
            <a:p>
              <a:pPr algn="l">
                <a:lnSpc>
                  <a:spcPts val="6000"/>
                </a:lnSpc>
              </a:pPr>
              <a:r>
                <a:rPr lang="en-US" b="true" sz="6000">
                  <a:solidFill>
                    <a:srgbClr val="FFFFFF"/>
                  </a:solidFill>
                  <a:latin typeface="Bebas Neue 2 Bold"/>
                  <a:ea typeface="Bebas Neue 2 Bold"/>
                  <a:cs typeface="Bebas Neue 2 Bold"/>
                  <a:sym typeface="Bebas Neue 2 Bold"/>
                </a:rPr>
                <a:t>02</a:t>
              </a:r>
            </a:p>
          </p:txBody>
        </p:sp>
        <p:sp>
          <p:nvSpPr>
            <p:cNvPr name="TextBox 25" id="25"/>
            <p:cNvSpPr txBox="true"/>
            <p:nvPr/>
          </p:nvSpPr>
          <p:spPr>
            <a:xfrm rot="0">
              <a:off x="1644572" y="74666"/>
              <a:ext cx="4577106" cy="448345"/>
            </a:xfrm>
            <a:prstGeom prst="rect">
              <a:avLst/>
            </a:prstGeom>
          </p:spPr>
          <p:txBody>
            <a:bodyPr anchor="t" rtlCol="false" tIns="0" lIns="0" bIns="0" rIns="0">
              <a:spAutoFit/>
            </a:bodyPr>
            <a:lstStyle/>
            <a:p>
              <a:pPr algn="l">
                <a:lnSpc>
                  <a:spcPts val="2632"/>
                </a:lnSpc>
              </a:pPr>
            </a:p>
          </p:txBody>
        </p:sp>
        <p:sp>
          <p:nvSpPr>
            <p:cNvPr name="TextBox 26" id="26"/>
            <p:cNvSpPr txBox="true"/>
            <p:nvPr/>
          </p:nvSpPr>
          <p:spPr>
            <a:xfrm rot="0">
              <a:off x="1644572" y="658739"/>
              <a:ext cx="4577106" cy="385247"/>
            </a:xfrm>
            <a:prstGeom prst="rect">
              <a:avLst/>
            </a:prstGeom>
          </p:spPr>
          <p:txBody>
            <a:bodyPr anchor="t" rtlCol="false" tIns="0" lIns="0" bIns="0" rIns="0">
              <a:spAutoFit/>
            </a:bodyPr>
            <a:lstStyle/>
            <a:p>
              <a:pPr algn="l">
                <a:lnSpc>
                  <a:spcPts val="2369"/>
                </a:lnSpc>
              </a:pPr>
            </a:p>
          </p:txBody>
        </p:sp>
      </p:grpSp>
      <p:grpSp>
        <p:nvGrpSpPr>
          <p:cNvPr name="Group 27" id="27"/>
          <p:cNvGrpSpPr/>
          <p:nvPr/>
        </p:nvGrpSpPr>
        <p:grpSpPr>
          <a:xfrm rot="0">
            <a:off x="932371" y="4399091"/>
            <a:ext cx="4666259" cy="922020"/>
            <a:chOff x="0" y="0"/>
            <a:chExt cx="6221678" cy="1229360"/>
          </a:xfrm>
        </p:grpSpPr>
        <p:sp>
          <p:nvSpPr>
            <p:cNvPr name="TextBox 28" id="28"/>
            <p:cNvSpPr txBox="true"/>
            <p:nvPr/>
          </p:nvSpPr>
          <p:spPr>
            <a:xfrm rot="0">
              <a:off x="0" y="95250"/>
              <a:ext cx="1229871" cy="1134110"/>
            </a:xfrm>
            <a:prstGeom prst="rect">
              <a:avLst/>
            </a:prstGeom>
          </p:spPr>
          <p:txBody>
            <a:bodyPr anchor="t" rtlCol="false" tIns="0" lIns="0" bIns="0" rIns="0">
              <a:spAutoFit/>
            </a:bodyPr>
            <a:lstStyle/>
            <a:p>
              <a:pPr algn="l">
                <a:lnSpc>
                  <a:spcPts val="6000"/>
                </a:lnSpc>
              </a:pPr>
              <a:r>
                <a:rPr lang="en-US" b="true" sz="6000">
                  <a:solidFill>
                    <a:srgbClr val="FFFFFF"/>
                  </a:solidFill>
                  <a:latin typeface="Bebas Neue 2 Bold"/>
                  <a:ea typeface="Bebas Neue 2 Bold"/>
                  <a:cs typeface="Bebas Neue 2 Bold"/>
                  <a:sym typeface="Bebas Neue 2 Bold"/>
                </a:rPr>
                <a:t>03</a:t>
              </a:r>
            </a:p>
          </p:txBody>
        </p:sp>
        <p:sp>
          <p:nvSpPr>
            <p:cNvPr name="TextBox 29" id="29"/>
            <p:cNvSpPr txBox="true"/>
            <p:nvPr/>
          </p:nvSpPr>
          <p:spPr>
            <a:xfrm rot="0">
              <a:off x="1644572" y="74666"/>
              <a:ext cx="4577106" cy="448345"/>
            </a:xfrm>
            <a:prstGeom prst="rect">
              <a:avLst/>
            </a:prstGeom>
          </p:spPr>
          <p:txBody>
            <a:bodyPr anchor="t" rtlCol="false" tIns="0" lIns="0" bIns="0" rIns="0">
              <a:spAutoFit/>
            </a:bodyPr>
            <a:lstStyle/>
            <a:p>
              <a:pPr algn="l">
                <a:lnSpc>
                  <a:spcPts val="2632"/>
                </a:lnSpc>
              </a:pPr>
            </a:p>
          </p:txBody>
        </p:sp>
        <p:sp>
          <p:nvSpPr>
            <p:cNvPr name="TextBox 30" id="30"/>
            <p:cNvSpPr txBox="true"/>
            <p:nvPr/>
          </p:nvSpPr>
          <p:spPr>
            <a:xfrm rot="0">
              <a:off x="1644572" y="658739"/>
              <a:ext cx="4577106" cy="385247"/>
            </a:xfrm>
            <a:prstGeom prst="rect">
              <a:avLst/>
            </a:prstGeom>
          </p:spPr>
          <p:txBody>
            <a:bodyPr anchor="t" rtlCol="false" tIns="0" lIns="0" bIns="0" rIns="0">
              <a:spAutoFit/>
            </a:bodyPr>
            <a:lstStyle/>
            <a:p>
              <a:pPr algn="l">
                <a:lnSpc>
                  <a:spcPts val="2369"/>
                </a:lnSpc>
              </a:pPr>
            </a:p>
          </p:txBody>
        </p:sp>
      </p:grpSp>
      <p:grpSp>
        <p:nvGrpSpPr>
          <p:cNvPr name="Group 31" id="31"/>
          <p:cNvGrpSpPr/>
          <p:nvPr/>
        </p:nvGrpSpPr>
        <p:grpSpPr>
          <a:xfrm rot="0">
            <a:off x="932371" y="5768786"/>
            <a:ext cx="4666259" cy="922020"/>
            <a:chOff x="0" y="0"/>
            <a:chExt cx="6221678" cy="1229360"/>
          </a:xfrm>
        </p:grpSpPr>
        <p:sp>
          <p:nvSpPr>
            <p:cNvPr name="TextBox 32" id="32"/>
            <p:cNvSpPr txBox="true"/>
            <p:nvPr/>
          </p:nvSpPr>
          <p:spPr>
            <a:xfrm rot="0">
              <a:off x="0" y="95250"/>
              <a:ext cx="1229871" cy="1134110"/>
            </a:xfrm>
            <a:prstGeom prst="rect">
              <a:avLst/>
            </a:prstGeom>
          </p:spPr>
          <p:txBody>
            <a:bodyPr anchor="t" rtlCol="false" tIns="0" lIns="0" bIns="0" rIns="0">
              <a:spAutoFit/>
            </a:bodyPr>
            <a:lstStyle/>
            <a:p>
              <a:pPr algn="l">
                <a:lnSpc>
                  <a:spcPts val="6000"/>
                </a:lnSpc>
              </a:pPr>
              <a:r>
                <a:rPr lang="en-US" b="true" sz="6000">
                  <a:solidFill>
                    <a:srgbClr val="FFFFFF"/>
                  </a:solidFill>
                  <a:latin typeface="Bebas Neue 2 Bold"/>
                  <a:ea typeface="Bebas Neue 2 Bold"/>
                  <a:cs typeface="Bebas Neue 2 Bold"/>
                  <a:sym typeface="Bebas Neue 2 Bold"/>
                </a:rPr>
                <a:t>04</a:t>
              </a:r>
            </a:p>
          </p:txBody>
        </p:sp>
        <p:sp>
          <p:nvSpPr>
            <p:cNvPr name="TextBox 33" id="33"/>
            <p:cNvSpPr txBox="true"/>
            <p:nvPr/>
          </p:nvSpPr>
          <p:spPr>
            <a:xfrm rot="0">
              <a:off x="1644572" y="74666"/>
              <a:ext cx="4577106" cy="448345"/>
            </a:xfrm>
            <a:prstGeom prst="rect">
              <a:avLst/>
            </a:prstGeom>
          </p:spPr>
          <p:txBody>
            <a:bodyPr anchor="t" rtlCol="false" tIns="0" lIns="0" bIns="0" rIns="0">
              <a:spAutoFit/>
            </a:bodyPr>
            <a:lstStyle/>
            <a:p>
              <a:pPr algn="l">
                <a:lnSpc>
                  <a:spcPts val="2632"/>
                </a:lnSpc>
              </a:pPr>
            </a:p>
          </p:txBody>
        </p:sp>
        <p:sp>
          <p:nvSpPr>
            <p:cNvPr name="TextBox 34" id="34"/>
            <p:cNvSpPr txBox="true"/>
            <p:nvPr/>
          </p:nvSpPr>
          <p:spPr>
            <a:xfrm rot="0">
              <a:off x="1644572" y="658739"/>
              <a:ext cx="4577106" cy="385247"/>
            </a:xfrm>
            <a:prstGeom prst="rect">
              <a:avLst/>
            </a:prstGeom>
          </p:spPr>
          <p:txBody>
            <a:bodyPr anchor="t" rtlCol="false" tIns="0" lIns="0" bIns="0" rIns="0">
              <a:spAutoFit/>
            </a:bodyPr>
            <a:lstStyle/>
            <a:p>
              <a:pPr algn="l">
                <a:lnSpc>
                  <a:spcPts val="2369"/>
                </a:lnSpc>
              </a:pPr>
            </a:p>
          </p:txBody>
        </p:sp>
      </p:grpSp>
      <p:grpSp>
        <p:nvGrpSpPr>
          <p:cNvPr name="Group 35" id="35"/>
          <p:cNvGrpSpPr/>
          <p:nvPr/>
        </p:nvGrpSpPr>
        <p:grpSpPr>
          <a:xfrm rot="0">
            <a:off x="932371" y="7357556"/>
            <a:ext cx="4666259" cy="922020"/>
            <a:chOff x="0" y="0"/>
            <a:chExt cx="6221678" cy="1229360"/>
          </a:xfrm>
        </p:grpSpPr>
        <p:sp>
          <p:nvSpPr>
            <p:cNvPr name="TextBox 36" id="36"/>
            <p:cNvSpPr txBox="true"/>
            <p:nvPr/>
          </p:nvSpPr>
          <p:spPr>
            <a:xfrm rot="0">
              <a:off x="0" y="95250"/>
              <a:ext cx="1229871" cy="1134110"/>
            </a:xfrm>
            <a:prstGeom prst="rect">
              <a:avLst/>
            </a:prstGeom>
          </p:spPr>
          <p:txBody>
            <a:bodyPr anchor="t" rtlCol="false" tIns="0" lIns="0" bIns="0" rIns="0">
              <a:spAutoFit/>
            </a:bodyPr>
            <a:lstStyle/>
            <a:p>
              <a:pPr algn="l">
                <a:lnSpc>
                  <a:spcPts val="6000"/>
                </a:lnSpc>
              </a:pPr>
              <a:r>
                <a:rPr lang="en-US" b="true" sz="6000">
                  <a:solidFill>
                    <a:srgbClr val="FFFFFF"/>
                  </a:solidFill>
                  <a:latin typeface="Bebas Neue 2 Bold"/>
                  <a:ea typeface="Bebas Neue 2 Bold"/>
                  <a:cs typeface="Bebas Neue 2 Bold"/>
                  <a:sym typeface="Bebas Neue 2 Bold"/>
                </a:rPr>
                <a:t>05</a:t>
              </a:r>
            </a:p>
          </p:txBody>
        </p:sp>
        <p:sp>
          <p:nvSpPr>
            <p:cNvPr name="TextBox 37" id="37"/>
            <p:cNvSpPr txBox="true"/>
            <p:nvPr/>
          </p:nvSpPr>
          <p:spPr>
            <a:xfrm rot="0">
              <a:off x="1644572" y="74666"/>
              <a:ext cx="4577106" cy="448345"/>
            </a:xfrm>
            <a:prstGeom prst="rect">
              <a:avLst/>
            </a:prstGeom>
          </p:spPr>
          <p:txBody>
            <a:bodyPr anchor="t" rtlCol="false" tIns="0" lIns="0" bIns="0" rIns="0">
              <a:spAutoFit/>
            </a:bodyPr>
            <a:lstStyle/>
            <a:p>
              <a:pPr algn="l">
                <a:lnSpc>
                  <a:spcPts val="2632"/>
                </a:lnSpc>
              </a:pPr>
            </a:p>
          </p:txBody>
        </p:sp>
        <p:sp>
          <p:nvSpPr>
            <p:cNvPr name="TextBox 38" id="38"/>
            <p:cNvSpPr txBox="true"/>
            <p:nvPr/>
          </p:nvSpPr>
          <p:spPr>
            <a:xfrm rot="0">
              <a:off x="1644572" y="658739"/>
              <a:ext cx="4577106" cy="385247"/>
            </a:xfrm>
            <a:prstGeom prst="rect">
              <a:avLst/>
            </a:prstGeom>
          </p:spPr>
          <p:txBody>
            <a:bodyPr anchor="t" rtlCol="false" tIns="0" lIns="0" bIns="0" rIns="0">
              <a:spAutoFit/>
            </a:bodyPr>
            <a:lstStyle/>
            <a:p>
              <a:pPr algn="l">
                <a:lnSpc>
                  <a:spcPts val="2369"/>
                </a:lnSpc>
              </a:pPr>
            </a:p>
          </p:txBody>
        </p:sp>
      </p:grpSp>
      <p:grpSp>
        <p:nvGrpSpPr>
          <p:cNvPr name="Group 39" id="39"/>
          <p:cNvGrpSpPr/>
          <p:nvPr/>
        </p:nvGrpSpPr>
        <p:grpSpPr>
          <a:xfrm rot="0">
            <a:off x="932371" y="8974901"/>
            <a:ext cx="4666259" cy="922020"/>
            <a:chOff x="0" y="0"/>
            <a:chExt cx="6221678" cy="1229360"/>
          </a:xfrm>
        </p:grpSpPr>
        <p:sp>
          <p:nvSpPr>
            <p:cNvPr name="TextBox 40" id="40"/>
            <p:cNvSpPr txBox="true"/>
            <p:nvPr/>
          </p:nvSpPr>
          <p:spPr>
            <a:xfrm rot="0">
              <a:off x="0" y="95250"/>
              <a:ext cx="1229871" cy="1134110"/>
            </a:xfrm>
            <a:prstGeom prst="rect">
              <a:avLst/>
            </a:prstGeom>
          </p:spPr>
          <p:txBody>
            <a:bodyPr anchor="t" rtlCol="false" tIns="0" lIns="0" bIns="0" rIns="0">
              <a:spAutoFit/>
            </a:bodyPr>
            <a:lstStyle/>
            <a:p>
              <a:pPr algn="l">
                <a:lnSpc>
                  <a:spcPts val="6000"/>
                </a:lnSpc>
              </a:pPr>
              <a:r>
                <a:rPr lang="en-US" b="true" sz="6000">
                  <a:solidFill>
                    <a:srgbClr val="FFFFFF"/>
                  </a:solidFill>
                  <a:latin typeface="Bebas Neue 2 Bold"/>
                  <a:ea typeface="Bebas Neue 2 Bold"/>
                  <a:cs typeface="Bebas Neue 2 Bold"/>
                  <a:sym typeface="Bebas Neue 2 Bold"/>
                </a:rPr>
                <a:t>06</a:t>
              </a:r>
            </a:p>
          </p:txBody>
        </p:sp>
        <p:sp>
          <p:nvSpPr>
            <p:cNvPr name="TextBox 41" id="41"/>
            <p:cNvSpPr txBox="true"/>
            <p:nvPr/>
          </p:nvSpPr>
          <p:spPr>
            <a:xfrm rot="0">
              <a:off x="1644572" y="74666"/>
              <a:ext cx="4577106" cy="448345"/>
            </a:xfrm>
            <a:prstGeom prst="rect">
              <a:avLst/>
            </a:prstGeom>
          </p:spPr>
          <p:txBody>
            <a:bodyPr anchor="t" rtlCol="false" tIns="0" lIns="0" bIns="0" rIns="0">
              <a:spAutoFit/>
            </a:bodyPr>
            <a:lstStyle/>
            <a:p>
              <a:pPr algn="l">
                <a:lnSpc>
                  <a:spcPts val="2632"/>
                </a:lnSpc>
              </a:pPr>
            </a:p>
          </p:txBody>
        </p:sp>
        <p:sp>
          <p:nvSpPr>
            <p:cNvPr name="TextBox 42" id="42"/>
            <p:cNvSpPr txBox="true"/>
            <p:nvPr/>
          </p:nvSpPr>
          <p:spPr>
            <a:xfrm rot="0">
              <a:off x="1644572" y="658739"/>
              <a:ext cx="4577106" cy="385247"/>
            </a:xfrm>
            <a:prstGeom prst="rect">
              <a:avLst/>
            </a:prstGeom>
          </p:spPr>
          <p:txBody>
            <a:bodyPr anchor="t" rtlCol="false" tIns="0" lIns="0" bIns="0" rIns="0">
              <a:spAutoFit/>
            </a:bodyPr>
            <a:lstStyle/>
            <a:p>
              <a:pPr algn="l">
                <a:lnSpc>
                  <a:spcPts val="2369"/>
                </a:lnSpc>
              </a:pP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4816593" cy="2709333"/>
          </a:xfrm>
        </p:grpSpPr>
        <p:sp>
          <p:nvSpPr>
            <p:cNvPr name="Freeform 3" id="3"/>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59524B"/>
            </a:solidFill>
          </p:spPr>
        </p:sp>
        <p:sp>
          <p:nvSpPr>
            <p:cNvPr name="TextBox 4" id="4"/>
            <p:cNvSpPr txBox="true"/>
            <p:nvPr/>
          </p:nvSpPr>
          <p:spPr>
            <a:xfrm>
              <a:off x="0" y="-38100"/>
              <a:ext cx="4816593" cy="2747433"/>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723147" y="0"/>
            <a:ext cx="21734294" cy="10287000"/>
          </a:xfrm>
          <a:custGeom>
            <a:avLst/>
            <a:gdLst/>
            <a:ahLst/>
            <a:cxnLst/>
            <a:rect r="r" b="b" t="t" l="l"/>
            <a:pathLst>
              <a:path h="10287000" w="21734294">
                <a:moveTo>
                  <a:pt x="0" y="0"/>
                </a:moveTo>
                <a:lnTo>
                  <a:pt x="21734294" y="0"/>
                </a:lnTo>
                <a:lnTo>
                  <a:pt x="21734294" y="10287000"/>
                </a:lnTo>
                <a:lnTo>
                  <a:pt x="0" y="10287000"/>
                </a:lnTo>
                <a:lnTo>
                  <a:pt x="0" y="0"/>
                </a:lnTo>
                <a:close/>
              </a:path>
            </a:pathLst>
          </a:custGeom>
          <a:blipFill>
            <a:blip r:embed="rId2">
              <a:alphaModFix amt="50000"/>
            </a:blip>
            <a:stretch>
              <a:fillRect l="0" t="0" r="0" b="0"/>
            </a:stretch>
          </a:blipFill>
        </p:spPr>
      </p:sp>
      <p:grpSp>
        <p:nvGrpSpPr>
          <p:cNvPr name="Group 6" id="6"/>
          <p:cNvGrpSpPr/>
          <p:nvPr/>
        </p:nvGrpSpPr>
        <p:grpSpPr>
          <a:xfrm rot="0">
            <a:off x="4963454" y="4169257"/>
            <a:ext cx="8361091" cy="1948485"/>
            <a:chOff x="0" y="0"/>
            <a:chExt cx="1743892" cy="406400"/>
          </a:xfrm>
        </p:grpSpPr>
        <p:sp>
          <p:nvSpPr>
            <p:cNvPr name="Freeform 7" id="7"/>
            <p:cNvSpPr/>
            <p:nvPr/>
          </p:nvSpPr>
          <p:spPr>
            <a:xfrm flipH="false" flipV="false" rot="0">
              <a:off x="0" y="0"/>
              <a:ext cx="1743892" cy="406400"/>
            </a:xfrm>
            <a:custGeom>
              <a:avLst/>
              <a:gdLst/>
              <a:ahLst/>
              <a:cxnLst/>
              <a:rect r="r" b="b" t="t" l="l"/>
              <a:pathLst>
                <a:path h="406400" w="1743892">
                  <a:moveTo>
                    <a:pt x="1540692" y="0"/>
                  </a:moveTo>
                  <a:cubicBezTo>
                    <a:pt x="1652916" y="0"/>
                    <a:pt x="1743892" y="90976"/>
                    <a:pt x="1743892" y="203200"/>
                  </a:cubicBezTo>
                  <a:cubicBezTo>
                    <a:pt x="1743892" y="315424"/>
                    <a:pt x="1652916" y="406400"/>
                    <a:pt x="1540692"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8" id="8"/>
            <p:cNvSpPr txBox="true"/>
            <p:nvPr/>
          </p:nvSpPr>
          <p:spPr>
            <a:xfrm>
              <a:off x="0" y="-38100"/>
              <a:ext cx="1743892" cy="4445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3038174" y="458478"/>
            <a:ext cx="4563040" cy="1140443"/>
            <a:chOff x="0" y="0"/>
            <a:chExt cx="6084053" cy="1520591"/>
          </a:xfrm>
        </p:grpSpPr>
        <p:grpSp>
          <p:nvGrpSpPr>
            <p:cNvPr name="Group 10" id="10"/>
            <p:cNvGrpSpPr/>
            <p:nvPr/>
          </p:nvGrpSpPr>
          <p:grpSpPr>
            <a:xfrm rot="0">
              <a:off x="0" y="0"/>
              <a:ext cx="6084053" cy="1520591"/>
              <a:chOff x="0" y="0"/>
              <a:chExt cx="1626052" cy="406400"/>
            </a:xfrm>
          </p:grpSpPr>
          <p:sp>
            <p:nvSpPr>
              <p:cNvPr name="Freeform 11" id="11"/>
              <p:cNvSpPr/>
              <p:nvPr/>
            </p:nvSpPr>
            <p:spPr>
              <a:xfrm flipH="false" flipV="false" rot="0">
                <a:off x="0" y="0"/>
                <a:ext cx="1626052" cy="406400"/>
              </a:xfrm>
              <a:custGeom>
                <a:avLst/>
                <a:gdLst/>
                <a:ahLst/>
                <a:cxnLst/>
                <a:rect r="r" b="b" t="t" l="l"/>
                <a:pathLst>
                  <a:path h="406400" w="1626052">
                    <a:moveTo>
                      <a:pt x="1422852" y="0"/>
                    </a:moveTo>
                    <a:cubicBezTo>
                      <a:pt x="1535076" y="0"/>
                      <a:pt x="1626052" y="90976"/>
                      <a:pt x="1626052" y="203200"/>
                    </a:cubicBezTo>
                    <a:cubicBezTo>
                      <a:pt x="1626052" y="315424"/>
                      <a:pt x="1535076" y="406400"/>
                      <a:pt x="1422852"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12" id="12"/>
              <p:cNvSpPr txBox="true"/>
              <p:nvPr/>
            </p:nvSpPr>
            <p:spPr>
              <a:xfrm>
                <a:off x="0" y="-38100"/>
                <a:ext cx="1626052" cy="444500"/>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414535" y="124612"/>
              <a:ext cx="5254984" cy="1271367"/>
            </a:xfrm>
            <a:custGeom>
              <a:avLst/>
              <a:gdLst/>
              <a:ahLst/>
              <a:cxnLst/>
              <a:rect r="r" b="b" t="t" l="l"/>
              <a:pathLst>
                <a:path h="1271367" w="5254984">
                  <a:moveTo>
                    <a:pt x="0" y="0"/>
                  </a:moveTo>
                  <a:lnTo>
                    <a:pt x="5254983" y="0"/>
                  </a:lnTo>
                  <a:lnTo>
                    <a:pt x="5254983" y="1271367"/>
                  </a:lnTo>
                  <a:lnTo>
                    <a:pt x="0" y="1271367"/>
                  </a:lnTo>
                  <a:lnTo>
                    <a:pt x="0" y="0"/>
                  </a:lnTo>
                  <a:close/>
                </a:path>
              </a:pathLst>
            </a:custGeom>
            <a:blipFill>
              <a:blip r:embed="rId3"/>
              <a:stretch>
                <a:fillRect l="0" t="0" r="0" b="0"/>
              </a:stretch>
            </a:blipFill>
          </p:spPr>
        </p:sp>
      </p:grpSp>
      <p:sp>
        <p:nvSpPr>
          <p:cNvPr name="TextBox 14" id="14"/>
          <p:cNvSpPr txBox="true"/>
          <p:nvPr/>
        </p:nvSpPr>
        <p:spPr>
          <a:xfrm rot="0">
            <a:off x="5430115" y="4186490"/>
            <a:ext cx="7427770" cy="1713996"/>
          </a:xfrm>
          <a:prstGeom prst="rect">
            <a:avLst/>
          </a:prstGeom>
        </p:spPr>
        <p:txBody>
          <a:bodyPr anchor="t" rtlCol="false" tIns="0" lIns="0" bIns="0" rIns="0">
            <a:spAutoFit/>
          </a:bodyPr>
          <a:lstStyle/>
          <a:p>
            <a:pPr algn="ctr">
              <a:lnSpc>
                <a:spcPts val="13911"/>
              </a:lnSpc>
            </a:pPr>
            <a:r>
              <a:rPr lang="en-US" sz="9937">
                <a:solidFill>
                  <a:srgbClr val="59524B"/>
                </a:solidFill>
                <a:latin typeface="Bebas Neue 1"/>
                <a:ea typeface="Bebas Neue 1"/>
                <a:cs typeface="Bebas Neue 1"/>
                <a:sym typeface="Bebas Neue 1"/>
              </a:rPr>
              <a:t>ti</a:t>
            </a:r>
            <a:r>
              <a:rPr lang="en-US" sz="9937">
                <a:solidFill>
                  <a:srgbClr val="59524B"/>
                </a:solidFill>
                <a:latin typeface="Bebas Neue 1"/>
                <a:ea typeface="Bebas Neue 1"/>
                <a:cs typeface="Bebas Neue 1"/>
                <a:sym typeface="Bebas Neue 1"/>
              </a:rPr>
              <a:t>njauan pustaka</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5313" y="464654"/>
            <a:ext cx="5136443" cy="1523631"/>
            <a:chOff x="0" y="0"/>
            <a:chExt cx="1830386" cy="542950"/>
          </a:xfrm>
        </p:grpSpPr>
        <p:sp>
          <p:nvSpPr>
            <p:cNvPr name="Freeform 3" id="3"/>
            <p:cNvSpPr/>
            <p:nvPr/>
          </p:nvSpPr>
          <p:spPr>
            <a:xfrm flipH="false" flipV="false" rot="0">
              <a:off x="0" y="0"/>
              <a:ext cx="1830386" cy="542950"/>
            </a:xfrm>
            <a:custGeom>
              <a:avLst/>
              <a:gdLst/>
              <a:ahLst/>
              <a:cxnLst/>
              <a:rect r="r" b="b" t="t" l="l"/>
              <a:pathLst>
                <a:path h="542950" w="1830386">
                  <a:moveTo>
                    <a:pt x="1627186" y="0"/>
                  </a:moveTo>
                  <a:cubicBezTo>
                    <a:pt x="1739410" y="0"/>
                    <a:pt x="1830386" y="121543"/>
                    <a:pt x="1830386" y="271475"/>
                  </a:cubicBezTo>
                  <a:cubicBezTo>
                    <a:pt x="1830386" y="421406"/>
                    <a:pt x="1739410" y="542950"/>
                    <a:pt x="1627186" y="542950"/>
                  </a:cubicBezTo>
                  <a:lnTo>
                    <a:pt x="203200" y="542950"/>
                  </a:lnTo>
                  <a:cubicBezTo>
                    <a:pt x="90976" y="542950"/>
                    <a:pt x="0" y="421406"/>
                    <a:pt x="0" y="271475"/>
                  </a:cubicBezTo>
                  <a:cubicBezTo>
                    <a:pt x="0" y="121543"/>
                    <a:pt x="90976" y="0"/>
                    <a:pt x="203200" y="0"/>
                  </a:cubicBezTo>
                  <a:close/>
                </a:path>
              </a:pathLst>
            </a:custGeom>
            <a:solidFill>
              <a:srgbClr val="F2F2F2"/>
            </a:solidFill>
          </p:spPr>
        </p:sp>
        <p:sp>
          <p:nvSpPr>
            <p:cNvPr name="TextBox 4" id="4"/>
            <p:cNvSpPr txBox="true"/>
            <p:nvPr/>
          </p:nvSpPr>
          <p:spPr>
            <a:xfrm>
              <a:off x="0" y="-38100"/>
              <a:ext cx="1830386" cy="5810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809625" y="8882192"/>
            <a:ext cx="16668750" cy="95250"/>
            <a:chOff x="0" y="0"/>
            <a:chExt cx="4390123" cy="25086"/>
          </a:xfrm>
        </p:grpSpPr>
        <p:sp>
          <p:nvSpPr>
            <p:cNvPr name="Freeform 6" id="6"/>
            <p:cNvSpPr/>
            <p:nvPr/>
          </p:nvSpPr>
          <p:spPr>
            <a:xfrm flipH="false" flipV="false" rot="0">
              <a:off x="0" y="0"/>
              <a:ext cx="4390124" cy="25086"/>
            </a:xfrm>
            <a:custGeom>
              <a:avLst/>
              <a:gdLst/>
              <a:ahLst/>
              <a:cxnLst/>
              <a:rect r="r" b="b" t="t" l="l"/>
              <a:pathLst>
                <a:path h="25086" w="4390124">
                  <a:moveTo>
                    <a:pt x="0" y="0"/>
                  </a:moveTo>
                  <a:lnTo>
                    <a:pt x="4390124" y="0"/>
                  </a:lnTo>
                  <a:lnTo>
                    <a:pt x="4390124" y="25086"/>
                  </a:lnTo>
                  <a:lnTo>
                    <a:pt x="0" y="25086"/>
                  </a:lnTo>
                  <a:close/>
                </a:path>
              </a:pathLst>
            </a:custGeom>
            <a:solidFill>
              <a:srgbClr val="59524B"/>
            </a:solidFill>
          </p:spPr>
        </p:sp>
        <p:sp>
          <p:nvSpPr>
            <p:cNvPr name="TextBox 7" id="7"/>
            <p:cNvSpPr txBox="true"/>
            <p:nvPr/>
          </p:nvSpPr>
          <p:spPr>
            <a:xfrm>
              <a:off x="0" y="-38100"/>
              <a:ext cx="4390123" cy="63186"/>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3038174" y="458478"/>
            <a:ext cx="4563040" cy="1140443"/>
            <a:chOff x="0" y="0"/>
            <a:chExt cx="6084053" cy="1520591"/>
          </a:xfrm>
        </p:grpSpPr>
        <p:grpSp>
          <p:nvGrpSpPr>
            <p:cNvPr name="Group 9" id="9"/>
            <p:cNvGrpSpPr/>
            <p:nvPr/>
          </p:nvGrpSpPr>
          <p:grpSpPr>
            <a:xfrm rot="0">
              <a:off x="0" y="0"/>
              <a:ext cx="6084053" cy="1520591"/>
              <a:chOff x="0" y="0"/>
              <a:chExt cx="1626052" cy="406400"/>
            </a:xfrm>
          </p:grpSpPr>
          <p:sp>
            <p:nvSpPr>
              <p:cNvPr name="Freeform 10" id="10"/>
              <p:cNvSpPr/>
              <p:nvPr/>
            </p:nvSpPr>
            <p:spPr>
              <a:xfrm flipH="false" flipV="false" rot="0">
                <a:off x="0" y="0"/>
                <a:ext cx="1626052" cy="406400"/>
              </a:xfrm>
              <a:custGeom>
                <a:avLst/>
                <a:gdLst/>
                <a:ahLst/>
                <a:cxnLst/>
                <a:rect r="r" b="b" t="t" l="l"/>
                <a:pathLst>
                  <a:path h="406400" w="1626052">
                    <a:moveTo>
                      <a:pt x="1422852" y="0"/>
                    </a:moveTo>
                    <a:cubicBezTo>
                      <a:pt x="1535076" y="0"/>
                      <a:pt x="1626052" y="90976"/>
                      <a:pt x="1626052" y="203200"/>
                    </a:cubicBezTo>
                    <a:cubicBezTo>
                      <a:pt x="1626052" y="315424"/>
                      <a:pt x="1535076" y="406400"/>
                      <a:pt x="1422852"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11" id="11"/>
              <p:cNvSpPr txBox="true"/>
              <p:nvPr/>
            </p:nvSpPr>
            <p:spPr>
              <a:xfrm>
                <a:off x="0" y="-38100"/>
                <a:ext cx="1626052" cy="444500"/>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414535" y="124612"/>
              <a:ext cx="5254984" cy="1271367"/>
            </a:xfrm>
            <a:custGeom>
              <a:avLst/>
              <a:gdLst/>
              <a:ahLst/>
              <a:cxnLst/>
              <a:rect r="r" b="b" t="t" l="l"/>
              <a:pathLst>
                <a:path h="1271367" w="5254984">
                  <a:moveTo>
                    <a:pt x="0" y="0"/>
                  </a:moveTo>
                  <a:lnTo>
                    <a:pt x="5254983" y="0"/>
                  </a:lnTo>
                  <a:lnTo>
                    <a:pt x="5254983" y="1271367"/>
                  </a:lnTo>
                  <a:lnTo>
                    <a:pt x="0" y="1271367"/>
                  </a:lnTo>
                  <a:lnTo>
                    <a:pt x="0" y="0"/>
                  </a:lnTo>
                  <a:close/>
                </a:path>
              </a:pathLst>
            </a:custGeom>
            <a:blipFill>
              <a:blip r:embed="rId2"/>
              <a:stretch>
                <a:fillRect l="0" t="0" r="0" b="0"/>
              </a:stretch>
            </a:blipFill>
          </p:spPr>
        </p:sp>
      </p:grpSp>
      <p:sp>
        <p:nvSpPr>
          <p:cNvPr name="Freeform 13" id="13"/>
          <p:cNvSpPr/>
          <p:nvPr/>
        </p:nvSpPr>
        <p:spPr>
          <a:xfrm flipH="false" flipV="false" rot="0">
            <a:off x="809625" y="3085654"/>
            <a:ext cx="4112410" cy="4115691"/>
          </a:xfrm>
          <a:custGeom>
            <a:avLst/>
            <a:gdLst/>
            <a:ahLst/>
            <a:cxnLst/>
            <a:rect r="r" b="b" t="t" l="l"/>
            <a:pathLst>
              <a:path h="4115691" w="4112410">
                <a:moveTo>
                  <a:pt x="0" y="0"/>
                </a:moveTo>
                <a:lnTo>
                  <a:pt x="4112410" y="0"/>
                </a:lnTo>
                <a:lnTo>
                  <a:pt x="4112410" y="4115692"/>
                </a:lnTo>
                <a:lnTo>
                  <a:pt x="0" y="4115692"/>
                </a:lnTo>
                <a:lnTo>
                  <a:pt x="0" y="0"/>
                </a:lnTo>
                <a:close/>
              </a:path>
            </a:pathLst>
          </a:custGeom>
          <a:blipFill>
            <a:blip r:embed="rId3"/>
            <a:stretch>
              <a:fillRect l="-121889" t="-6438" r="-13106" b="-24445"/>
            </a:stretch>
          </a:blipFill>
        </p:spPr>
      </p:sp>
      <p:grpSp>
        <p:nvGrpSpPr>
          <p:cNvPr name="Group 14" id="14"/>
          <p:cNvGrpSpPr/>
          <p:nvPr/>
        </p:nvGrpSpPr>
        <p:grpSpPr>
          <a:xfrm rot="0">
            <a:off x="5479191" y="2897442"/>
            <a:ext cx="3810000" cy="95250"/>
            <a:chOff x="0" y="0"/>
            <a:chExt cx="1003457" cy="25086"/>
          </a:xfrm>
        </p:grpSpPr>
        <p:sp>
          <p:nvSpPr>
            <p:cNvPr name="Freeform 15" id="15"/>
            <p:cNvSpPr/>
            <p:nvPr/>
          </p:nvSpPr>
          <p:spPr>
            <a:xfrm flipH="false" flipV="false" rot="0">
              <a:off x="0" y="0"/>
              <a:ext cx="1003457" cy="25086"/>
            </a:xfrm>
            <a:custGeom>
              <a:avLst/>
              <a:gdLst/>
              <a:ahLst/>
              <a:cxnLst/>
              <a:rect r="r" b="b" t="t" l="l"/>
              <a:pathLst>
                <a:path h="25086" w="1003457">
                  <a:moveTo>
                    <a:pt x="0" y="0"/>
                  </a:moveTo>
                  <a:lnTo>
                    <a:pt x="1003457" y="0"/>
                  </a:lnTo>
                  <a:lnTo>
                    <a:pt x="1003457" y="25086"/>
                  </a:lnTo>
                  <a:lnTo>
                    <a:pt x="0" y="25086"/>
                  </a:lnTo>
                  <a:close/>
                </a:path>
              </a:pathLst>
            </a:custGeom>
            <a:solidFill>
              <a:srgbClr val="59524B"/>
            </a:solidFill>
          </p:spPr>
        </p:sp>
        <p:sp>
          <p:nvSpPr>
            <p:cNvPr name="TextBox 16" id="16"/>
            <p:cNvSpPr txBox="true"/>
            <p:nvPr/>
          </p:nvSpPr>
          <p:spPr>
            <a:xfrm>
              <a:off x="0" y="-38100"/>
              <a:ext cx="1003457" cy="63186"/>
            </a:xfrm>
            <a:prstGeom prst="rect">
              <a:avLst/>
            </a:prstGeom>
          </p:spPr>
          <p:txBody>
            <a:bodyPr anchor="ctr" rtlCol="false" tIns="50800" lIns="50800" bIns="50800" rIns="50800"/>
            <a:lstStyle/>
            <a:p>
              <a:pPr algn="ctr">
                <a:lnSpc>
                  <a:spcPts val="2659"/>
                </a:lnSpc>
              </a:pPr>
            </a:p>
          </p:txBody>
        </p:sp>
      </p:grpSp>
      <p:sp>
        <p:nvSpPr>
          <p:cNvPr name="Freeform 17" id="17"/>
          <p:cNvSpPr/>
          <p:nvPr/>
        </p:nvSpPr>
        <p:spPr>
          <a:xfrm flipH="false" flipV="false" rot="0">
            <a:off x="5537748" y="2992692"/>
            <a:ext cx="7200355" cy="1334620"/>
          </a:xfrm>
          <a:custGeom>
            <a:avLst/>
            <a:gdLst/>
            <a:ahLst/>
            <a:cxnLst/>
            <a:rect r="r" b="b" t="t" l="l"/>
            <a:pathLst>
              <a:path h="1334620" w="7200355">
                <a:moveTo>
                  <a:pt x="0" y="0"/>
                </a:moveTo>
                <a:lnTo>
                  <a:pt x="7200356" y="0"/>
                </a:lnTo>
                <a:lnTo>
                  <a:pt x="7200356" y="1334619"/>
                </a:lnTo>
                <a:lnTo>
                  <a:pt x="0" y="1334619"/>
                </a:lnTo>
                <a:lnTo>
                  <a:pt x="0" y="0"/>
                </a:lnTo>
                <a:close/>
              </a:path>
            </a:pathLst>
          </a:custGeom>
          <a:blipFill>
            <a:blip r:embed="rId4"/>
            <a:stretch>
              <a:fillRect l="0" t="0" r="0" b="0"/>
            </a:stretch>
          </a:blipFill>
        </p:spPr>
      </p:sp>
      <p:grpSp>
        <p:nvGrpSpPr>
          <p:cNvPr name="Group 18" id="18"/>
          <p:cNvGrpSpPr/>
          <p:nvPr/>
        </p:nvGrpSpPr>
        <p:grpSpPr>
          <a:xfrm rot="0">
            <a:off x="5479191" y="5108361"/>
            <a:ext cx="3810000" cy="95250"/>
            <a:chOff x="0" y="0"/>
            <a:chExt cx="1003457" cy="25086"/>
          </a:xfrm>
        </p:grpSpPr>
        <p:sp>
          <p:nvSpPr>
            <p:cNvPr name="Freeform 19" id="19"/>
            <p:cNvSpPr/>
            <p:nvPr/>
          </p:nvSpPr>
          <p:spPr>
            <a:xfrm flipH="false" flipV="false" rot="0">
              <a:off x="0" y="0"/>
              <a:ext cx="1003457" cy="25086"/>
            </a:xfrm>
            <a:custGeom>
              <a:avLst/>
              <a:gdLst/>
              <a:ahLst/>
              <a:cxnLst/>
              <a:rect r="r" b="b" t="t" l="l"/>
              <a:pathLst>
                <a:path h="25086" w="1003457">
                  <a:moveTo>
                    <a:pt x="0" y="0"/>
                  </a:moveTo>
                  <a:lnTo>
                    <a:pt x="1003457" y="0"/>
                  </a:lnTo>
                  <a:lnTo>
                    <a:pt x="1003457" y="25086"/>
                  </a:lnTo>
                  <a:lnTo>
                    <a:pt x="0" y="25086"/>
                  </a:lnTo>
                  <a:close/>
                </a:path>
              </a:pathLst>
            </a:custGeom>
            <a:solidFill>
              <a:srgbClr val="59524B"/>
            </a:solidFill>
          </p:spPr>
        </p:sp>
        <p:sp>
          <p:nvSpPr>
            <p:cNvPr name="TextBox 20" id="20"/>
            <p:cNvSpPr txBox="true"/>
            <p:nvPr/>
          </p:nvSpPr>
          <p:spPr>
            <a:xfrm>
              <a:off x="0" y="-38100"/>
              <a:ext cx="1003457" cy="63186"/>
            </a:xfrm>
            <a:prstGeom prst="rect">
              <a:avLst/>
            </a:prstGeom>
          </p:spPr>
          <p:txBody>
            <a:bodyPr anchor="ctr" rtlCol="false" tIns="50800" lIns="50800" bIns="50800" rIns="50800"/>
            <a:lstStyle/>
            <a:p>
              <a:pPr algn="ctr">
                <a:lnSpc>
                  <a:spcPts val="2659"/>
                </a:lnSpc>
              </a:pPr>
            </a:p>
          </p:txBody>
        </p:sp>
      </p:grpSp>
      <p:sp>
        <p:nvSpPr>
          <p:cNvPr name="Freeform 21" id="21"/>
          <p:cNvSpPr/>
          <p:nvPr/>
        </p:nvSpPr>
        <p:spPr>
          <a:xfrm flipH="false" flipV="false" rot="0">
            <a:off x="5537748" y="5308386"/>
            <a:ext cx="3396775" cy="2021563"/>
          </a:xfrm>
          <a:custGeom>
            <a:avLst/>
            <a:gdLst/>
            <a:ahLst/>
            <a:cxnLst/>
            <a:rect r="r" b="b" t="t" l="l"/>
            <a:pathLst>
              <a:path h="2021563" w="3396775">
                <a:moveTo>
                  <a:pt x="0" y="0"/>
                </a:moveTo>
                <a:lnTo>
                  <a:pt x="3396775" y="0"/>
                </a:lnTo>
                <a:lnTo>
                  <a:pt x="3396775" y="2021563"/>
                </a:lnTo>
                <a:lnTo>
                  <a:pt x="0" y="2021563"/>
                </a:lnTo>
                <a:lnTo>
                  <a:pt x="0" y="0"/>
                </a:lnTo>
                <a:close/>
              </a:path>
            </a:pathLst>
          </a:custGeom>
          <a:blipFill>
            <a:blip r:embed="rId5"/>
            <a:stretch>
              <a:fillRect l="0" t="0" r="0" b="0"/>
            </a:stretch>
          </a:blipFill>
        </p:spPr>
      </p:sp>
      <p:grpSp>
        <p:nvGrpSpPr>
          <p:cNvPr name="Group 22" id="22"/>
          <p:cNvGrpSpPr/>
          <p:nvPr/>
        </p:nvGrpSpPr>
        <p:grpSpPr>
          <a:xfrm rot="0">
            <a:off x="9810112" y="7121795"/>
            <a:ext cx="3810000" cy="95250"/>
            <a:chOff x="0" y="0"/>
            <a:chExt cx="1003457" cy="25086"/>
          </a:xfrm>
        </p:grpSpPr>
        <p:sp>
          <p:nvSpPr>
            <p:cNvPr name="Freeform 23" id="23"/>
            <p:cNvSpPr/>
            <p:nvPr/>
          </p:nvSpPr>
          <p:spPr>
            <a:xfrm flipH="false" flipV="false" rot="0">
              <a:off x="0" y="0"/>
              <a:ext cx="1003457" cy="25086"/>
            </a:xfrm>
            <a:custGeom>
              <a:avLst/>
              <a:gdLst/>
              <a:ahLst/>
              <a:cxnLst/>
              <a:rect r="r" b="b" t="t" l="l"/>
              <a:pathLst>
                <a:path h="25086" w="1003457">
                  <a:moveTo>
                    <a:pt x="0" y="0"/>
                  </a:moveTo>
                  <a:lnTo>
                    <a:pt x="1003457" y="0"/>
                  </a:lnTo>
                  <a:lnTo>
                    <a:pt x="1003457" y="25086"/>
                  </a:lnTo>
                  <a:lnTo>
                    <a:pt x="0" y="25086"/>
                  </a:lnTo>
                  <a:close/>
                </a:path>
              </a:pathLst>
            </a:custGeom>
            <a:solidFill>
              <a:srgbClr val="59524B"/>
            </a:solidFill>
          </p:spPr>
        </p:sp>
        <p:sp>
          <p:nvSpPr>
            <p:cNvPr name="TextBox 24" id="24"/>
            <p:cNvSpPr txBox="true"/>
            <p:nvPr/>
          </p:nvSpPr>
          <p:spPr>
            <a:xfrm>
              <a:off x="0" y="-38100"/>
              <a:ext cx="1003457" cy="63186"/>
            </a:xfrm>
            <a:prstGeom prst="rect">
              <a:avLst/>
            </a:prstGeom>
          </p:spPr>
          <p:txBody>
            <a:bodyPr anchor="ctr" rtlCol="false" tIns="50800" lIns="50800" bIns="50800" rIns="50800"/>
            <a:lstStyle/>
            <a:p>
              <a:pPr algn="ctr">
                <a:lnSpc>
                  <a:spcPts val="2659"/>
                </a:lnSpc>
              </a:pPr>
            </a:p>
          </p:txBody>
        </p:sp>
      </p:grpSp>
      <p:sp>
        <p:nvSpPr>
          <p:cNvPr name="Freeform 25" id="25"/>
          <p:cNvSpPr/>
          <p:nvPr/>
        </p:nvSpPr>
        <p:spPr>
          <a:xfrm flipH="false" flipV="false" rot="0">
            <a:off x="9804989" y="7321820"/>
            <a:ext cx="7517991" cy="759206"/>
          </a:xfrm>
          <a:custGeom>
            <a:avLst/>
            <a:gdLst/>
            <a:ahLst/>
            <a:cxnLst/>
            <a:rect r="r" b="b" t="t" l="l"/>
            <a:pathLst>
              <a:path h="759206" w="7517991">
                <a:moveTo>
                  <a:pt x="0" y="0"/>
                </a:moveTo>
                <a:lnTo>
                  <a:pt x="7517991" y="0"/>
                </a:lnTo>
                <a:lnTo>
                  <a:pt x="7517991" y="759206"/>
                </a:lnTo>
                <a:lnTo>
                  <a:pt x="0" y="759206"/>
                </a:lnTo>
                <a:lnTo>
                  <a:pt x="0" y="0"/>
                </a:lnTo>
                <a:close/>
              </a:path>
            </a:pathLst>
          </a:custGeom>
          <a:blipFill>
            <a:blip r:embed="rId6"/>
            <a:stretch>
              <a:fillRect l="0" t="0" r="0" b="0"/>
            </a:stretch>
          </a:blipFill>
        </p:spPr>
      </p:sp>
      <p:grpSp>
        <p:nvGrpSpPr>
          <p:cNvPr name="Group 26" id="26"/>
          <p:cNvGrpSpPr/>
          <p:nvPr/>
        </p:nvGrpSpPr>
        <p:grpSpPr>
          <a:xfrm rot="0">
            <a:off x="11381294" y="5108361"/>
            <a:ext cx="3810000" cy="95250"/>
            <a:chOff x="0" y="0"/>
            <a:chExt cx="1003457" cy="25086"/>
          </a:xfrm>
        </p:grpSpPr>
        <p:sp>
          <p:nvSpPr>
            <p:cNvPr name="Freeform 27" id="27"/>
            <p:cNvSpPr/>
            <p:nvPr/>
          </p:nvSpPr>
          <p:spPr>
            <a:xfrm flipH="false" flipV="false" rot="0">
              <a:off x="0" y="0"/>
              <a:ext cx="1003457" cy="25086"/>
            </a:xfrm>
            <a:custGeom>
              <a:avLst/>
              <a:gdLst/>
              <a:ahLst/>
              <a:cxnLst/>
              <a:rect r="r" b="b" t="t" l="l"/>
              <a:pathLst>
                <a:path h="25086" w="1003457">
                  <a:moveTo>
                    <a:pt x="0" y="0"/>
                  </a:moveTo>
                  <a:lnTo>
                    <a:pt x="1003457" y="0"/>
                  </a:lnTo>
                  <a:lnTo>
                    <a:pt x="1003457" y="25086"/>
                  </a:lnTo>
                  <a:lnTo>
                    <a:pt x="0" y="25086"/>
                  </a:lnTo>
                  <a:close/>
                </a:path>
              </a:pathLst>
            </a:custGeom>
            <a:solidFill>
              <a:srgbClr val="59524B"/>
            </a:solidFill>
          </p:spPr>
        </p:sp>
        <p:sp>
          <p:nvSpPr>
            <p:cNvPr name="TextBox 28" id="28"/>
            <p:cNvSpPr txBox="true"/>
            <p:nvPr/>
          </p:nvSpPr>
          <p:spPr>
            <a:xfrm>
              <a:off x="0" y="-38100"/>
              <a:ext cx="1003457" cy="63186"/>
            </a:xfrm>
            <a:prstGeom prst="rect">
              <a:avLst/>
            </a:prstGeom>
          </p:spPr>
          <p:txBody>
            <a:bodyPr anchor="ctr" rtlCol="false" tIns="50800" lIns="50800" bIns="50800" rIns="50800"/>
            <a:lstStyle/>
            <a:p>
              <a:pPr algn="ctr">
                <a:lnSpc>
                  <a:spcPts val="2659"/>
                </a:lnSpc>
              </a:pPr>
            </a:p>
          </p:txBody>
        </p:sp>
      </p:grpSp>
      <p:sp>
        <p:nvSpPr>
          <p:cNvPr name="Freeform 29" id="29"/>
          <p:cNvSpPr/>
          <p:nvPr/>
        </p:nvSpPr>
        <p:spPr>
          <a:xfrm flipH="false" flipV="false" rot="0">
            <a:off x="11420878" y="5308386"/>
            <a:ext cx="3142363" cy="820617"/>
          </a:xfrm>
          <a:custGeom>
            <a:avLst/>
            <a:gdLst/>
            <a:ahLst/>
            <a:cxnLst/>
            <a:rect r="r" b="b" t="t" l="l"/>
            <a:pathLst>
              <a:path h="820617" w="3142363">
                <a:moveTo>
                  <a:pt x="0" y="0"/>
                </a:moveTo>
                <a:lnTo>
                  <a:pt x="3142363" y="0"/>
                </a:lnTo>
                <a:lnTo>
                  <a:pt x="3142363" y="820618"/>
                </a:lnTo>
                <a:lnTo>
                  <a:pt x="0" y="820618"/>
                </a:lnTo>
                <a:lnTo>
                  <a:pt x="0" y="0"/>
                </a:lnTo>
                <a:close/>
              </a:path>
            </a:pathLst>
          </a:custGeom>
          <a:blipFill>
            <a:blip r:embed="rId7"/>
            <a:stretch>
              <a:fillRect l="0" t="0" r="0" b="0"/>
            </a:stretch>
          </a:blipFill>
        </p:spPr>
      </p:sp>
      <p:sp>
        <p:nvSpPr>
          <p:cNvPr name="TextBox 30" id="30"/>
          <p:cNvSpPr txBox="true"/>
          <p:nvPr/>
        </p:nvSpPr>
        <p:spPr>
          <a:xfrm rot="0">
            <a:off x="1110116" y="1112169"/>
            <a:ext cx="4363953" cy="995271"/>
          </a:xfrm>
          <a:prstGeom prst="rect">
            <a:avLst/>
          </a:prstGeom>
        </p:spPr>
        <p:txBody>
          <a:bodyPr anchor="t" rtlCol="false" tIns="0" lIns="0" bIns="0" rIns="0">
            <a:spAutoFit/>
          </a:bodyPr>
          <a:lstStyle/>
          <a:p>
            <a:pPr algn="l">
              <a:lnSpc>
                <a:spcPts val="8142"/>
              </a:lnSpc>
            </a:pPr>
            <a:r>
              <a:rPr lang="en-US" sz="5816">
                <a:solidFill>
                  <a:srgbClr val="E5C857"/>
                </a:solidFill>
                <a:latin typeface="Bebas Neue 1"/>
                <a:ea typeface="Bebas Neue 1"/>
                <a:cs typeface="Bebas Neue 1"/>
                <a:sym typeface="Bebas Neue 1"/>
              </a:rPr>
              <a:t>motor bldc</a:t>
            </a:r>
          </a:p>
        </p:txBody>
      </p:sp>
      <p:sp>
        <p:nvSpPr>
          <p:cNvPr name="TextBox 31" id="31"/>
          <p:cNvSpPr txBox="true"/>
          <p:nvPr/>
        </p:nvSpPr>
        <p:spPr>
          <a:xfrm rot="0">
            <a:off x="1051559" y="344178"/>
            <a:ext cx="4363953" cy="1000423"/>
          </a:xfrm>
          <a:prstGeom prst="rect">
            <a:avLst/>
          </a:prstGeom>
        </p:spPr>
        <p:txBody>
          <a:bodyPr anchor="t" rtlCol="false" tIns="0" lIns="0" bIns="0" rIns="0">
            <a:spAutoFit/>
          </a:bodyPr>
          <a:lstStyle/>
          <a:p>
            <a:pPr algn="ctr">
              <a:lnSpc>
                <a:spcPts val="8142"/>
              </a:lnSpc>
            </a:pPr>
            <a:r>
              <a:rPr lang="en-US" sz="5816">
                <a:solidFill>
                  <a:srgbClr val="59524B"/>
                </a:solidFill>
                <a:latin typeface="Bebas Neue 1"/>
                <a:ea typeface="Bebas Neue 1"/>
                <a:cs typeface="Bebas Neue 1"/>
                <a:sym typeface="Bebas Neue 1"/>
              </a:rPr>
              <a:t>tinjauan pustaka</a:t>
            </a:r>
          </a:p>
        </p:txBody>
      </p:sp>
      <p:sp>
        <p:nvSpPr>
          <p:cNvPr name="TextBox 32" id="32"/>
          <p:cNvSpPr txBox="true"/>
          <p:nvPr/>
        </p:nvSpPr>
        <p:spPr>
          <a:xfrm rot="0">
            <a:off x="432984" y="9043142"/>
            <a:ext cx="17422032" cy="1053465"/>
          </a:xfrm>
          <a:prstGeom prst="rect">
            <a:avLst/>
          </a:prstGeom>
        </p:spPr>
        <p:txBody>
          <a:bodyPr anchor="t" rtlCol="false" tIns="0" lIns="0" bIns="0" rIns="0">
            <a:spAutoFit/>
          </a:bodyPr>
          <a:lstStyle/>
          <a:p>
            <a:pPr algn="just">
              <a:lnSpc>
                <a:spcPts val="2799"/>
              </a:lnSpc>
            </a:pPr>
            <a:r>
              <a:rPr lang="en-US" b="true" sz="1999">
                <a:solidFill>
                  <a:srgbClr val="000000"/>
                </a:solidFill>
                <a:latin typeface="Poppins Bold"/>
                <a:ea typeface="Poppins Bold"/>
                <a:cs typeface="Poppins Bold"/>
                <a:sym typeface="Poppins Bold"/>
              </a:rPr>
              <a:t>Refrensi :</a:t>
            </a:r>
          </a:p>
          <a:p>
            <a:pPr algn="just" marL="280673" indent="-140336" lvl="1">
              <a:lnSpc>
                <a:spcPts val="1820"/>
              </a:lnSpc>
              <a:buFont typeface="Arial"/>
              <a:buChar char="•"/>
            </a:pPr>
            <a:r>
              <a:rPr lang="en-US" sz="1300">
                <a:solidFill>
                  <a:srgbClr val="000000"/>
                </a:solidFill>
                <a:latin typeface="Poppins"/>
                <a:ea typeface="Poppins"/>
                <a:cs typeface="Poppins"/>
                <a:sym typeface="Poppins"/>
              </a:rPr>
              <a:t>Xia, C. (2012). Permanent magnet brushless DC motor drives and controls [Electronic resource]. Wiley-Science Press.</a:t>
            </a:r>
          </a:p>
          <a:p>
            <a:pPr algn="just" marL="280673" indent="-140336" lvl="1">
              <a:lnSpc>
                <a:spcPts val="1820"/>
              </a:lnSpc>
              <a:buFont typeface="Arial"/>
              <a:buChar char="•"/>
            </a:pPr>
            <a:r>
              <a:rPr lang="en-US" sz="1300">
                <a:solidFill>
                  <a:srgbClr val="000000"/>
                </a:solidFill>
                <a:latin typeface="Poppins"/>
                <a:ea typeface="Poppins"/>
                <a:cs typeface="Poppins"/>
                <a:sym typeface="Poppins"/>
              </a:rPr>
              <a:t>.Talikoti, B. S., Chitguppa, D. M., Kumar, R., &amp; Karnik, M. (2025). Field Oriented Control of BLDC Motors for Unmanned Underwater Vehicle (UUV). 2025 11th International Conference on Automation, Robotics, and Applications (ICARA), 268–272. </a:t>
            </a:r>
            <a:r>
              <a:rPr lang="en-US" sz="1300" u="sng">
                <a:solidFill>
                  <a:srgbClr val="000000"/>
                </a:solidFill>
                <a:latin typeface="Poppins"/>
                <a:ea typeface="Poppins"/>
                <a:cs typeface="Poppins"/>
                <a:sym typeface="Poppins"/>
                <a:hlinkClick r:id="rId8" tooltip="https://doi.org/10.1109/ICARA64554.2025.10977625"/>
              </a:rPr>
              <a:t>https://doi.org/10.1109/ICARA64554.2025.10977625</a:t>
            </a:r>
          </a:p>
        </p:txBody>
      </p:sp>
      <p:sp>
        <p:nvSpPr>
          <p:cNvPr name="TextBox 33" id="33"/>
          <p:cNvSpPr txBox="true"/>
          <p:nvPr/>
        </p:nvSpPr>
        <p:spPr>
          <a:xfrm rot="0">
            <a:off x="5474068" y="2381037"/>
            <a:ext cx="7264035" cy="409575"/>
          </a:xfrm>
          <a:prstGeom prst="rect">
            <a:avLst/>
          </a:prstGeom>
        </p:spPr>
        <p:txBody>
          <a:bodyPr anchor="t" rtlCol="false" tIns="0" lIns="0" bIns="0" rIns="0">
            <a:spAutoFit/>
          </a:bodyPr>
          <a:lstStyle/>
          <a:p>
            <a:pPr algn="just">
              <a:lnSpc>
                <a:spcPts val="3120"/>
              </a:lnSpc>
            </a:pPr>
            <a:r>
              <a:rPr lang="en-US" b="true" sz="2600">
                <a:solidFill>
                  <a:srgbClr val="E5C857"/>
                </a:solidFill>
                <a:latin typeface="Poppins Bold"/>
                <a:ea typeface="Poppins Bold"/>
                <a:cs typeface="Poppins Bold"/>
                <a:sym typeface="Poppins Bold"/>
              </a:rPr>
              <a:t>Model BLDC sebagai acuan tiga fasa</a:t>
            </a:r>
          </a:p>
        </p:txBody>
      </p:sp>
      <p:sp>
        <p:nvSpPr>
          <p:cNvPr name="TextBox 34" id="34"/>
          <p:cNvSpPr txBox="true"/>
          <p:nvPr/>
        </p:nvSpPr>
        <p:spPr>
          <a:xfrm rot="0">
            <a:off x="5474068" y="4594011"/>
            <a:ext cx="5946810" cy="409575"/>
          </a:xfrm>
          <a:prstGeom prst="rect">
            <a:avLst/>
          </a:prstGeom>
        </p:spPr>
        <p:txBody>
          <a:bodyPr anchor="t" rtlCol="false" tIns="0" lIns="0" bIns="0" rIns="0">
            <a:spAutoFit/>
          </a:bodyPr>
          <a:lstStyle/>
          <a:p>
            <a:pPr algn="just">
              <a:lnSpc>
                <a:spcPts val="3120"/>
              </a:lnSpc>
            </a:pPr>
            <a:r>
              <a:rPr lang="en-US" b="true" sz="2600">
                <a:solidFill>
                  <a:srgbClr val="E5C857"/>
                </a:solidFill>
                <a:latin typeface="Poppins Bold"/>
                <a:ea typeface="Poppins Bold"/>
                <a:cs typeface="Poppins Bold"/>
                <a:sym typeface="Poppins Bold"/>
              </a:rPr>
              <a:t>Model BEMF Stator</a:t>
            </a:r>
          </a:p>
        </p:txBody>
      </p:sp>
      <p:sp>
        <p:nvSpPr>
          <p:cNvPr name="TextBox 35" id="35"/>
          <p:cNvSpPr txBox="true"/>
          <p:nvPr/>
        </p:nvSpPr>
        <p:spPr>
          <a:xfrm rot="0">
            <a:off x="9810112" y="6607445"/>
            <a:ext cx="6715608" cy="409575"/>
          </a:xfrm>
          <a:prstGeom prst="rect">
            <a:avLst/>
          </a:prstGeom>
        </p:spPr>
        <p:txBody>
          <a:bodyPr anchor="t" rtlCol="false" tIns="0" lIns="0" bIns="0" rIns="0">
            <a:spAutoFit/>
          </a:bodyPr>
          <a:lstStyle/>
          <a:p>
            <a:pPr algn="just">
              <a:lnSpc>
                <a:spcPts val="3120"/>
              </a:lnSpc>
            </a:pPr>
            <a:r>
              <a:rPr lang="en-US" b="true" sz="2600">
                <a:solidFill>
                  <a:srgbClr val="E5C857"/>
                </a:solidFill>
                <a:latin typeface="Poppins Bold"/>
                <a:ea typeface="Poppins Bold"/>
                <a:cs typeface="Poppins Bold"/>
                <a:sym typeface="Poppins Bold"/>
              </a:rPr>
              <a:t>Persamaan torsi elektromagnetik</a:t>
            </a:r>
          </a:p>
        </p:txBody>
      </p:sp>
      <p:sp>
        <p:nvSpPr>
          <p:cNvPr name="TextBox 36" id="36"/>
          <p:cNvSpPr txBox="true"/>
          <p:nvPr/>
        </p:nvSpPr>
        <p:spPr>
          <a:xfrm rot="0">
            <a:off x="11376170" y="4594011"/>
            <a:ext cx="5946810" cy="409575"/>
          </a:xfrm>
          <a:prstGeom prst="rect">
            <a:avLst/>
          </a:prstGeom>
        </p:spPr>
        <p:txBody>
          <a:bodyPr anchor="t" rtlCol="false" tIns="0" lIns="0" bIns="0" rIns="0">
            <a:spAutoFit/>
          </a:bodyPr>
          <a:lstStyle/>
          <a:p>
            <a:pPr algn="just">
              <a:lnSpc>
                <a:spcPts val="3120"/>
              </a:lnSpc>
            </a:pPr>
            <a:r>
              <a:rPr lang="en-US" b="true" sz="2600">
                <a:solidFill>
                  <a:srgbClr val="E5C857"/>
                </a:solidFill>
                <a:latin typeface="Poppins Bold"/>
                <a:ea typeface="Poppins Bold"/>
                <a:cs typeface="Poppins Bold"/>
                <a:sym typeface="Poppins Bold"/>
              </a:rPr>
              <a:t>Persamaan </a:t>
            </a:r>
            <a:r>
              <a:rPr lang="en-US" b="true" sz="2600" i="true">
                <a:solidFill>
                  <a:srgbClr val="E5C857"/>
                </a:solidFill>
                <a:latin typeface="Poppins Bold Italics"/>
                <a:ea typeface="Poppins Bold Italics"/>
                <a:cs typeface="Poppins Bold Italics"/>
                <a:sym typeface="Poppins Bold Italics"/>
              </a:rPr>
              <a:t>motion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5313" y="464654"/>
            <a:ext cx="6455790" cy="1523631"/>
            <a:chOff x="0" y="0"/>
            <a:chExt cx="2300538" cy="542950"/>
          </a:xfrm>
        </p:grpSpPr>
        <p:sp>
          <p:nvSpPr>
            <p:cNvPr name="Freeform 3" id="3"/>
            <p:cNvSpPr/>
            <p:nvPr/>
          </p:nvSpPr>
          <p:spPr>
            <a:xfrm flipH="false" flipV="false" rot="0">
              <a:off x="0" y="0"/>
              <a:ext cx="2300538" cy="542950"/>
            </a:xfrm>
            <a:custGeom>
              <a:avLst/>
              <a:gdLst/>
              <a:ahLst/>
              <a:cxnLst/>
              <a:rect r="r" b="b" t="t" l="l"/>
              <a:pathLst>
                <a:path h="542950" w="2300538">
                  <a:moveTo>
                    <a:pt x="2097338" y="0"/>
                  </a:moveTo>
                  <a:cubicBezTo>
                    <a:pt x="2209563" y="0"/>
                    <a:pt x="2300538" y="121543"/>
                    <a:pt x="2300538" y="271475"/>
                  </a:cubicBezTo>
                  <a:cubicBezTo>
                    <a:pt x="2300538" y="421406"/>
                    <a:pt x="2209563" y="542950"/>
                    <a:pt x="2097338" y="542950"/>
                  </a:cubicBezTo>
                  <a:lnTo>
                    <a:pt x="203200" y="542950"/>
                  </a:lnTo>
                  <a:cubicBezTo>
                    <a:pt x="90976" y="542950"/>
                    <a:pt x="0" y="421406"/>
                    <a:pt x="0" y="271475"/>
                  </a:cubicBezTo>
                  <a:cubicBezTo>
                    <a:pt x="0" y="121543"/>
                    <a:pt x="90976" y="0"/>
                    <a:pt x="203200" y="0"/>
                  </a:cubicBezTo>
                  <a:close/>
                </a:path>
              </a:pathLst>
            </a:custGeom>
            <a:solidFill>
              <a:srgbClr val="F2F2F2"/>
            </a:solidFill>
          </p:spPr>
        </p:sp>
        <p:sp>
          <p:nvSpPr>
            <p:cNvPr name="TextBox 4" id="4"/>
            <p:cNvSpPr txBox="true"/>
            <p:nvPr/>
          </p:nvSpPr>
          <p:spPr>
            <a:xfrm>
              <a:off x="0" y="-38100"/>
              <a:ext cx="2300538" cy="5810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809625" y="9163050"/>
            <a:ext cx="16668750" cy="95250"/>
            <a:chOff x="0" y="0"/>
            <a:chExt cx="4390123" cy="25086"/>
          </a:xfrm>
        </p:grpSpPr>
        <p:sp>
          <p:nvSpPr>
            <p:cNvPr name="Freeform 6" id="6"/>
            <p:cNvSpPr/>
            <p:nvPr/>
          </p:nvSpPr>
          <p:spPr>
            <a:xfrm flipH="false" flipV="false" rot="0">
              <a:off x="0" y="0"/>
              <a:ext cx="4390124" cy="25086"/>
            </a:xfrm>
            <a:custGeom>
              <a:avLst/>
              <a:gdLst/>
              <a:ahLst/>
              <a:cxnLst/>
              <a:rect r="r" b="b" t="t" l="l"/>
              <a:pathLst>
                <a:path h="25086" w="4390124">
                  <a:moveTo>
                    <a:pt x="0" y="0"/>
                  </a:moveTo>
                  <a:lnTo>
                    <a:pt x="4390124" y="0"/>
                  </a:lnTo>
                  <a:lnTo>
                    <a:pt x="4390124" y="25086"/>
                  </a:lnTo>
                  <a:lnTo>
                    <a:pt x="0" y="25086"/>
                  </a:lnTo>
                  <a:close/>
                </a:path>
              </a:pathLst>
            </a:custGeom>
            <a:solidFill>
              <a:srgbClr val="59524B"/>
            </a:solidFill>
          </p:spPr>
        </p:sp>
        <p:sp>
          <p:nvSpPr>
            <p:cNvPr name="TextBox 7" id="7"/>
            <p:cNvSpPr txBox="true"/>
            <p:nvPr/>
          </p:nvSpPr>
          <p:spPr>
            <a:xfrm>
              <a:off x="0" y="-38100"/>
              <a:ext cx="4390123" cy="63186"/>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3038174" y="458478"/>
            <a:ext cx="4563040" cy="1140443"/>
            <a:chOff x="0" y="0"/>
            <a:chExt cx="6084053" cy="1520591"/>
          </a:xfrm>
        </p:grpSpPr>
        <p:grpSp>
          <p:nvGrpSpPr>
            <p:cNvPr name="Group 9" id="9"/>
            <p:cNvGrpSpPr/>
            <p:nvPr/>
          </p:nvGrpSpPr>
          <p:grpSpPr>
            <a:xfrm rot="0">
              <a:off x="0" y="0"/>
              <a:ext cx="6084053" cy="1520591"/>
              <a:chOff x="0" y="0"/>
              <a:chExt cx="1626052" cy="406400"/>
            </a:xfrm>
          </p:grpSpPr>
          <p:sp>
            <p:nvSpPr>
              <p:cNvPr name="Freeform 10" id="10"/>
              <p:cNvSpPr/>
              <p:nvPr/>
            </p:nvSpPr>
            <p:spPr>
              <a:xfrm flipH="false" flipV="false" rot="0">
                <a:off x="0" y="0"/>
                <a:ext cx="1626052" cy="406400"/>
              </a:xfrm>
              <a:custGeom>
                <a:avLst/>
                <a:gdLst/>
                <a:ahLst/>
                <a:cxnLst/>
                <a:rect r="r" b="b" t="t" l="l"/>
                <a:pathLst>
                  <a:path h="406400" w="1626052">
                    <a:moveTo>
                      <a:pt x="1422852" y="0"/>
                    </a:moveTo>
                    <a:cubicBezTo>
                      <a:pt x="1535076" y="0"/>
                      <a:pt x="1626052" y="90976"/>
                      <a:pt x="1626052" y="203200"/>
                    </a:cubicBezTo>
                    <a:cubicBezTo>
                      <a:pt x="1626052" y="315424"/>
                      <a:pt x="1535076" y="406400"/>
                      <a:pt x="1422852"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11" id="11"/>
              <p:cNvSpPr txBox="true"/>
              <p:nvPr/>
            </p:nvSpPr>
            <p:spPr>
              <a:xfrm>
                <a:off x="0" y="-38100"/>
                <a:ext cx="1626052" cy="444500"/>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414535" y="124612"/>
              <a:ext cx="5254984" cy="1271367"/>
            </a:xfrm>
            <a:custGeom>
              <a:avLst/>
              <a:gdLst/>
              <a:ahLst/>
              <a:cxnLst/>
              <a:rect r="r" b="b" t="t" l="l"/>
              <a:pathLst>
                <a:path h="1271367" w="5254984">
                  <a:moveTo>
                    <a:pt x="0" y="0"/>
                  </a:moveTo>
                  <a:lnTo>
                    <a:pt x="5254983" y="0"/>
                  </a:lnTo>
                  <a:lnTo>
                    <a:pt x="5254983" y="1271367"/>
                  </a:lnTo>
                  <a:lnTo>
                    <a:pt x="0" y="1271367"/>
                  </a:lnTo>
                  <a:lnTo>
                    <a:pt x="0" y="0"/>
                  </a:lnTo>
                  <a:close/>
                </a:path>
              </a:pathLst>
            </a:custGeom>
            <a:blipFill>
              <a:blip r:embed="rId2"/>
              <a:stretch>
                <a:fillRect l="0" t="0" r="0" b="0"/>
              </a:stretch>
            </a:blipFill>
          </p:spPr>
        </p:sp>
      </p:grpSp>
      <p:sp>
        <p:nvSpPr>
          <p:cNvPr name="Freeform 13" id="13"/>
          <p:cNvSpPr/>
          <p:nvPr/>
        </p:nvSpPr>
        <p:spPr>
          <a:xfrm flipH="false" flipV="false" rot="0">
            <a:off x="1726891" y="5713518"/>
            <a:ext cx="6839738" cy="3138233"/>
          </a:xfrm>
          <a:custGeom>
            <a:avLst/>
            <a:gdLst/>
            <a:ahLst/>
            <a:cxnLst/>
            <a:rect r="r" b="b" t="t" l="l"/>
            <a:pathLst>
              <a:path h="3138233" w="6839738">
                <a:moveTo>
                  <a:pt x="0" y="0"/>
                </a:moveTo>
                <a:lnTo>
                  <a:pt x="6839737" y="0"/>
                </a:lnTo>
                <a:lnTo>
                  <a:pt x="6839737" y="3138233"/>
                </a:lnTo>
                <a:lnTo>
                  <a:pt x="0" y="3138233"/>
                </a:lnTo>
                <a:lnTo>
                  <a:pt x="0" y="0"/>
                </a:lnTo>
                <a:close/>
              </a:path>
            </a:pathLst>
          </a:custGeom>
          <a:blipFill>
            <a:blip r:embed="rId3"/>
            <a:stretch>
              <a:fillRect l="0" t="0" r="0" b="0"/>
            </a:stretch>
          </a:blipFill>
        </p:spPr>
      </p:sp>
      <p:grpSp>
        <p:nvGrpSpPr>
          <p:cNvPr name="Group 14" id="14"/>
          <p:cNvGrpSpPr/>
          <p:nvPr/>
        </p:nvGrpSpPr>
        <p:grpSpPr>
          <a:xfrm rot="0">
            <a:off x="9406157" y="2626474"/>
            <a:ext cx="4762500" cy="95250"/>
            <a:chOff x="0" y="0"/>
            <a:chExt cx="1254321" cy="25086"/>
          </a:xfrm>
        </p:grpSpPr>
        <p:sp>
          <p:nvSpPr>
            <p:cNvPr name="Freeform 15" id="15"/>
            <p:cNvSpPr/>
            <p:nvPr/>
          </p:nvSpPr>
          <p:spPr>
            <a:xfrm flipH="false" flipV="false" rot="0">
              <a:off x="0" y="0"/>
              <a:ext cx="1254321" cy="25086"/>
            </a:xfrm>
            <a:custGeom>
              <a:avLst/>
              <a:gdLst/>
              <a:ahLst/>
              <a:cxnLst/>
              <a:rect r="r" b="b" t="t" l="l"/>
              <a:pathLst>
                <a:path h="25086" w="1254321">
                  <a:moveTo>
                    <a:pt x="0" y="0"/>
                  </a:moveTo>
                  <a:lnTo>
                    <a:pt x="1254321" y="0"/>
                  </a:lnTo>
                  <a:lnTo>
                    <a:pt x="1254321" y="25086"/>
                  </a:lnTo>
                  <a:lnTo>
                    <a:pt x="0" y="25086"/>
                  </a:lnTo>
                  <a:close/>
                </a:path>
              </a:pathLst>
            </a:custGeom>
            <a:solidFill>
              <a:srgbClr val="59524B"/>
            </a:solidFill>
          </p:spPr>
        </p:sp>
        <p:sp>
          <p:nvSpPr>
            <p:cNvPr name="TextBox 16" id="16"/>
            <p:cNvSpPr txBox="true"/>
            <p:nvPr/>
          </p:nvSpPr>
          <p:spPr>
            <a:xfrm>
              <a:off x="0" y="-38100"/>
              <a:ext cx="1254321" cy="63186"/>
            </a:xfrm>
            <a:prstGeom prst="rect">
              <a:avLst/>
            </a:prstGeom>
          </p:spPr>
          <p:txBody>
            <a:bodyPr anchor="ctr" rtlCol="false" tIns="50800" lIns="50800" bIns="50800" rIns="50800"/>
            <a:lstStyle/>
            <a:p>
              <a:pPr algn="ctr">
                <a:lnSpc>
                  <a:spcPts val="2659"/>
                </a:lnSpc>
              </a:pPr>
            </a:p>
          </p:txBody>
        </p:sp>
      </p:grpSp>
      <p:sp>
        <p:nvSpPr>
          <p:cNvPr name="Freeform 17" id="17"/>
          <p:cNvSpPr/>
          <p:nvPr/>
        </p:nvSpPr>
        <p:spPr>
          <a:xfrm flipH="false" flipV="false" rot="0">
            <a:off x="1028700" y="2228551"/>
            <a:ext cx="7876388" cy="3173669"/>
          </a:xfrm>
          <a:custGeom>
            <a:avLst/>
            <a:gdLst/>
            <a:ahLst/>
            <a:cxnLst/>
            <a:rect r="r" b="b" t="t" l="l"/>
            <a:pathLst>
              <a:path h="3173669" w="7876388">
                <a:moveTo>
                  <a:pt x="0" y="0"/>
                </a:moveTo>
                <a:lnTo>
                  <a:pt x="7876388" y="0"/>
                </a:lnTo>
                <a:lnTo>
                  <a:pt x="7876388" y="3173668"/>
                </a:lnTo>
                <a:lnTo>
                  <a:pt x="0" y="3173668"/>
                </a:lnTo>
                <a:lnTo>
                  <a:pt x="0" y="0"/>
                </a:lnTo>
                <a:close/>
              </a:path>
            </a:pathLst>
          </a:custGeom>
          <a:blipFill>
            <a:blip r:embed="rId4"/>
            <a:stretch>
              <a:fillRect l="0" t="0" r="0" b="0"/>
            </a:stretch>
          </a:blipFill>
        </p:spPr>
      </p:sp>
      <p:sp>
        <p:nvSpPr>
          <p:cNvPr name="TextBox 18" id="18"/>
          <p:cNvSpPr txBox="true"/>
          <p:nvPr/>
        </p:nvSpPr>
        <p:spPr>
          <a:xfrm rot="0">
            <a:off x="1110116" y="1112169"/>
            <a:ext cx="6131874" cy="995271"/>
          </a:xfrm>
          <a:prstGeom prst="rect">
            <a:avLst/>
          </a:prstGeom>
        </p:spPr>
        <p:txBody>
          <a:bodyPr anchor="t" rtlCol="false" tIns="0" lIns="0" bIns="0" rIns="0">
            <a:spAutoFit/>
          </a:bodyPr>
          <a:lstStyle/>
          <a:p>
            <a:pPr algn="l">
              <a:lnSpc>
                <a:spcPts val="8142"/>
              </a:lnSpc>
            </a:pPr>
            <a:r>
              <a:rPr lang="en-US" sz="5816">
                <a:solidFill>
                  <a:srgbClr val="E5C857"/>
                </a:solidFill>
                <a:latin typeface="Bebas Neue 1"/>
                <a:ea typeface="Bebas Neue 1"/>
                <a:cs typeface="Bebas Neue 1"/>
                <a:sym typeface="Bebas Neue 1"/>
              </a:rPr>
              <a:t>Field oriented control</a:t>
            </a:r>
          </a:p>
        </p:txBody>
      </p:sp>
      <p:sp>
        <p:nvSpPr>
          <p:cNvPr name="TextBox 19" id="19"/>
          <p:cNvSpPr txBox="true"/>
          <p:nvPr/>
        </p:nvSpPr>
        <p:spPr>
          <a:xfrm rot="0">
            <a:off x="1051559" y="344178"/>
            <a:ext cx="4363953" cy="1000423"/>
          </a:xfrm>
          <a:prstGeom prst="rect">
            <a:avLst/>
          </a:prstGeom>
        </p:spPr>
        <p:txBody>
          <a:bodyPr anchor="t" rtlCol="false" tIns="0" lIns="0" bIns="0" rIns="0">
            <a:spAutoFit/>
          </a:bodyPr>
          <a:lstStyle/>
          <a:p>
            <a:pPr algn="ctr">
              <a:lnSpc>
                <a:spcPts val="8142"/>
              </a:lnSpc>
            </a:pPr>
            <a:r>
              <a:rPr lang="en-US" sz="5816">
                <a:solidFill>
                  <a:srgbClr val="59524B"/>
                </a:solidFill>
                <a:latin typeface="Bebas Neue 1"/>
                <a:ea typeface="Bebas Neue 1"/>
                <a:cs typeface="Bebas Neue 1"/>
                <a:sym typeface="Bebas Neue 1"/>
              </a:rPr>
              <a:t>tinjauan pustaka</a:t>
            </a:r>
          </a:p>
        </p:txBody>
      </p:sp>
      <p:sp>
        <p:nvSpPr>
          <p:cNvPr name="TextBox 20" id="20"/>
          <p:cNvSpPr txBox="true"/>
          <p:nvPr/>
        </p:nvSpPr>
        <p:spPr>
          <a:xfrm rot="0">
            <a:off x="432984" y="9324000"/>
            <a:ext cx="17422032" cy="824865"/>
          </a:xfrm>
          <a:prstGeom prst="rect">
            <a:avLst/>
          </a:prstGeom>
        </p:spPr>
        <p:txBody>
          <a:bodyPr anchor="t" rtlCol="false" tIns="0" lIns="0" bIns="0" rIns="0">
            <a:spAutoFit/>
          </a:bodyPr>
          <a:lstStyle/>
          <a:p>
            <a:pPr algn="just">
              <a:lnSpc>
                <a:spcPts val="2799"/>
              </a:lnSpc>
            </a:pPr>
            <a:r>
              <a:rPr lang="en-US" b="true" sz="1999">
                <a:solidFill>
                  <a:srgbClr val="000000"/>
                </a:solidFill>
                <a:latin typeface="Poppins Bold"/>
                <a:ea typeface="Poppins Bold"/>
                <a:cs typeface="Poppins Bold"/>
                <a:sym typeface="Poppins Bold"/>
              </a:rPr>
              <a:t>Refrensi :</a:t>
            </a:r>
          </a:p>
          <a:p>
            <a:pPr algn="just" marL="280673" indent="-140336" lvl="1">
              <a:lnSpc>
                <a:spcPts val="1820"/>
              </a:lnSpc>
              <a:buFont typeface="Arial"/>
              <a:buChar char="•"/>
            </a:pPr>
            <a:r>
              <a:rPr lang="en-US" sz="1300">
                <a:solidFill>
                  <a:srgbClr val="000000"/>
                </a:solidFill>
                <a:latin typeface="Poppins"/>
                <a:ea typeface="Poppins"/>
                <a:cs typeface="Poppins"/>
                <a:sym typeface="Poppins"/>
              </a:rPr>
              <a:t>A</a:t>
            </a:r>
            <a:r>
              <a:rPr lang="en-US" sz="1300">
                <a:solidFill>
                  <a:srgbClr val="000000"/>
                </a:solidFill>
                <a:latin typeface="Poppins"/>
                <a:ea typeface="Poppins"/>
                <a:cs typeface="Poppins"/>
                <a:sym typeface="Poppins"/>
              </a:rPr>
              <a:t>rif, A.H., Muslim, M.A. and Yudaingtyas, E. (2024) 'Sensorless field-oriented control (FOC) using sliding mode observer for BLDC motor', KINETIK: Game Technology, Information System, Computer Network, Computing, Electronics, and Control, 9(2), pp.139-148.</a:t>
            </a:r>
          </a:p>
        </p:txBody>
      </p:sp>
      <p:sp>
        <p:nvSpPr>
          <p:cNvPr name="TextBox 21" id="21"/>
          <p:cNvSpPr txBox="true"/>
          <p:nvPr/>
        </p:nvSpPr>
        <p:spPr>
          <a:xfrm rot="0">
            <a:off x="9406157" y="2078865"/>
            <a:ext cx="7264035" cy="485775"/>
          </a:xfrm>
          <a:prstGeom prst="rect">
            <a:avLst/>
          </a:prstGeom>
        </p:spPr>
        <p:txBody>
          <a:bodyPr anchor="t" rtlCol="false" tIns="0" lIns="0" bIns="0" rIns="0">
            <a:spAutoFit/>
          </a:bodyPr>
          <a:lstStyle/>
          <a:p>
            <a:pPr algn="just">
              <a:lnSpc>
                <a:spcPts val="3600"/>
              </a:lnSpc>
            </a:pPr>
            <a:r>
              <a:rPr lang="en-US" b="true" sz="3000">
                <a:solidFill>
                  <a:srgbClr val="E5C857"/>
                </a:solidFill>
                <a:latin typeface="Poppins Bold"/>
                <a:ea typeface="Poppins Bold"/>
                <a:cs typeface="Poppins Bold"/>
                <a:sym typeface="Poppins Bold"/>
              </a:rPr>
              <a:t>Langkah Kerja FOC</a:t>
            </a:r>
          </a:p>
        </p:txBody>
      </p:sp>
      <p:sp>
        <p:nvSpPr>
          <p:cNvPr name="TextBox 22" id="22"/>
          <p:cNvSpPr txBox="true"/>
          <p:nvPr/>
        </p:nvSpPr>
        <p:spPr>
          <a:xfrm rot="0">
            <a:off x="9406157" y="2928678"/>
            <a:ext cx="7853143" cy="962025"/>
          </a:xfrm>
          <a:prstGeom prst="rect">
            <a:avLst/>
          </a:prstGeom>
        </p:spPr>
        <p:txBody>
          <a:bodyPr anchor="t" rtlCol="false" tIns="0" lIns="0" bIns="0" rIns="0">
            <a:spAutoFit/>
          </a:bodyPr>
          <a:lstStyle/>
          <a:p>
            <a:pPr algn="just">
              <a:lnSpc>
                <a:spcPts val="2640"/>
              </a:lnSpc>
            </a:pPr>
            <a:r>
              <a:rPr lang="en-US" sz="2200" b="true">
                <a:solidFill>
                  <a:srgbClr val="E5C857"/>
                </a:solidFill>
                <a:latin typeface="Poppins Bold"/>
                <a:ea typeface="Poppins Bold"/>
                <a:cs typeface="Poppins Bold"/>
                <a:sym typeface="Poppins Bold"/>
              </a:rPr>
              <a:t>Transformasi Clarke </a:t>
            </a:r>
          </a:p>
          <a:p>
            <a:pPr algn="just">
              <a:lnSpc>
                <a:spcPts val="2400"/>
              </a:lnSpc>
            </a:pPr>
            <a:r>
              <a:rPr lang="en-US" sz="2000">
                <a:solidFill>
                  <a:srgbClr val="000000"/>
                </a:solidFill>
                <a:latin typeface="Poppins"/>
                <a:ea typeface="Poppins"/>
                <a:cs typeface="Poppins"/>
                <a:sym typeface="Poppins"/>
              </a:rPr>
              <a:t>Arus tiga fasa pengukuran stator berupa arus referensi A,B,C diubah menjadi arus dua fasa alpha, beta</a:t>
            </a:r>
          </a:p>
        </p:txBody>
      </p:sp>
      <p:sp>
        <p:nvSpPr>
          <p:cNvPr name="TextBox 23" id="23"/>
          <p:cNvSpPr txBox="true"/>
          <p:nvPr/>
        </p:nvSpPr>
        <p:spPr>
          <a:xfrm rot="0">
            <a:off x="9406157" y="4252653"/>
            <a:ext cx="7853143" cy="1266825"/>
          </a:xfrm>
          <a:prstGeom prst="rect">
            <a:avLst/>
          </a:prstGeom>
        </p:spPr>
        <p:txBody>
          <a:bodyPr anchor="t" rtlCol="false" tIns="0" lIns="0" bIns="0" rIns="0">
            <a:spAutoFit/>
          </a:bodyPr>
          <a:lstStyle/>
          <a:p>
            <a:pPr algn="just">
              <a:lnSpc>
                <a:spcPts val="2640"/>
              </a:lnSpc>
            </a:pPr>
            <a:r>
              <a:rPr lang="en-US" sz="2200" b="true">
                <a:solidFill>
                  <a:srgbClr val="E5C857"/>
                </a:solidFill>
                <a:latin typeface="Poppins Bold"/>
                <a:ea typeface="Poppins Bold"/>
                <a:cs typeface="Poppins Bold"/>
                <a:sym typeface="Poppins Bold"/>
              </a:rPr>
              <a:t>Transformasi Park</a:t>
            </a:r>
          </a:p>
          <a:p>
            <a:pPr algn="just">
              <a:lnSpc>
                <a:spcPts val="2400"/>
              </a:lnSpc>
            </a:pPr>
            <a:r>
              <a:rPr lang="en-US" sz="2000">
                <a:solidFill>
                  <a:srgbClr val="000000"/>
                </a:solidFill>
                <a:latin typeface="Poppins"/>
                <a:ea typeface="Poppins"/>
                <a:cs typeface="Poppins"/>
                <a:sym typeface="Poppins"/>
              </a:rPr>
              <a:t>Arus fasa alpha, beta diubah menjadi arus dua sumbu dalam kerangka acuan berputar, yaitu arus direct axis (</a:t>
            </a:r>
            <a:r>
              <a:rPr lang="en-US" sz="2000" i="true">
                <a:solidFill>
                  <a:srgbClr val="000000"/>
                </a:solidFill>
                <a:latin typeface="Poppins Italics"/>
                <a:ea typeface="Poppins Italics"/>
                <a:cs typeface="Poppins Italics"/>
                <a:sym typeface="Poppins Italics"/>
              </a:rPr>
              <a:t>d</a:t>
            </a:r>
            <a:r>
              <a:rPr lang="en-US" sz="2000">
                <a:solidFill>
                  <a:srgbClr val="000000"/>
                </a:solidFill>
                <a:latin typeface="Poppins"/>
                <a:ea typeface="Poppins"/>
                <a:cs typeface="Poppins"/>
                <a:sym typeface="Poppins"/>
              </a:rPr>
              <a:t>) dan quadrature axis (</a:t>
            </a:r>
            <a:r>
              <a:rPr lang="en-US" sz="2000" i="true">
                <a:solidFill>
                  <a:srgbClr val="000000"/>
                </a:solidFill>
                <a:latin typeface="Poppins Italics"/>
                <a:ea typeface="Poppins Italics"/>
                <a:cs typeface="Poppins Italics"/>
                <a:sym typeface="Poppins Italics"/>
              </a:rPr>
              <a:t>q</a:t>
            </a:r>
            <a:r>
              <a:rPr lang="en-US" sz="2000">
                <a:solidFill>
                  <a:srgbClr val="000000"/>
                </a:solidFill>
                <a:latin typeface="Poppins"/>
                <a:ea typeface="Poppins"/>
                <a:cs typeface="Poppins"/>
                <a:sym typeface="Poppins"/>
              </a:rPr>
              <a:t>)</a:t>
            </a:r>
          </a:p>
        </p:txBody>
      </p:sp>
      <p:sp>
        <p:nvSpPr>
          <p:cNvPr name="TextBox 24" id="24"/>
          <p:cNvSpPr txBox="true"/>
          <p:nvPr/>
        </p:nvSpPr>
        <p:spPr>
          <a:xfrm rot="0">
            <a:off x="9406157" y="5881428"/>
            <a:ext cx="7853143" cy="1266825"/>
          </a:xfrm>
          <a:prstGeom prst="rect">
            <a:avLst/>
          </a:prstGeom>
        </p:spPr>
        <p:txBody>
          <a:bodyPr anchor="t" rtlCol="false" tIns="0" lIns="0" bIns="0" rIns="0">
            <a:spAutoFit/>
          </a:bodyPr>
          <a:lstStyle/>
          <a:p>
            <a:pPr algn="just">
              <a:lnSpc>
                <a:spcPts val="2640"/>
              </a:lnSpc>
            </a:pPr>
            <a:r>
              <a:rPr lang="en-US" sz="2200" b="true">
                <a:solidFill>
                  <a:srgbClr val="E5C857"/>
                </a:solidFill>
                <a:latin typeface="Poppins Bold"/>
                <a:ea typeface="Poppins Bold"/>
                <a:cs typeface="Poppins Bold"/>
                <a:sym typeface="Poppins Bold"/>
              </a:rPr>
              <a:t>PI Controler</a:t>
            </a:r>
          </a:p>
          <a:p>
            <a:pPr algn="just">
              <a:lnSpc>
                <a:spcPts val="2400"/>
              </a:lnSpc>
            </a:pPr>
            <a:r>
              <a:rPr lang="en-US" sz="2000">
                <a:solidFill>
                  <a:srgbClr val="000000"/>
                </a:solidFill>
                <a:latin typeface="Poppins"/>
                <a:ea typeface="Poppins"/>
                <a:cs typeface="Poppins"/>
                <a:sym typeface="Poppins"/>
              </a:rPr>
              <a:t>Arus sumbu-</a:t>
            </a:r>
            <a:r>
              <a:rPr lang="en-US" sz="2000" i="true">
                <a:solidFill>
                  <a:srgbClr val="000000"/>
                </a:solidFill>
                <a:latin typeface="Poppins Italics"/>
                <a:ea typeface="Poppins Italics"/>
                <a:cs typeface="Poppins Italics"/>
                <a:sym typeface="Poppins Italics"/>
              </a:rPr>
              <a:t>d</a:t>
            </a:r>
            <a:r>
              <a:rPr lang="en-US" sz="2000">
                <a:solidFill>
                  <a:srgbClr val="000000"/>
                </a:solidFill>
                <a:latin typeface="Poppins"/>
                <a:ea typeface="Poppins"/>
                <a:cs typeface="Poppins"/>
                <a:sym typeface="Poppins"/>
              </a:rPr>
              <a:t> dibandingkan dengan referensi fluks (id = 0)</a:t>
            </a:r>
          </a:p>
          <a:p>
            <a:pPr algn="just">
              <a:lnSpc>
                <a:spcPts val="2400"/>
              </a:lnSpc>
            </a:pPr>
            <a:r>
              <a:rPr lang="en-US" sz="2000">
                <a:solidFill>
                  <a:srgbClr val="000000"/>
                </a:solidFill>
                <a:latin typeface="Poppins"/>
                <a:ea typeface="Poppins"/>
                <a:cs typeface="Poppins"/>
                <a:sym typeface="Poppins"/>
              </a:rPr>
              <a:t>Arus sumbu-</a:t>
            </a:r>
            <a:r>
              <a:rPr lang="en-US" sz="2000" i="true">
                <a:solidFill>
                  <a:srgbClr val="000000"/>
                </a:solidFill>
                <a:latin typeface="Poppins Italics"/>
                <a:ea typeface="Poppins Italics"/>
                <a:cs typeface="Poppins Italics"/>
                <a:sym typeface="Poppins Italics"/>
              </a:rPr>
              <a:t>q</a:t>
            </a:r>
            <a:r>
              <a:rPr lang="en-US" sz="2000">
                <a:solidFill>
                  <a:srgbClr val="000000"/>
                </a:solidFill>
                <a:latin typeface="Poppins"/>
                <a:ea typeface="Poppins"/>
                <a:cs typeface="Poppins"/>
                <a:sym typeface="Poppins"/>
              </a:rPr>
              <a:t> dibandingkan dengan referensi kecepatan rotor </a:t>
            </a:r>
          </a:p>
        </p:txBody>
      </p:sp>
      <p:sp>
        <p:nvSpPr>
          <p:cNvPr name="TextBox 25" id="25"/>
          <p:cNvSpPr txBox="true"/>
          <p:nvPr/>
        </p:nvSpPr>
        <p:spPr>
          <a:xfrm rot="0">
            <a:off x="9406157" y="7510203"/>
            <a:ext cx="7853143" cy="1266825"/>
          </a:xfrm>
          <a:prstGeom prst="rect">
            <a:avLst/>
          </a:prstGeom>
        </p:spPr>
        <p:txBody>
          <a:bodyPr anchor="t" rtlCol="false" tIns="0" lIns="0" bIns="0" rIns="0">
            <a:spAutoFit/>
          </a:bodyPr>
          <a:lstStyle/>
          <a:p>
            <a:pPr algn="just">
              <a:lnSpc>
                <a:spcPts val="2640"/>
              </a:lnSpc>
            </a:pPr>
            <a:r>
              <a:rPr lang="en-US" sz="2200" b="true">
                <a:solidFill>
                  <a:srgbClr val="E5C857"/>
                </a:solidFill>
                <a:latin typeface="Poppins Bold"/>
                <a:ea typeface="Poppins Bold"/>
                <a:cs typeface="Poppins Bold"/>
                <a:sym typeface="Poppins Bold"/>
              </a:rPr>
              <a:t>Transformasi Inverse Park</a:t>
            </a:r>
          </a:p>
          <a:p>
            <a:pPr algn="just">
              <a:lnSpc>
                <a:spcPts val="2400"/>
              </a:lnSpc>
            </a:pPr>
            <a:r>
              <a:rPr lang="en-US" sz="2000">
                <a:solidFill>
                  <a:srgbClr val="000000"/>
                </a:solidFill>
                <a:latin typeface="Poppins"/>
                <a:ea typeface="Poppins"/>
                <a:cs typeface="Poppins"/>
                <a:sym typeface="Poppins"/>
              </a:rPr>
              <a:t>Tegangan kontrol dalam kerangka berputar (U</a:t>
            </a:r>
            <a:r>
              <a:rPr lang="en-US" sz="2000" i="true">
                <a:solidFill>
                  <a:srgbClr val="000000"/>
                </a:solidFill>
                <a:latin typeface="Poppins Italics"/>
                <a:ea typeface="Poppins Italics"/>
                <a:cs typeface="Poppins Italics"/>
                <a:sym typeface="Poppins Italics"/>
              </a:rPr>
              <a:t>d</a:t>
            </a:r>
            <a:r>
              <a:rPr lang="en-US" sz="2000">
                <a:solidFill>
                  <a:srgbClr val="000000"/>
                </a:solidFill>
                <a:latin typeface="Poppins"/>
                <a:ea typeface="Poppins"/>
                <a:cs typeface="Poppins"/>
                <a:sym typeface="Poppins"/>
              </a:rPr>
              <a:t>, U</a:t>
            </a:r>
            <a:r>
              <a:rPr lang="en-US" sz="2000" i="true">
                <a:solidFill>
                  <a:srgbClr val="000000"/>
                </a:solidFill>
                <a:latin typeface="Poppins Italics"/>
                <a:ea typeface="Poppins Italics"/>
                <a:cs typeface="Poppins Italics"/>
                <a:sym typeface="Poppins Italics"/>
              </a:rPr>
              <a:t>q</a:t>
            </a:r>
            <a:r>
              <a:rPr lang="en-US" sz="2000">
                <a:solidFill>
                  <a:srgbClr val="000000"/>
                </a:solidFill>
                <a:latin typeface="Poppins"/>
                <a:ea typeface="Poppins"/>
                <a:cs typeface="Poppins"/>
                <a:sym typeface="Poppins"/>
              </a:rPr>
              <a:t>) dikonversi kembali ke kerangka stasioner (U</a:t>
            </a:r>
            <a:r>
              <a:rPr lang="en-US" sz="2000" i="true">
                <a:solidFill>
                  <a:srgbClr val="000000"/>
                </a:solidFill>
                <a:latin typeface="Poppins Italics"/>
                <a:ea typeface="Poppins Italics"/>
                <a:cs typeface="Poppins Italics"/>
                <a:sym typeface="Poppins Italics"/>
              </a:rPr>
              <a:t>alpha</a:t>
            </a:r>
            <a:r>
              <a:rPr lang="en-US" sz="2000">
                <a:solidFill>
                  <a:srgbClr val="000000"/>
                </a:solidFill>
                <a:latin typeface="Poppins"/>
                <a:ea typeface="Poppins"/>
                <a:cs typeface="Poppins"/>
                <a:sym typeface="Poppins"/>
              </a:rPr>
              <a:t>, U</a:t>
            </a:r>
            <a:r>
              <a:rPr lang="en-US" sz="2000" i="true">
                <a:solidFill>
                  <a:srgbClr val="000000"/>
                </a:solidFill>
                <a:latin typeface="Poppins Italics"/>
                <a:ea typeface="Poppins Italics"/>
                <a:cs typeface="Poppins Italics"/>
                <a:sym typeface="Poppins Italics"/>
              </a:rPr>
              <a:t>beta</a:t>
            </a:r>
            <a:r>
              <a:rPr lang="en-US" sz="2000">
                <a:solidFill>
                  <a:srgbClr val="000000"/>
                </a:solidFill>
                <a:latin typeface="Poppins"/>
                <a:ea typeface="Poppins"/>
                <a:cs typeface="Poppins"/>
                <a:sym typeface="Poppins"/>
              </a:rPr>
              <a:t>) menggunakan referensi posisi rotor</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5313" y="464654"/>
            <a:ext cx="6746598" cy="1523631"/>
            <a:chOff x="0" y="0"/>
            <a:chExt cx="2404169" cy="542950"/>
          </a:xfrm>
        </p:grpSpPr>
        <p:sp>
          <p:nvSpPr>
            <p:cNvPr name="Freeform 3" id="3"/>
            <p:cNvSpPr/>
            <p:nvPr/>
          </p:nvSpPr>
          <p:spPr>
            <a:xfrm flipH="false" flipV="false" rot="0">
              <a:off x="0" y="0"/>
              <a:ext cx="2404169" cy="542950"/>
            </a:xfrm>
            <a:custGeom>
              <a:avLst/>
              <a:gdLst/>
              <a:ahLst/>
              <a:cxnLst/>
              <a:rect r="r" b="b" t="t" l="l"/>
              <a:pathLst>
                <a:path h="542950" w="2404169">
                  <a:moveTo>
                    <a:pt x="2200969" y="0"/>
                  </a:moveTo>
                  <a:cubicBezTo>
                    <a:pt x="2313193" y="0"/>
                    <a:pt x="2404169" y="121543"/>
                    <a:pt x="2404169" y="271475"/>
                  </a:cubicBezTo>
                  <a:cubicBezTo>
                    <a:pt x="2404169" y="421406"/>
                    <a:pt x="2313193" y="542950"/>
                    <a:pt x="2200969" y="542950"/>
                  </a:cubicBezTo>
                  <a:lnTo>
                    <a:pt x="203200" y="542950"/>
                  </a:lnTo>
                  <a:cubicBezTo>
                    <a:pt x="90976" y="542950"/>
                    <a:pt x="0" y="421406"/>
                    <a:pt x="0" y="271475"/>
                  </a:cubicBezTo>
                  <a:cubicBezTo>
                    <a:pt x="0" y="121543"/>
                    <a:pt x="90976" y="0"/>
                    <a:pt x="203200" y="0"/>
                  </a:cubicBezTo>
                  <a:close/>
                </a:path>
              </a:pathLst>
            </a:custGeom>
            <a:solidFill>
              <a:srgbClr val="F2F2F2"/>
            </a:solidFill>
          </p:spPr>
        </p:sp>
        <p:sp>
          <p:nvSpPr>
            <p:cNvPr name="TextBox 4" id="4"/>
            <p:cNvSpPr txBox="true"/>
            <p:nvPr/>
          </p:nvSpPr>
          <p:spPr>
            <a:xfrm>
              <a:off x="0" y="-38100"/>
              <a:ext cx="2404169" cy="5810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809625" y="9163050"/>
            <a:ext cx="16668750" cy="95250"/>
            <a:chOff x="0" y="0"/>
            <a:chExt cx="4390123" cy="25086"/>
          </a:xfrm>
        </p:grpSpPr>
        <p:sp>
          <p:nvSpPr>
            <p:cNvPr name="Freeform 6" id="6"/>
            <p:cNvSpPr/>
            <p:nvPr/>
          </p:nvSpPr>
          <p:spPr>
            <a:xfrm flipH="false" flipV="false" rot="0">
              <a:off x="0" y="0"/>
              <a:ext cx="4390124" cy="25086"/>
            </a:xfrm>
            <a:custGeom>
              <a:avLst/>
              <a:gdLst/>
              <a:ahLst/>
              <a:cxnLst/>
              <a:rect r="r" b="b" t="t" l="l"/>
              <a:pathLst>
                <a:path h="25086" w="4390124">
                  <a:moveTo>
                    <a:pt x="0" y="0"/>
                  </a:moveTo>
                  <a:lnTo>
                    <a:pt x="4390124" y="0"/>
                  </a:lnTo>
                  <a:lnTo>
                    <a:pt x="4390124" y="25086"/>
                  </a:lnTo>
                  <a:lnTo>
                    <a:pt x="0" y="25086"/>
                  </a:lnTo>
                  <a:close/>
                </a:path>
              </a:pathLst>
            </a:custGeom>
            <a:solidFill>
              <a:srgbClr val="59524B"/>
            </a:solidFill>
          </p:spPr>
        </p:sp>
        <p:sp>
          <p:nvSpPr>
            <p:cNvPr name="TextBox 7" id="7"/>
            <p:cNvSpPr txBox="true"/>
            <p:nvPr/>
          </p:nvSpPr>
          <p:spPr>
            <a:xfrm>
              <a:off x="0" y="-38100"/>
              <a:ext cx="4390123" cy="63186"/>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3038174" y="458478"/>
            <a:ext cx="4563040" cy="1140443"/>
            <a:chOff x="0" y="0"/>
            <a:chExt cx="6084053" cy="1520591"/>
          </a:xfrm>
        </p:grpSpPr>
        <p:grpSp>
          <p:nvGrpSpPr>
            <p:cNvPr name="Group 9" id="9"/>
            <p:cNvGrpSpPr/>
            <p:nvPr/>
          </p:nvGrpSpPr>
          <p:grpSpPr>
            <a:xfrm rot="0">
              <a:off x="0" y="0"/>
              <a:ext cx="6084053" cy="1520591"/>
              <a:chOff x="0" y="0"/>
              <a:chExt cx="1626052" cy="406400"/>
            </a:xfrm>
          </p:grpSpPr>
          <p:sp>
            <p:nvSpPr>
              <p:cNvPr name="Freeform 10" id="10"/>
              <p:cNvSpPr/>
              <p:nvPr/>
            </p:nvSpPr>
            <p:spPr>
              <a:xfrm flipH="false" flipV="false" rot="0">
                <a:off x="0" y="0"/>
                <a:ext cx="1626052" cy="406400"/>
              </a:xfrm>
              <a:custGeom>
                <a:avLst/>
                <a:gdLst/>
                <a:ahLst/>
                <a:cxnLst/>
                <a:rect r="r" b="b" t="t" l="l"/>
                <a:pathLst>
                  <a:path h="406400" w="1626052">
                    <a:moveTo>
                      <a:pt x="1422852" y="0"/>
                    </a:moveTo>
                    <a:cubicBezTo>
                      <a:pt x="1535076" y="0"/>
                      <a:pt x="1626052" y="90976"/>
                      <a:pt x="1626052" y="203200"/>
                    </a:cubicBezTo>
                    <a:cubicBezTo>
                      <a:pt x="1626052" y="315424"/>
                      <a:pt x="1535076" y="406400"/>
                      <a:pt x="1422852"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11" id="11"/>
              <p:cNvSpPr txBox="true"/>
              <p:nvPr/>
            </p:nvSpPr>
            <p:spPr>
              <a:xfrm>
                <a:off x="0" y="-38100"/>
                <a:ext cx="1626052" cy="444500"/>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414535" y="124612"/>
              <a:ext cx="5254984" cy="1271367"/>
            </a:xfrm>
            <a:custGeom>
              <a:avLst/>
              <a:gdLst/>
              <a:ahLst/>
              <a:cxnLst/>
              <a:rect r="r" b="b" t="t" l="l"/>
              <a:pathLst>
                <a:path h="1271367" w="5254984">
                  <a:moveTo>
                    <a:pt x="0" y="0"/>
                  </a:moveTo>
                  <a:lnTo>
                    <a:pt x="5254983" y="0"/>
                  </a:lnTo>
                  <a:lnTo>
                    <a:pt x="5254983" y="1271367"/>
                  </a:lnTo>
                  <a:lnTo>
                    <a:pt x="0" y="1271367"/>
                  </a:lnTo>
                  <a:lnTo>
                    <a:pt x="0" y="0"/>
                  </a:lnTo>
                  <a:close/>
                </a:path>
              </a:pathLst>
            </a:custGeom>
            <a:blipFill>
              <a:blip r:embed="rId2"/>
              <a:stretch>
                <a:fillRect l="0" t="0" r="0" b="0"/>
              </a:stretch>
            </a:blipFill>
          </p:spPr>
        </p:sp>
      </p:grpSp>
      <p:sp>
        <p:nvSpPr>
          <p:cNvPr name="Freeform 13" id="13"/>
          <p:cNvSpPr/>
          <p:nvPr/>
        </p:nvSpPr>
        <p:spPr>
          <a:xfrm flipH="false" flipV="false" rot="0">
            <a:off x="809625" y="2422820"/>
            <a:ext cx="6733380" cy="6193316"/>
          </a:xfrm>
          <a:custGeom>
            <a:avLst/>
            <a:gdLst/>
            <a:ahLst/>
            <a:cxnLst/>
            <a:rect r="r" b="b" t="t" l="l"/>
            <a:pathLst>
              <a:path h="6193316" w="6733380">
                <a:moveTo>
                  <a:pt x="0" y="0"/>
                </a:moveTo>
                <a:lnTo>
                  <a:pt x="6733380" y="0"/>
                </a:lnTo>
                <a:lnTo>
                  <a:pt x="6733380" y="6193316"/>
                </a:lnTo>
                <a:lnTo>
                  <a:pt x="0" y="6193316"/>
                </a:lnTo>
                <a:lnTo>
                  <a:pt x="0" y="0"/>
                </a:lnTo>
                <a:close/>
              </a:path>
            </a:pathLst>
          </a:custGeom>
          <a:blipFill>
            <a:blip r:embed="rId3"/>
            <a:stretch>
              <a:fillRect l="0" t="0" r="0" b="0"/>
            </a:stretch>
          </a:blipFill>
        </p:spPr>
      </p:sp>
      <p:grpSp>
        <p:nvGrpSpPr>
          <p:cNvPr name="Group 14" id="14"/>
          <p:cNvGrpSpPr/>
          <p:nvPr/>
        </p:nvGrpSpPr>
        <p:grpSpPr>
          <a:xfrm rot="0">
            <a:off x="7957796" y="4838782"/>
            <a:ext cx="4762500" cy="95250"/>
            <a:chOff x="0" y="0"/>
            <a:chExt cx="1254321" cy="25086"/>
          </a:xfrm>
        </p:grpSpPr>
        <p:sp>
          <p:nvSpPr>
            <p:cNvPr name="Freeform 15" id="15"/>
            <p:cNvSpPr/>
            <p:nvPr/>
          </p:nvSpPr>
          <p:spPr>
            <a:xfrm flipH="false" flipV="false" rot="0">
              <a:off x="0" y="0"/>
              <a:ext cx="1254321" cy="25086"/>
            </a:xfrm>
            <a:custGeom>
              <a:avLst/>
              <a:gdLst/>
              <a:ahLst/>
              <a:cxnLst/>
              <a:rect r="r" b="b" t="t" l="l"/>
              <a:pathLst>
                <a:path h="25086" w="1254321">
                  <a:moveTo>
                    <a:pt x="0" y="0"/>
                  </a:moveTo>
                  <a:lnTo>
                    <a:pt x="1254321" y="0"/>
                  </a:lnTo>
                  <a:lnTo>
                    <a:pt x="1254321" y="25086"/>
                  </a:lnTo>
                  <a:lnTo>
                    <a:pt x="0" y="25086"/>
                  </a:lnTo>
                  <a:close/>
                </a:path>
              </a:pathLst>
            </a:custGeom>
            <a:solidFill>
              <a:srgbClr val="59524B"/>
            </a:solidFill>
          </p:spPr>
        </p:sp>
        <p:sp>
          <p:nvSpPr>
            <p:cNvPr name="TextBox 16" id="16"/>
            <p:cNvSpPr txBox="true"/>
            <p:nvPr/>
          </p:nvSpPr>
          <p:spPr>
            <a:xfrm>
              <a:off x="0" y="-38100"/>
              <a:ext cx="1254321" cy="63186"/>
            </a:xfrm>
            <a:prstGeom prst="rect">
              <a:avLst/>
            </a:prstGeom>
          </p:spPr>
          <p:txBody>
            <a:bodyPr anchor="ctr" rtlCol="false" tIns="50800" lIns="50800" bIns="50800" rIns="50800"/>
            <a:lstStyle/>
            <a:p>
              <a:pPr algn="ctr">
                <a:lnSpc>
                  <a:spcPts val="2659"/>
                </a:lnSpc>
              </a:pPr>
            </a:p>
          </p:txBody>
        </p:sp>
      </p:grpSp>
      <p:sp>
        <p:nvSpPr>
          <p:cNvPr name="Freeform 17" id="17"/>
          <p:cNvSpPr/>
          <p:nvPr/>
        </p:nvSpPr>
        <p:spPr>
          <a:xfrm flipH="false" flipV="false" rot="0">
            <a:off x="7957796" y="5064734"/>
            <a:ext cx="7317387" cy="832401"/>
          </a:xfrm>
          <a:custGeom>
            <a:avLst/>
            <a:gdLst/>
            <a:ahLst/>
            <a:cxnLst/>
            <a:rect r="r" b="b" t="t" l="l"/>
            <a:pathLst>
              <a:path h="832401" w="7317387">
                <a:moveTo>
                  <a:pt x="0" y="0"/>
                </a:moveTo>
                <a:lnTo>
                  <a:pt x="7317387" y="0"/>
                </a:lnTo>
                <a:lnTo>
                  <a:pt x="7317387" y="832402"/>
                </a:lnTo>
                <a:lnTo>
                  <a:pt x="0" y="832402"/>
                </a:lnTo>
                <a:lnTo>
                  <a:pt x="0" y="0"/>
                </a:lnTo>
                <a:close/>
              </a:path>
            </a:pathLst>
          </a:custGeom>
          <a:blipFill>
            <a:blip r:embed="rId4"/>
            <a:stretch>
              <a:fillRect l="0" t="0" r="0" b="0"/>
            </a:stretch>
          </a:blipFill>
        </p:spPr>
      </p:sp>
      <p:sp>
        <p:nvSpPr>
          <p:cNvPr name="Freeform 18" id="18"/>
          <p:cNvSpPr/>
          <p:nvPr/>
        </p:nvSpPr>
        <p:spPr>
          <a:xfrm flipH="false" flipV="false" rot="0">
            <a:off x="7957796" y="5950549"/>
            <a:ext cx="7650134" cy="2377333"/>
          </a:xfrm>
          <a:custGeom>
            <a:avLst/>
            <a:gdLst/>
            <a:ahLst/>
            <a:cxnLst/>
            <a:rect r="r" b="b" t="t" l="l"/>
            <a:pathLst>
              <a:path h="2377333" w="7650134">
                <a:moveTo>
                  <a:pt x="0" y="0"/>
                </a:moveTo>
                <a:lnTo>
                  <a:pt x="7650134" y="0"/>
                </a:lnTo>
                <a:lnTo>
                  <a:pt x="7650134" y="2377333"/>
                </a:lnTo>
                <a:lnTo>
                  <a:pt x="0" y="2377333"/>
                </a:lnTo>
                <a:lnTo>
                  <a:pt x="0" y="0"/>
                </a:lnTo>
                <a:close/>
              </a:path>
            </a:pathLst>
          </a:custGeom>
          <a:blipFill>
            <a:blip r:embed="rId5"/>
            <a:stretch>
              <a:fillRect l="0" t="0" r="0" b="0"/>
            </a:stretch>
          </a:blipFill>
        </p:spPr>
      </p:sp>
      <p:sp>
        <p:nvSpPr>
          <p:cNvPr name="TextBox 19" id="19"/>
          <p:cNvSpPr txBox="true"/>
          <p:nvPr/>
        </p:nvSpPr>
        <p:spPr>
          <a:xfrm rot="0">
            <a:off x="1110116" y="1112169"/>
            <a:ext cx="6131874" cy="995271"/>
          </a:xfrm>
          <a:prstGeom prst="rect">
            <a:avLst/>
          </a:prstGeom>
        </p:spPr>
        <p:txBody>
          <a:bodyPr anchor="t" rtlCol="false" tIns="0" lIns="0" bIns="0" rIns="0">
            <a:spAutoFit/>
          </a:bodyPr>
          <a:lstStyle/>
          <a:p>
            <a:pPr algn="l">
              <a:lnSpc>
                <a:spcPts val="8142"/>
              </a:lnSpc>
            </a:pPr>
            <a:r>
              <a:rPr lang="en-US" sz="5816">
                <a:solidFill>
                  <a:srgbClr val="E5C857"/>
                </a:solidFill>
                <a:latin typeface="Bebas Neue 1"/>
                <a:ea typeface="Bebas Neue 1"/>
                <a:cs typeface="Bebas Neue 1"/>
                <a:sym typeface="Bebas Neue 1"/>
              </a:rPr>
              <a:t>Extended kalman filter</a:t>
            </a:r>
          </a:p>
        </p:txBody>
      </p:sp>
      <p:sp>
        <p:nvSpPr>
          <p:cNvPr name="TextBox 20" id="20"/>
          <p:cNvSpPr txBox="true"/>
          <p:nvPr/>
        </p:nvSpPr>
        <p:spPr>
          <a:xfrm rot="0">
            <a:off x="1051559" y="344178"/>
            <a:ext cx="4363953" cy="1000423"/>
          </a:xfrm>
          <a:prstGeom prst="rect">
            <a:avLst/>
          </a:prstGeom>
        </p:spPr>
        <p:txBody>
          <a:bodyPr anchor="t" rtlCol="false" tIns="0" lIns="0" bIns="0" rIns="0">
            <a:spAutoFit/>
          </a:bodyPr>
          <a:lstStyle/>
          <a:p>
            <a:pPr algn="ctr">
              <a:lnSpc>
                <a:spcPts val="8142"/>
              </a:lnSpc>
            </a:pPr>
            <a:r>
              <a:rPr lang="en-US" sz="5816">
                <a:solidFill>
                  <a:srgbClr val="59524B"/>
                </a:solidFill>
                <a:latin typeface="Bebas Neue 1"/>
                <a:ea typeface="Bebas Neue 1"/>
                <a:cs typeface="Bebas Neue 1"/>
                <a:sym typeface="Bebas Neue 1"/>
              </a:rPr>
              <a:t>tinjauan pustaka</a:t>
            </a:r>
          </a:p>
        </p:txBody>
      </p:sp>
      <p:sp>
        <p:nvSpPr>
          <p:cNvPr name="TextBox 21" id="21"/>
          <p:cNvSpPr txBox="true"/>
          <p:nvPr/>
        </p:nvSpPr>
        <p:spPr>
          <a:xfrm rot="0">
            <a:off x="432984" y="9324000"/>
            <a:ext cx="17422032" cy="824865"/>
          </a:xfrm>
          <a:prstGeom prst="rect">
            <a:avLst/>
          </a:prstGeom>
        </p:spPr>
        <p:txBody>
          <a:bodyPr anchor="t" rtlCol="false" tIns="0" lIns="0" bIns="0" rIns="0">
            <a:spAutoFit/>
          </a:bodyPr>
          <a:lstStyle/>
          <a:p>
            <a:pPr algn="just">
              <a:lnSpc>
                <a:spcPts val="2799"/>
              </a:lnSpc>
            </a:pPr>
            <a:r>
              <a:rPr lang="en-US" b="true" sz="1999">
                <a:solidFill>
                  <a:srgbClr val="000000"/>
                </a:solidFill>
                <a:latin typeface="Poppins Bold"/>
                <a:ea typeface="Poppins Bold"/>
                <a:cs typeface="Poppins Bold"/>
                <a:sym typeface="Poppins Bold"/>
              </a:rPr>
              <a:t>Refrensi :</a:t>
            </a:r>
          </a:p>
          <a:p>
            <a:pPr algn="just" marL="280673" indent="-140336" lvl="1">
              <a:lnSpc>
                <a:spcPts val="1820"/>
              </a:lnSpc>
              <a:buFont typeface="Arial"/>
              <a:buChar char="•"/>
            </a:pPr>
            <a:r>
              <a:rPr lang="en-US" sz="1300">
                <a:solidFill>
                  <a:srgbClr val="000000"/>
                </a:solidFill>
                <a:latin typeface="Poppins"/>
                <a:ea typeface="Poppins"/>
                <a:cs typeface="Poppins"/>
                <a:sym typeface="Poppins"/>
              </a:rPr>
              <a:t>Fox</a:t>
            </a:r>
            <a:r>
              <a:rPr lang="en-US" sz="1300">
                <a:solidFill>
                  <a:srgbClr val="000000"/>
                </a:solidFill>
                <a:latin typeface="Poppins"/>
                <a:ea typeface="Poppins"/>
                <a:cs typeface="Poppins"/>
                <a:sym typeface="Poppins"/>
              </a:rPr>
              <a:t>, D., Thrun, S. &amp; Burgard, W. (2005) Probabilistic Robotics. Cambridge, MA: MIT Press.</a:t>
            </a:r>
          </a:p>
          <a:p>
            <a:pPr algn="just" marL="280673" indent="-140336" lvl="1">
              <a:lnSpc>
                <a:spcPts val="1820"/>
              </a:lnSpc>
              <a:buFont typeface="Arial"/>
              <a:buChar char="•"/>
            </a:pPr>
            <a:r>
              <a:rPr lang="en-US" sz="1300">
                <a:solidFill>
                  <a:srgbClr val="000000"/>
                </a:solidFill>
                <a:latin typeface="Poppins"/>
                <a:ea typeface="Poppins"/>
                <a:cs typeface="Poppins"/>
                <a:sym typeface="Poppins"/>
              </a:rPr>
              <a:t>So, R. (2015). Extended Kalman Filter Simulink Model for Nonlinear System Modeling.</a:t>
            </a:r>
          </a:p>
        </p:txBody>
      </p:sp>
      <p:sp>
        <p:nvSpPr>
          <p:cNvPr name="TextBox 22" id="22"/>
          <p:cNvSpPr txBox="true"/>
          <p:nvPr/>
        </p:nvSpPr>
        <p:spPr>
          <a:xfrm rot="0">
            <a:off x="7957796" y="2615825"/>
            <a:ext cx="9520579" cy="1482090"/>
          </a:xfrm>
          <a:prstGeom prst="rect">
            <a:avLst/>
          </a:prstGeom>
        </p:spPr>
        <p:txBody>
          <a:bodyPr anchor="t" rtlCol="false" tIns="0" lIns="0" bIns="0" rIns="0">
            <a:spAutoFit/>
          </a:bodyPr>
          <a:lstStyle/>
          <a:p>
            <a:pPr algn="just">
              <a:lnSpc>
                <a:spcPts val="3900"/>
              </a:lnSpc>
            </a:pPr>
            <a:r>
              <a:rPr lang="en-US" sz="2600">
                <a:solidFill>
                  <a:srgbClr val="000000"/>
                </a:solidFill>
                <a:latin typeface="Poppins"/>
                <a:ea typeface="Poppins"/>
                <a:cs typeface="Poppins"/>
                <a:sym typeface="Poppins"/>
              </a:rPr>
              <a:t>Algoritma estimasi untuk sistem non-linear yang menggunakan aproksimasi Taylor orde pertama untuk melinearisasi model. Bersifat Gaussian dan recursive.</a:t>
            </a:r>
          </a:p>
        </p:txBody>
      </p:sp>
      <p:sp>
        <p:nvSpPr>
          <p:cNvPr name="TextBox 23" id="23"/>
          <p:cNvSpPr txBox="true"/>
          <p:nvPr/>
        </p:nvSpPr>
        <p:spPr>
          <a:xfrm rot="0">
            <a:off x="7957796" y="4291174"/>
            <a:ext cx="7264035" cy="485775"/>
          </a:xfrm>
          <a:prstGeom prst="rect">
            <a:avLst/>
          </a:prstGeom>
        </p:spPr>
        <p:txBody>
          <a:bodyPr anchor="t" rtlCol="false" tIns="0" lIns="0" bIns="0" rIns="0">
            <a:spAutoFit/>
          </a:bodyPr>
          <a:lstStyle/>
          <a:p>
            <a:pPr algn="just">
              <a:lnSpc>
                <a:spcPts val="3600"/>
              </a:lnSpc>
            </a:pPr>
            <a:r>
              <a:rPr lang="en-US" b="true" sz="3000">
                <a:solidFill>
                  <a:srgbClr val="E5C857"/>
                </a:solidFill>
                <a:latin typeface="Poppins Bold"/>
                <a:ea typeface="Poppins Bold"/>
                <a:cs typeface="Poppins Bold"/>
                <a:sym typeface="Poppins Bold"/>
              </a:rPr>
              <a:t>Langkah Kerja Algoritma EKF</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5313" y="464654"/>
            <a:ext cx="6726689" cy="1523631"/>
            <a:chOff x="0" y="0"/>
            <a:chExt cx="2397074" cy="542950"/>
          </a:xfrm>
        </p:grpSpPr>
        <p:sp>
          <p:nvSpPr>
            <p:cNvPr name="Freeform 3" id="3"/>
            <p:cNvSpPr/>
            <p:nvPr/>
          </p:nvSpPr>
          <p:spPr>
            <a:xfrm flipH="false" flipV="false" rot="0">
              <a:off x="0" y="0"/>
              <a:ext cx="2397074" cy="542950"/>
            </a:xfrm>
            <a:custGeom>
              <a:avLst/>
              <a:gdLst/>
              <a:ahLst/>
              <a:cxnLst/>
              <a:rect r="r" b="b" t="t" l="l"/>
              <a:pathLst>
                <a:path h="542950" w="2397074">
                  <a:moveTo>
                    <a:pt x="2193874" y="0"/>
                  </a:moveTo>
                  <a:cubicBezTo>
                    <a:pt x="2306098" y="0"/>
                    <a:pt x="2397074" y="121543"/>
                    <a:pt x="2397074" y="271475"/>
                  </a:cubicBezTo>
                  <a:cubicBezTo>
                    <a:pt x="2397074" y="421406"/>
                    <a:pt x="2306098" y="542950"/>
                    <a:pt x="2193874" y="542950"/>
                  </a:cubicBezTo>
                  <a:lnTo>
                    <a:pt x="203200" y="542950"/>
                  </a:lnTo>
                  <a:cubicBezTo>
                    <a:pt x="90976" y="542950"/>
                    <a:pt x="0" y="421406"/>
                    <a:pt x="0" y="271475"/>
                  </a:cubicBezTo>
                  <a:cubicBezTo>
                    <a:pt x="0" y="121543"/>
                    <a:pt x="90976" y="0"/>
                    <a:pt x="203200" y="0"/>
                  </a:cubicBezTo>
                  <a:close/>
                </a:path>
              </a:pathLst>
            </a:custGeom>
            <a:solidFill>
              <a:srgbClr val="F2F2F2"/>
            </a:solidFill>
          </p:spPr>
        </p:sp>
        <p:sp>
          <p:nvSpPr>
            <p:cNvPr name="TextBox 4" id="4"/>
            <p:cNvSpPr txBox="true"/>
            <p:nvPr/>
          </p:nvSpPr>
          <p:spPr>
            <a:xfrm>
              <a:off x="0" y="-38100"/>
              <a:ext cx="2397074" cy="5810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809625" y="9163050"/>
            <a:ext cx="16668750" cy="95250"/>
            <a:chOff x="0" y="0"/>
            <a:chExt cx="4390123" cy="25086"/>
          </a:xfrm>
        </p:grpSpPr>
        <p:sp>
          <p:nvSpPr>
            <p:cNvPr name="Freeform 6" id="6"/>
            <p:cNvSpPr/>
            <p:nvPr/>
          </p:nvSpPr>
          <p:spPr>
            <a:xfrm flipH="false" flipV="false" rot="0">
              <a:off x="0" y="0"/>
              <a:ext cx="4390124" cy="25086"/>
            </a:xfrm>
            <a:custGeom>
              <a:avLst/>
              <a:gdLst/>
              <a:ahLst/>
              <a:cxnLst/>
              <a:rect r="r" b="b" t="t" l="l"/>
              <a:pathLst>
                <a:path h="25086" w="4390124">
                  <a:moveTo>
                    <a:pt x="0" y="0"/>
                  </a:moveTo>
                  <a:lnTo>
                    <a:pt x="4390124" y="0"/>
                  </a:lnTo>
                  <a:lnTo>
                    <a:pt x="4390124" y="25086"/>
                  </a:lnTo>
                  <a:lnTo>
                    <a:pt x="0" y="25086"/>
                  </a:lnTo>
                  <a:close/>
                </a:path>
              </a:pathLst>
            </a:custGeom>
            <a:solidFill>
              <a:srgbClr val="59524B"/>
            </a:solidFill>
          </p:spPr>
        </p:sp>
        <p:sp>
          <p:nvSpPr>
            <p:cNvPr name="TextBox 7" id="7"/>
            <p:cNvSpPr txBox="true"/>
            <p:nvPr/>
          </p:nvSpPr>
          <p:spPr>
            <a:xfrm>
              <a:off x="0" y="-38100"/>
              <a:ext cx="4390123" cy="63186"/>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3038174" y="458478"/>
            <a:ext cx="4563040" cy="1140443"/>
            <a:chOff x="0" y="0"/>
            <a:chExt cx="6084053" cy="1520591"/>
          </a:xfrm>
        </p:grpSpPr>
        <p:grpSp>
          <p:nvGrpSpPr>
            <p:cNvPr name="Group 9" id="9"/>
            <p:cNvGrpSpPr/>
            <p:nvPr/>
          </p:nvGrpSpPr>
          <p:grpSpPr>
            <a:xfrm rot="0">
              <a:off x="0" y="0"/>
              <a:ext cx="6084053" cy="1520591"/>
              <a:chOff x="0" y="0"/>
              <a:chExt cx="1626052" cy="406400"/>
            </a:xfrm>
          </p:grpSpPr>
          <p:sp>
            <p:nvSpPr>
              <p:cNvPr name="Freeform 10" id="10"/>
              <p:cNvSpPr/>
              <p:nvPr/>
            </p:nvSpPr>
            <p:spPr>
              <a:xfrm flipH="false" flipV="false" rot="0">
                <a:off x="0" y="0"/>
                <a:ext cx="1626052" cy="406400"/>
              </a:xfrm>
              <a:custGeom>
                <a:avLst/>
                <a:gdLst/>
                <a:ahLst/>
                <a:cxnLst/>
                <a:rect r="r" b="b" t="t" l="l"/>
                <a:pathLst>
                  <a:path h="406400" w="1626052">
                    <a:moveTo>
                      <a:pt x="1422852" y="0"/>
                    </a:moveTo>
                    <a:cubicBezTo>
                      <a:pt x="1535076" y="0"/>
                      <a:pt x="1626052" y="90976"/>
                      <a:pt x="1626052" y="203200"/>
                    </a:cubicBezTo>
                    <a:cubicBezTo>
                      <a:pt x="1626052" y="315424"/>
                      <a:pt x="1535076" y="406400"/>
                      <a:pt x="1422852"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11" id="11"/>
              <p:cNvSpPr txBox="true"/>
              <p:nvPr/>
            </p:nvSpPr>
            <p:spPr>
              <a:xfrm>
                <a:off x="0" y="-38100"/>
                <a:ext cx="1626052" cy="444500"/>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414535" y="124612"/>
              <a:ext cx="5254984" cy="1271367"/>
            </a:xfrm>
            <a:custGeom>
              <a:avLst/>
              <a:gdLst/>
              <a:ahLst/>
              <a:cxnLst/>
              <a:rect r="r" b="b" t="t" l="l"/>
              <a:pathLst>
                <a:path h="1271367" w="5254984">
                  <a:moveTo>
                    <a:pt x="0" y="0"/>
                  </a:moveTo>
                  <a:lnTo>
                    <a:pt x="5254983" y="0"/>
                  </a:lnTo>
                  <a:lnTo>
                    <a:pt x="5254983" y="1271367"/>
                  </a:lnTo>
                  <a:lnTo>
                    <a:pt x="0" y="1271367"/>
                  </a:lnTo>
                  <a:lnTo>
                    <a:pt x="0" y="0"/>
                  </a:lnTo>
                  <a:close/>
                </a:path>
              </a:pathLst>
            </a:custGeom>
            <a:blipFill>
              <a:blip r:embed="rId2"/>
              <a:stretch>
                <a:fillRect l="0" t="0" r="0" b="0"/>
              </a:stretch>
            </a:blipFill>
          </p:spPr>
        </p:sp>
      </p:grpSp>
      <p:sp>
        <p:nvSpPr>
          <p:cNvPr name="Freeform 13" id="13"/>
          <p:cNvSpPr/>
          <p:nvPr/>
        </p:nvSpPr>
        <p:spPr>
          <a:xfrm flipH="false" flipV="false" rot="0">
            <a:off x="1295882" y="3270484"/>
            <a:ext cx="2628658" cy="1386347"/>
          </a:xfrm>
          <a:custGeom>
            <a:avLst/>
            <a:gdLst/>
            <a:ahLst/>
            <a:cxnLst/>
            <a:rect r="r" b="b" t="t" l="l"/>
            <a:pathLst>
              <a:path h="1386347" w="2628658">
                <a:moveTo>
                  <a:pt x="0" y="0"/>
                </a:moveTo>
                <a:lnTo>
                  <a:pt x="2628658" y="0"/>
                </a:lnTo>
                <a:lnTo>
                  <a:pt x="2628658" y="1386348"/>
                </a:lnTo>
                <a:lnTo>
                  <a:pt x="0" y="1386348"/>
                </a:lnTo>
                <a:lnTo>
                  <a:pt x="0" y="0"/>
                </a:lnTo>
                <a:close/>
              </a:path>
            </a:pathLst>
          </a:custGeom>
          <a:blipFill>
            <a:blip r:embed="rId3"/>
            <a:stretch>
              <a:fillRect l="0" t="0" r="0" b="0"/>
            </a:stretch>
          </a:blipFill>
        </p:spPr>
      </p:sp>
      <p:sp>
        <p:nvSpPr>
          <p:cNvPr name="TextBox 14" id="14"/>
          <p:cNvSpPr txBox="true"/>
          <p:nvPr/>
        </p:nvSpPr>
        <p:spPr>
          <a:xfrm rot="0">
            <a:off x="919163" y="2698242"/>
            <a:ext cx="16230600" cy="3463290"/>
          </a:xfrm>
          <a:prstGeom prst="rect">
            <a:avLst/>
          </a:prstGeom>
        </p:spPr>
        <p:txBody>
          <a:bodyPr anchor="t" rtlCol="false" tIns="0" lIns="0" bIns="0" rIns="0">
            <a:spAutoFit/>
          </a:bodyPr>
          <a:lstStyle/>
          <a:p>
            <a:pPr algn="just">
              <a:lnSpc>
                <a:spcPts val="3900"/>
              </a:lnSpc>
            </a:pPr>
            <a:r>
              <a:rPr lang="en-US" sz="2600">
                <a:solidFill>
                  <a:srgbClr val="000000"/>
                </a:solidFill>
                <a:latin typeface="Poppins"/>
                <a:ea typeface="Poppins"/>
                <a:cs typeface="Poppins"/>
                <a:sym typeface="Poppins"/>
              </a:rPr>
              <a:t>Suatu sistem nonlinier.</a:t>
            </a:r>
          </a:p>
          <a:p>
            <a:pPr algn="just">
              <a:lnSpc>
                <a:spcPts val="3900"/>
              </a:lnSpc>
            </a:pPr>
          </a:p>
          <a:p>
            <a:pPr algn="just">
              <a:lnSpc>
                <a:spcPts val="3900"/>
              </a:lnSpc>
            </a:pPr>
          </a:p>
          <a:p>
            <a:pPr algn="just">
              <a:lnSpc>
                <a:spcPts val="3900"/>
              </a:lnSpc>
            </a:pPr>
          </a:p>
          <a:p>
            <a:pPr algn="just">
              <a:lnSpc>
                <a:spcPts val="3900"/>
              </a:lnSpc>
            </a:pPr>
            <a:r>
              <a:rPr lang="en-US" sz="2600">
                <a:solidFill>
                  <a:srgbClr val="000000"/>
                </a:solidFill>
                <a:latin typeface="Poppins"/>
                <a:ea typeface="Poppins"/>
                <a:cs typeface="Poppins"/>
                <a:sym typeface="Poppins"/>
              </a:rPr>
              <a:t>dikatakan </a:t>
            </a:r>
            <a:r>
              <a:rPr lang="en-US" sz="2600" i="true">
                <a:solidFill>
                  <a:srgbClr val="000000"/>
                </a:solidFill>
                <a:latin typeface="Poppins Italics"/>
                <a:ea typeface="Poppins Italics"/>
                <a:cs typeface="Poppins Italics"/>
                <a:sym typeface="Poppins Italics"/>
              </a:rPr>
              <a:t>locally observable</a:t>
            </a:r>
            <a:r>
              <a:rPr lang="en-US" sz="2600">
                <a:solidFill>
                  <a:srgbClr val="000000"/>
                </a:solidFill>
                <a:latin typeface="Poppins"/>
                <a:ea typeface="Poppins"/>
                <a:cs typeface="Poppins"/>
                <a:sym typeface="Poppins"/>
              </a:rPr>
              <a:t> jika </a:t>
            </a:r>
            <a:r>
              <a:rPr lang="en-US" sz="2600" i="true">
                <a:solidFill>
                  <a:srgbClr val="000000"/>
                </a:solidFill>
                <a:latin typeface="Poppins Italics"/>
                <a:ea typeface="Poppins Italics"/>
                <a:cs typeface="Poppins Italics"/>
                <a:sym typeface="Poppins Italics"/>
              </a:rPr>
              <a:t>state x</a:t>
            </a:r>
            <a:r>
              <a:rPr lang="en-US" sz="2600">
                <a:solidFill>
                  <a:srgbClr val="000000"/>
                </a:solidFill>
                <a:latin typeface="Poppins"/>
                <a:ea typeface="Poppins"/>
                <a:cs typeface="Poppins"/>
                <a:sym typeface="Poppins"/>
              </a:rPr>
              <a:t> dapat dibedakan secara lokal dari pengukuran </a:t>
            </a:r>
            <a:r>
              <a:rPr lang="en-US" sz="2600" i="true">
                <a:solidFill>
                  <a:srgbClr val="000000"/>
                </a:solidFill>
                <a:latin typeface="Poppins Italics"/>
                <a:ea typeface="Poppins Italics"/>
                <a:cs typeface="Poppins Italics"/>
                <a:sym typeface="Poppins Italics"/>
              </a:rPr>
              <a:t>output </a:t>
            </a:r>
            <a:r>
              <a:rPr lang="en-US" sz="2600" i="true">
                <a:solidFill>
                  <a:srgbClr val="000000"/>
                </a:solidFill>
                <a:latin typeface="Poppins Italics"/>
                <a:ea typeface="Poppins Italics"/>
                <a:cs typeface="Poppins Italics"/>
                <a:sym typeface="Poppins Italics"/>
              </a:rPr>
              <a:t>y</a:t>
            </a:r>
            <a:r>
              <a:rPr lang="en-US" sz="2600">
                <a:solidFill>
                  <a:srgbClr val="000000"/>
                </a:solidFill>
                <a:latin typeface="Poppins"/>
                <a:ea typeface="Poppins"/>
                <a:cs typeface="Poppins"/>
                <a:sym typeface="Poppins"/>
              </a:rPr>
              <a:t> dan turunannya. Berbeda dengan sistem linier (uji rank matriks[C; CA; CA^2;...]), pada sistem nonlinier digunakan </a:t>
            </a:r>
            <a:r>
              <a:rPr lang="en-US" sz="2600" i="true">
                <a:solidFill>
                  <a:srgbClr val="000000"/>
                </a:solidFill>
                <a:latin typeface="Poppins Italics"/>
                <a:ea typeface="Poppins Italics"/>
                <a:cs typeface="Poppins Italics"/>
                <a:sym typeface="Poppins Italics"/>
              </a:rPr>
              <a:t>observability</a:t>
            </a:r>
            <a:r>
              <a:rPr lang="en-US" sz="2600">
                <a:solidFill>
                  <a:srgbClr val="000000"/>
                </a:solidFill>
                <a:latin typeface="Poppins"/>
                <a:ea typeface="Poppins"/>
                <a:cs typeface="Poppins"/>
                <a:sym typeface="Poppins"/>
              </a:rPr>
              <a:t> rank test berbasis </a:t>
            </a:r>
            <a:r>
              <a:rPr lang="en-US" sz="2600" i="true">
                <a:solidFill>
                  <a:srgbClr val="000000"/>
                </a:solidFill>
                <a:latin typeface="Poppins Italics"/>
                <a:ea typeface="Poppins Italics"/>
                <a:cs typeface="Poppins Italics"/>
                <a:sym typeface="Poppins Italics"/>
              </a:rPr>
              <a:t>Lie derivative</a:t>
            </a:r>
            <a:r>
              <a:rPr lang="en-US" sz="2600">
                <a:solidFill>
                  <a:srgbClr val="000000"/>
                </a:solidFill>
                <a:latin typeface="Poppins"/>
                <a:ea typeface="Poppins"/>
                <a:cs typeface="Poppins"/>
                <a:sym typeface="Poppins"/>
              </a:rPr>
              <a:t>.</a:t>
            </a:r>
          </a:p>
        </p:txBody>
      </p:sp>
      <p:sp>
        <p:nvSpPr>
          <p:cNvPr name="Freeform 15" id="15"/>
          <p:cNvSpPr/>
          <p:nvPr/>
        </p:nvSpPr>
        <p:spPr>
          <a:xfrm flipH="false" flipV="false" rot="0">
            <a:off x="1295882" y="6409182"/>
            <a:ext cx="3532843" cy="1059853"/>
          </a:xfrm>
          <a:custGeom>
            <a:avLst/>
            <a:gdLst/>
            <a:ahLst/>
            <a:cxnLst/>
            <a:rect r="r" b="b" t="t" l="l"/>
            <a:pathLst>
              <a:path h="1059853" w="3532843">
                <a:moveTo>
                  <a:pt x="0" y="0"/>
                </a:moveTo>
                <a:lnTo>
                  <a:pt x="3532843" y="0"/>
                </a:lnTo>
                <a:lnTo>
                  <a:pt x="3532843" y="1059853"/>
                </a:lnTo>
                <a:lnTo>
                  <a:pt x="0" y="1059853"/>
                </a:lnTo>
                <a:lnTo>
                  <a:pt x="0" y="0"/>
                </a:lnTo>
                <a:close/>
              </a:path>
            </a:pathLst>
          </a:custGeom>
          <a:blipFill>
            <a:blip r:embed="rId4"/>
            <a:stretch>
              <a:fillRect l="0" t="0" r="0" b="0"/>
            </a:stretch>
          </a:blipFill>
        </p:spPr>
      </p:sp>
      <p:sp>
        <p:nvSpPr>
          <p:cNvPr name="Freeform 16" id="16"/>
          <p:cNvSpPr/>
          <p:nvPr/>
        </p:nvSpPr>
        <p:spPr>
          <a:xfrm flipH="false" flipV="false" rot="0">
            <a:off x="5622282" y="6446291"/>
            <a:ext cx="1800678" cy="985635"/>
          </a:xfrm>
          <a:custGeom>
            <a:avLst/>
            <a:gdLst/>
            <a:ahLst/>
            <a:cxnLst/>
            <a:rect r="r" b="b" t="t" l="l"/>
            <a:pathLst>
              <a:path h="985635" w="1800678">
                <a:moveTo>
                  <a:pt x="0" y="0"/>
                </a:moveTo>
                <a:lnTo>
                  <a:pt x="1800679" y="0"/>
                </a:lnTo>
                <a:lnTo>
                  <a:pt x="1800679" y="985635"/>
                </a:lnTo>
                <a:lnTo>
                  <a:pt x="0" y="985635"/>
                </a:lnTo>
                <a:lnTo>
                  <a:pt x="0" y="0"/>
                </a:lnTo>
                <a:close/>
              </a:path>
            </a:pathLst>
          </a:custGeom>
          <a:blipFill>
            <a:blip r:embed="rId5"/>
            <a:stretch>
              <a:fillRect l="0" t="0" r="0" b="0"/>
            </a:stretch>
          </a:blipFill>
        </p:spPr>
      </p:sp>
      <p:sp>
        <p:nvSpPr>
          <p:cNvPr name="Freeform 17" id="17"/>
          <p:cNvSpPr/>
          <p:nvPr/>
        </p:nvSpPr>
        <p:spPr>
          <a:xfrm flipH="false" flipV="false" rot="0">
            <a:off x="1681415" y="7787574"/>
            <a:ext cx="5301380" cy="570268"/>
          </a:xfrm>
          <a:custGeom>
            <a:avLst/>
            <a:gdLst/>
            <a:ahLst/>
            <a:cxnLst/>
            <a:rect r="r" b="b" t="t" l="l"/>
            <a:pathLst>
              <a:path h="570268" w="5301380">
                <a:moveTo>
                  <a:pt x="0" y="0"/>
                </a:moveTo>
                <a:lnTo>
                  <a:pt x="5301380" y="0"/>
                </a:lnTo>
                <a:lnTo>
                  <a:pt x="5301380" y="570268"/>
                </a:lnTo>
                <a:lnTo>
                  <a:pt x="0" y="570268"/>
                </a:lnTo>
                <a:lnTo>
                  <a:pt x="0" y="0"/>
                </a:lnTo>
                <a:close/>
              </a:path>
            </a:pathLst>
          </a:custGeom>
          <a:blipFill>
            <a:blip r:embed="rId6"/>
            <a:stretch>
              <a:fillRect l="0" t="0" r="0" b="0"/>
            </a:stretch>
          </a:blipFill>
        </p:spPr>
      </p:sp>
      <p:sp>
        <p:nvSpPr>
          <p:cNvPr name="TextBox 18" id="18"/>
          <p:cNvSpPr txBox="true"/>
          <p:nvPr/>
        </p:nvSpPr>
        <p:spPr>
          <a:xfrm rot="0">
            <a:off x="1110116" y="1112169"/>
            <a:ext cx="6131874" cy="995271"/>
          </a:xfrm>
          <a:prstGeom prst="rect">
            <a:avLst/>
          </a:prstGeom>
        </p:spPr>
        <p:txBody>
          <a:bodyPr anchor="t" rtlCol="false" tIns="0" lIns="0" bIns="0" rIns="0">
            <a:spAutoFit/>
          </a:bodyPr>
          <a:lstStyle/>
          <a:p>
            <a:pPr algn="l">
              <a:lnSpc>
                <a:spcPts val="8142"/>
              </a:lnSpc>
            </a:pPr>
            <a:r>
              <a:rPr lang="en-US" sz="5816">
                <a:solidFill>
                  <a:srgbClr val="E5C857"/>
                </a:solidFill>
                <a:latin typeface="Bebas Neue 1"/>
                <a:ea typeface="Bebas Neue 1"/>
                <a:cs typeface="Bebas Neue 1"/>
                <a:sym typeface="Bebas Neue 1"/>
              </a:rPr>
              <a:t>NON linier observability</a:t>
            </a:r>
          </a:p>
        </p:txBody>
      </p:sp>
      <p:sp>
        <p:nvSpPr>
          <p:cNvPr name="TextBox 19" id="19"/>
          <p:cNvSpPr txBox="true"/>
          <p:nvPr/>
        </p:nvSpPr>
        <p:spPr>
          <a:xfrm rot="0">
            <a:off x="1051559" y="344178"/>
            <a:ext cx="4363953" cy="1000423"/>
          </a:xfrm>
          <a:prstGeom prst="rect">
            <a:avLst/>
          </a:prstGeom>
        </p:spPr>
        <p:txBody>
          <a:bodyPr anchor="t" rtlCol="false" tIns="0" lIns="0" bIns="0" rIns="0">
            <a:spAutoFit/>
          </a:bodyPr>
          <a:lstStyle/>
          <a:p>
            <a:pPr algn="ctr">
              <a:lnSpc>
                <a:spcPts val="8142"/>
              </a:lnSpc>
            </a:pPr>
            <a:r>
              <a:rPr lang="en-US" sz="5816">
                <a:solidFill>
                  <a:srgbClr val="59524B"/>
                </a:solidFill>
                <a:latin typeface="Bebas Neue 1"/>
                <a:ea typeface="Bebas Neue 1"/>
                <a:cs typeface="Bebas Neue 1"/>
                <a:sym typeface="Bebas Neue 1"/>
              </a:rPr>
              <a:t>tinjauan pustaka</a:t>
            </a:r>
          </a:p>
        </p:txBody>
      </p:sp>
      <p:sp>
        <p:nvSpPr>
          <p:cNvPr name="TextBox 20" id="20"/>
          <p:cNvSpPr txBox="true"/>
          <p:nvPr/>
        </p:nvSpPr>
        <p:spPr>
          <a:xfrm rot="0">
            <a:off x="432984" y="9324000"/>
            <a:ext cx="17422032" cy="1053465"/>
          </a:xfrm>
          <a:prstGeom prst="rect">
            <a:avLst/>
          </a:prstGeom>
        </p:spPr>
        <p:txBody>
          <a:bodyPr anchor="t" rtlCol="false" tIns="0" lIns="0" bIns="0" rIns="0">
            <a:spAutoFit/>
          </a:bodyPr>
          <a:lstStyle/>
          <a:p>
            <a:pPr algn="just">
              <a:lnSpc>
                <a:spcPts val="2799"/>
              </a:lnSpc>
            </a:pPr>
            <a:r>
              <a:rPr lang="en-US" b="true" sz="1999">
                <a:solidFill>
                  <a:srgbClr val="000000"/>
                </a:solidFill>
                <a:latin typeface="Poppins Bold"/>
                <a:ea typeface="Poppins Bold"/>
                <a:cs typeface="Poppins Bold"/>
                <a:sym typeface="Poppins Bold"/>
              </a:rPr>
              <a:t>Refrensi :</a:t>
            </a:r>
          </a:p>
          <a:p>
            <a:pPr algn="just" marL="280673" indent="-140336" lvl="1">
              <a:lnSpc>
                <a:spcPts val="1820"/>
              </a:lnSpc>
              <a:buFont typeface="Arial"/>
              <a:buChar char="•"/>
            </a:pPr>
            <a:r>
              <a:rPr lang="en-US" sz="1300">
                <a:solidFill>
                  <a:srgbClr val="000000"/>
                </a:solidFill>
                <a:latin typeface="Poppins"/>
                <a:ea typeface="Poppins"/>
                <a:cs typeface="Poppins"/>
                <a:sym typeface="Poppins"/>
              </a:rPr>
              <a:t>Zhao, S., Duncan, S. R., &amp; Howey, D. A. (2017). Observability analysis and state estimation of lithium-ion batteries in the presence of sensor biases. IEEE Transactions on Control Systems Technology, 25(1), 326–333. </a:t>
            </a:r>
            <a:r>
              <a:rPr lang="en-US" sz="1300" u="sng">
                <a:solidFill>
                  <a:srgbClr val="000000"/>
                </a:solidFill>
                <a:latin typeface="Poppins"/>
                <a:ea typeface="Poppins"/>
                <a:cs typeface="Poppins"/>
                <a:sym typeface="Poppins"/>
                <a:hlinkClick r:id="rId7" tooltip="https://doi.org/10.1109/TCST.2016.2542115"/>
              </a:rPr>
              <a:t>https://doi.org/10.1109/TCST.2016.2542115</a:t>
            </a:r>
          </a:p>
          <a:p>
            <a:pPr algn="just">
              <a:lnSpc>
                <a:spcPts val="1820"/>
              </a:lnSpc>
            </a:pPr>
          </a:p>
        </p:txBody>
      </p:sp>
      <p:sp>
        <p:nvSpPr>
          <p:cNvPr name="TextBox 21" id="21"/>
          <p:cNvSpPr txBox="true"/>
          <p:nvPr/>
        </p:nvSpPr>
        <p:spPr>
          <a:xfrm rot="0">
            <a:off x="7848258" y="6370091"/>
            <a:ext cx="9520579" cy="1722119"/>
          </a:xfrm>
          <a:prstGeom prst="rect">
            <a:avLst/>
          </a:prstGeom>
        </p:spPr>
        <p:txBody>
          <a:bodyPr anchor="t" rtlCol="false" tIns="0" lIns="0" bIns="0" rIns="0">
            <a:spAutoFit/>
          </a:bodyPr>
          <a:lstStyle/>
          <a:p>
            <a:pPr algn="just" marL="388625" indent="-194312" lvl="1">
              <a:lnSpc>
                <a:spcPts val="2700"/>
              </a:lnSpc>
              <a:buFont typeface="Arial"/>
              <a:buChar char="•"/>
            </a:pPr>
            <a:r>
              <a:rPr lang="en-US" sz="1800">
                <a:solidFill>
                  <a:srgbClr val="000000"/>
                </a:solidFill>
                <a:latin typeface="Poppins"/>
                <a:ea typeface="Poppins"/>
                <a:cs typeface="Poppins"/>
                <a:sym typeface="Poppins"/>
              </a:rPr>
              <a:t>h(x): fungsi output </a:t>
            </a:r>
          </a:p>
          <a:p>
            <a:pPr algn="just" marL="388625" indent="-194312" lvl="1">
              <a:lnSpc>
                <a:spcPts val="2700"/>
              </a:lnSpc>
              <a:buFont typeface="Arial"/>
              <a:buChar char="•"/>
            </a:pPr>
            <a:r>
              <a:rPr lang="en-US" sz="1800">
                <a:solidFill>
                  <a:srgbClr val="000000"/>
                </a:solidFill>
                <a:latin typeface="Poppins"/>
                <a:ea typeface="Poppins"/>
                <a:cs typeface="Poppins"/>
                <a:sym typeface="Poppins"/>
              </a:rPr>
              <a:t>L</a:t>
            </a:r>
            <a:r>
              <a:rPr lang="en-US" sz="1800">
                <a:solidFill>
                  <a:srgbClr val="000000"/>
                </a:solidFill>
                <a:latin typeface="Poppins"/>
                <a:ea typeface="Poppins"/>
                <a:cs typeface="Poppins"/>
                <a:sym typeface="Poppins"/>
              </a:rPr>
              <a:t>f</a:t>
            </a:r>
            <a:r>
              <a:rPr lang="en-US" sz="1800">
                <a:solidFill>
                  <a:srgbClr val="000000"/>
                </a:solidFill>
                <a:latin typeface="Poppins"/>
                <a:ea typeface="Poppins"/>
                <a:cs typeface="Poppins"/>
                <a:sym typeface="Poppins"/>
              </a:rPr>
              <a:t>​h(x): Lie derivative, yaitu laju perubahan h(x) sepanjang lintasan dinamika f(x)</a:t>
            </a:r>
          </a:p>
          <a:p>
            <a:pPr algn="just" marL="388625" indent="-194312" lvl="1">
              <a:lnSpc>
                <a:spcPts val="2700"/>
              </a:lnSpc>
              <a:buFont typeface="Arial"/>
              <a:buChar char="•"/>
            </a:pPr>
            <a:r>
              <a:rPr lang="en-US" sz="1800">
                <a:solidFill>
                  <a:srgbClr val="000000"/>
                </a:solidFill>
                <a:latin typeface="Poppins"/>
                <a:ea typeface="Poppins"/>
                <a:cs typeface="Poppins"/>
                <a:sym typeface="Poppins"/>
              </a:rPr>
              <a:t>dh, dL</a:t>
            </a:r>
            <a:r>
              <a:rPr lang="en-US" sz="1800">
                <a:solidFill>
                  <a:srgbClr val="000000"/>
                </a:solidFill>
                <a:latin typeface="Poppins"/>
                <a:ea typeface="Poppins"/>
                <a:cs typeface="Poppins"/>
                <a:sym typeface="Poppins"/>
              </a:rPr>
              <a:t>f</a:t>
            </a:r>
            <a:r>
              <a:rPr lang="en-US" sz="1800">
                <a:solidFill>
                  <a:srgbClr val="000000"/>
                </a:solidFill>
                <a:latin typeface="Poppins"/>
                <a:ea typeface="Poppins"/>
                <a:cs typeface="Poppins"/>
                <a:sym typeface="Poppins"/>
              </a:rPr>
              <a:t>​h: gradien (turunan parsial terhadap seluruh </a:t>
            </a:r>
            <a:r>
              <a:rPr lang="en-US" sz="1800" i="true">
                <a:solidFill>
                  <a:srgbClr val="000000"/>
                </a:solidFill>
                <a:latin typeface="Poppins Italics"/>
                <a:ea typeface="Poppins Italics"/>
                <a:cs typeface="Poppins Italics"/>
                <a:sym typeface="Poppins Italics"/>
              </a:rPr>
              <a:t>state</a:t>
            </a:r>
            <a:r>
              <a:rPr lang="en-US" sz="1800">
                <a:solidFill>
                  <a:srgbClr val="000000"/>
                </a:solidFill>
                <a:latin typeface="Poppins"/>
                <a:ea typeface="Poppins"/>
                <a:cs typeface="Poppins"/>
                <a:sym typeface="Poppins"/>
              </a:rPr>
              <a:t>)</a:t>
            </a:r>
          </a:p>
          <a:p>
            <a:pPr algn="just" marL="388625" indent="-194312" lvl="1">
              <a:lnSpc>
                <a:spcPts val="2700"/>
              </a:lnSpc>
              <a:buFont typeface="Arial"/>
              <a:buChar char="•"/>
            </a:pPr>
            <a:r>
              <a:rPr lang="en-US" sz="1800" i="true">
                <a:solidFill>
                  <a:srgbClr val="000000"/>
                </a:solidFill>
                <a:latin typeface="Poppins Italics"/>
                <a:ea typeface="Poppins Italics"/>
                <a:cs typeface="Poppins Italics"/>
                <a:sym typeface="Poppins Italics"/>
              </a:rPr>
              <a:t>Q</a:t>
            </a:r>
            <a:r>
              <a:rPr lang="en-US" sz="1800">
                <a:solidFill>
                  <a:srgbClr val="000000"/>
                </a:solidFill>
                <a:latin typeface="Poppins"/>
                <a:ea typeface="Poppins"/>
                <a:cs typeface="Poppins"/>
                <a:sym typeface="Poppins"/>
              </a:rPr>
              <a:t>: matriks observabilitas, disusun dari gradien hh h dan Lie derivative-nya</a:t>
            </a:r>
          </a:p>
          <a:p>
            <a:pPr algn="just" marL="388625" indent="-194312" lvl="1">
              <a:lnSpc>
                <a:spcPts val="2700"/>
              </a:lnSpc>
              <a:buFont typeface="Arial"/>
              <a:buChar char="•"/>
            </a:pPr>
            <a:r>
              <a:rPr lang="en-US" sz="1800" i="true">
                <a:solidFill>
                  <a:srgbClr val="000000"/>
                </a:solidFill>
                <a:latin typeface="Poppins Italics"/>
                <a:ea typeface="Poppins Italics"/>
                <a:cs typeface="Poppins Italics"/>
                <a:sym typeface="Poppins Italics"/>
              </a:rPr>
              <a:t>n</a:t>
            </a:r>
            <a:r>
              <a:rPr lang="en-US" sz="1800">
                <a:solidFill>
                  <a:srgbClr val="000000"/>
                </a:solidFill>
                <a:latin typeface="Poppins"/>
                <a:ea typeface="Poppins"/>
                <a:cs typeface="Poppins"/>
                <a:sym typeface="Poppins"/>
              </a:rPr>
              <a:t>: jumlah state pada sistem</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4816593" cy="2709333"/>
          </a:xfrm>
        </p:grpSpPr>
        <p:sp>
          <p:nvSpPr>
            <p:cNvPr name="Freeform 3" id="3"/>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59524B"/>
            </a:solidFill>
          </p:spPr>
        </p:sp>
        <p:sp>
          <p:nvSpPr>
            <p:cNvPr name="TextBox 4" id="4"/>
            <p:cNvSpPr txBox="true"/>
            <p:nvPr/>
          </p:nvSpPr>
          <p:spPr>
            <a:xfrm>
              <a:off x="0" y="-38100"/>
              <a:ext cx="4816593" cy="2747433"/>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723147" y="0"/>
            <a:ext cx="21734294" cy="10287000"/>
          </a:xfrm>
          <a:custGeom>
            <a:avLst/>
            <a:gdLst/>
            <a:ahLst/>
            <a:cxnLst/>
            <a:rect r="r" b="b" t="t" l="l"/>
            <a:pathLst>
              <a:path h="10287000" w="21734294">
                <a:moveTo>
                  <a:pt x="0" y="0"/>
                </a:moveTo>
                <a:lnTo>
                  <a:pt x="21734294" y="0"/>
                </a:lnTo>
                <a:lnTo>
                  <a:pt x="21734294" y="10287000"/>
                </a:lnTo>
                <a:lnTo>
                  <a:pt x="0" y="10287000"/>
                </a:lnTo>
                <a:lnTo>
                  <a:pt x="0" y="0"/>
                </a:lnTo>
                <a:close/>
              </a:path>
            </a:pathLst>
          </a:custGeom>
          <a:blipFill>
            <a:blip r:embed="rId2">
              <a:alphaModFix amt="50000"/>
            </a:blip>
            <a:stretch>
              <a:fillRect l="0" t="0" r="0" b="0"/>
            </a:stretch>
          </a:blipFill>
        </p:spPr>
      </p:sp>
      <p:grpSp>
        <p:nvGrpSpPr>
          <p:cNvPr name="Group 6" id="6"/>
          <p:cNvGrpSpPr/>
          <p:nvPr/>
        </p:nvGrpSpPr>
        <p:grpSpPr>
          <a:xfrm rot="0">
            <a:off x="4853953" y="4169257"/>
            <a:ext cx="8580094" cy="1948485"/>
            <a:chOff x="0" y="0"/>
            <a:chExt cx="1789570" cy="406400"/>
          </a:xfrm>
        </p:grpSpPr>
        <p:sp>
          <p:nvSpPr>
            <p:cNvPr name="Freeform 7" id="7"/>
            <p:cNvSpPr/>
            <p:nvPr/>
          </p:nvSpPr>
          <p:spPr>
            <a:xfrm flipH="false" flipV="false" rot="0">
              <a:off x="0" y="0"/>
              <a:ext cx="1789570" cy="406400"/>
            </a:xfrm>
            <a:custGeom>
              <a:avLst/>
              <a:gdLst/>
              <a:ahLst/>
              <a:cxnLst/>
              <a:rect r="r" b="b" t="t" l="l"/>
              <a:pathLst>
                <a:path h="406400" w="1789570">
                  <a:moveTo>
                    <a:pt x="1586370" y="0"/>
                  </a:moveTo>
                  <a:cubicBezTo>
                    <a:pt x="1698594" y="0"/>
                    <a:pt x="1789570" y="90976"/>
                    <a:pt x="1789570" y="203200"/>
                  </a:cubicBezTo>
                  <a:cubicBezTo>
                    <a:pt x="1789570" y="315424"/>
                    <a:pt x="1698594" y="406400"/>
                    <a:pt x="1586370"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8" id="8"/>
            <p:cNvSpPr txBox="true"/>
            <p:nvPr/>
          </p:nvSpPr>
          <p:spPr>
            <a:xfrm>
              <a:off x="0" y="-38100"/>
              <a:ext cx="1789570" cy="4445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3038174" y="458478"/>
            <a:ext cx="4563040" cy="1140443"/>
            <a:chOff x="0" y="0"/>
            <a:chExt cx="6084053" cy="1520591"/>
          </a:xfrm>
        </p:grpSpPr>
        <p:grpSp>
          <p:nvGrpSpPr>
            <p:cNvPr name="Group 10" id="10"/>
            <p:cNvGrpSpPr/>
            <p:nvPr/>
          </p:nvGrpSpPr>
          <p:grpSpPr>
            <a:xfrm rot="0">
              <a:off x="0" y="0"/>
              <a:ext cx="6084053" cy="1520591"/>
              <a:chOff x="0" y="0"/>
              <a:chExt cx="1626052" cy="406400"/>
            </a:xfrm>
          </p:grpSpPr>
          <p:sp>
            <p:nvSpPr>
              <p:cNvPr name="Freeform 11" id="11"/>
              <p:cNvSpPr/>
              <p:nvPr/>
            </p:nvSpPr>
            <p:spPr>
              <a:xfrm flipH="false" flipV="false" rot="0">
                <a:off x="0" y="0"/>
                <a:ext cx="1626052" cy="406400"/>
              </a:xfrm>
              <a:custGeom>
                <a:avLst/>
                <a:gdLst/>
                <a:ahLst/>
                <a:cxnLst/>
                <a:rect r="r" b="b" t="t" l="l"/>
                <a:pathLst>
                  <a:path h="406400" w="1626052">
                    <a:moveTo>
                      <a:pt x="1422852" y="0"/>
                    </a:moveTo>
                    <a:cubicBezTo>
                      <a:pt x="1535076" y="0"/>
                      <a:pt x="1626052" y="90976"/>
                      <a:pt x="1626052" y="203200"/>
                    </a:cubicBezTo>
                    <a:cubicBezTo>
                      <a:pt x="1626052" y="315424"/>
                      <a:pt x="1535076" y="406400"/>
                      <a:pt x="1422852"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12" id="12"/>
              <p:cNvSpPr txBox="true"/>
              <p:nvPr/>
            </p:nvSpPr>
            <p:spPr>
              <a:xfrm>
                <a:off x="0" y="-38100"/>
                <a:ext cx="1626052" cy="444500"/>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414535" y="124612"/>
              <a:ext cx="5254984" cy="1271367"/>
            </a:xfrm>
            <a:custGeom>
              <a:avLst/>
              <a:gdLst/>
              <a:ahLst/>
              <a:cxnLst/>
              <a:rect r="r" b="b" t="t" l="l"/>
              <a:pathLst>
                <a:path h="1271367" w="5254984">
                  <a:moveTo>
                    <a:pt x="0" y="0"/>
                  </a:moveTo>
                  <a:lnTo>
                    <a:pt x="5254983" y="0"/>
                  </a:lnTo>
                  <a:lnTo>
                    <a:pt x="5254983" y="1271367"/>
                  </a:lnTo>
                  <a:lnTo>
                    <a:pt x="0" y="1271367"/>
                  </a:lnTo>
                  <a:lnTo>
                    <a:pt x="0" y="0"/>
                  </a:lnTo>
                  <a:close/>
                </a:path>
              </a:pathLst>
            </a:custGeom>
            <a:blipFill>
              <a:blip r:embed="rId3"/>
              <a:stretch>
                <a:fillRect l="0" t="0" r="0" b="0"/>
              </a:stretch>
            </a:blipFill>
          </p:spPr>
        </p:sp>
      </p:grpSp>
      <p:sp>
        <p:nvSpPr>
          <p:cNvPr name="TextBox 14" id="14"/>
          <p:cNvSpPr txBox="true"/>
          <p:nvPr/>
        </p:nvSpPr>
        <p:spPr>
          <a:xfrm rot="0">
            <a:off x="5196785" y="4186490"/>
            <a:ext cx="7894431" cy="1713996"/>
          </a:xfrm>
          <a:prstGeom prst="rect">
            <a:avLst/>
          </a:prstGeom>
        </p:spPr>
        <p:txBody>
          <a:bodyPr anchor="t" rtlCol="false" tIns="0" lIns="0" bIns="0" rIns="0">
            <a:spAutoFit/>
          </a:bodyPr>
          <a:lstStyle/>
          <a:p>
            <a:pPr algn="ctr">
              <a:lnSpc>
                <a:spcPts val="13911"/>
              </a:lnSpc>
            </a:pPr>
            <a:r>
              <a:rPr lang="en-US" sz="9937">
                <a:solidFill>
                  <a:srgbClr val="59524B"/>
                </a:solidFill>
                <a:latin typeface="Bebas Neue 1"/>
                <a:ea typeface="Bebas Neue 1"/>
                <a:cs typeface="Bebas Neue 1"/>
                <a:sym typeface="Bebas Neue 1"/>
              </a:rPr>
              <a:t>Metode penelitian</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8994" y="-227865"/>
            <a:ext cx="8791845" cy="11115601"/>
            <a:chOff x="0" y="0"/>
            <a:chExt cx="2315548" cy="2927566"/>
          </a:xfrm>
        </p:grpSpPr>
        <p:sp>
          <p:nvSpPr>
            <p:cNvPr name="Freeform 3" id="3"/>
            <p:cNvSpPr/>
            <p:nvPr/>
          </p:nvSpPr>
          <p:spPr>
            <a:xfrm flipH="false" flipV="false" rot="0">
              <a:off x="0" y="0"/>
              <a:ext cx="2315548" cy="2927566"/>
            </a:xfrm>
            <a:custGeom>
              <a:avLst/>
              <a:gdLst/>
              <a:ahLst/>
              <a:cxnLst/>
              <a:rect r="r" b="b" t="t" l="l"/>
              <a:pathLst>
                <a:path h="2927566" w="2315548">
                  <a:moveTo>
                    <a:pt x="0" y="0"/>
                  </a:moveTo>
                  <a:lnTo>
                    <a:pt x="2315548" y="0"/>
                  </a:lnTo>
                  <a:lnTo>
                    <a:pt x="2315548" y="2927566"/>
                  </a:lnTo>
                  <a:lnTo>
                    <a:pt x="0" y="2927566"/>
                  </a:lnTo>
                  <a:close/>
                </a:path>
              </a:pathLst>
            </a:custGeom>
            <a:solidFill>
              <a:srgbClr val="59524B"/>
            </a:solidFill>
          </p:spPr>
        </p:sp>
        <p:sp>
          <p:nvSpPr>
            <p:cNvPr name="TextBox 4" id="4"/>
            <p:cNvSpPr txBox="true"/>
            <p:nvPr/>
          </p:nvSpPr>
          <p:spPr>
            <a:xfrm>
              <a:off x="0" y="-38100"/>
              <a:ext cx="2315548" cy="2965666"/>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918897" y="4487199"/>
            <a:ext cx="6010384" cy="1000423"/>
          </a:xfrm>
          <a:prstGeom prst="rect">
            <a:avLst/>
          </a:prstGeom>
        </p:spPr>
        <p:txBody>
          <a:bodyPr anchor="t" rtlCol="false" tIns="0" lIns="0" bIns="0" rIns="0">
            <a:spAutoFit/>
          </a:bodyPr>
          <a:lstStyle/>
          <a:p>
            <a:pPr algn="ctr">
              <a:lnSpc>
                <a:spcPts val="8142"/>
              </a:lnSpc>
            </a:pPr>
            <a:r>
              <a:rPr lang="en-US" sz="5816">
                <a:solidFill>
                  <a:srgbClr val="FFFFFF"/>
                </a:solidFill>
                <a:latin typeface="Bebas Neue 1"/>
                <a:ea typeface="Bebas Neue 1"/>
                <a:cs typeface="Bebas Neue 1"/>
                <a:sym typeface="Bebas Neue 1"/>
              </a:rPr>
              <a:t>Diagram alir penelitian</a:t>
            </a:r>
          </a:p>
        </p:txBody>
      </p:sp>
      <p:grpSp>
        <p:nvGrpSpPr>
          <p:cNvPr name="Group 6" id="6"/>
          <p:cNvGrpSpPr/>
          <p:nvPr/>
        </p:nvGrpSpPr>
        <p:grpSpPr>
          <a:xfrm rot="0">
            <a:off x="1527735" y="5487622"/>
            <a:ext cx="4792708" cy="197878"/>
            <a:chOff x="0" y="0"/>
            <a:chExt cx="1262277" cy="52116"/>
          </a:xfrm>
        </p:grpSpPr>
        <p:sp>
          <p:nvSpPr>
            <p:cNvPr name="Freeform 7" id="7"/>
            <p:cNvSpPr/>
            <p:nvPr/>
          </p:nvSpPr>
          <p:spPr>
            <a:xfrm flipH="false" flipV="false" rot="0">
              <a:off x="0" y="0"/>
              <a:ext cx="1262277" cy="52116"/>
            </a:xfrm>
            <a:custGeom>
              <a:avLst/>
              <a:gdLst/>
              <a:ahLst/>
              <a:cxnLst/>
              <a:rect r="r" b="b" t="t" l="l"/>
              <a:pathLst>
                <a:path h="52116" w="1262277">
                  <a:moveTo>
                    <a:pt x="0" y="0"/>
                  </a:moveTo>
                  <a:lnTo>
                    <a:pt x="1262277" y="0"/>
                  </a:lnTo>
                  <a:lnTo>
                    <a:pt x="1262277" y="52116"/>
                  </a:lnTo>
                  <a:lnTo>
                    <a:pt x="0" y="52116"/>
                  </a:lnTo>
                  <a:close/>
                </a:path>
              </a:pathLst>
            </a:custGeom>
            <a:solidFill>
              <a:srgbClr val="FFFFFF"/>
            </a:solidFill>
          </p:spPr>
        </p:sp>
        <p:sp>
          <p:nvSpPr>
            <p:cNvPr name="TextBox 8" id="8"/>
            <p:cNvSpPr txBox="true"/>
            <p:nvPr/>
          </p:nvSpPr>
          <p:spPr>
            <a:xfrm>
              <a:off x="0" y="-38100"/>
              <a:ext cx="1262277" cy="90216"/>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3038174" y="458478"/>
            <a:ext cx="4563040" cy="1140443"/>
            <a:chOff x="0" y="0"/>
            <a:chExt cx="6084053" cy="1520591"/>
          </a:xfrm>
        </p:grpSpPr>
        <p:grpSp>
          <p:nvGrpSpPr>
            <p:cNvPr name="Group 10" id="10"/>
            <p:cNvGrpSpPr/>
            <p:nvPr/>
          </p:nvGrpSpPr>
          <p:grpSpPr>
            <a:xfrm rot="0">
              <a:off x="0" y="0"/>
              <a:ext cx="6084053" cy="1520591"/>
              <a:chOff x="0" y="0"/>
              <a:chExt cx="1626052" cy="406400"/>
            </a:xfrm>
          </p:grpSpPr>
          <p:sp>
            <p:nvSpPr>
              <p:cNvPr name="Freeform 11" id="11"/>
              <p:cNvSpPr/>
              <p:nvPr/>
            </p:nvSpPr>
            <p:spPr>
              <a:xfrm flipH="false" flipV="false" rot="0">
                <a:off x="0" y="0"/>
                <a:ext cx="1626052" cy="406400"/>
              </a:xfrm>
              <a:custGeom>
                <a:avLst/>
                <a:gdLst/>
                <a:ahLst/>
                <a:cxnLst/>
                <a:rect r="r" b="b" t="t" l="l"/>
                <a:pathLst>
                  <a:path h="406400" w="1626052">
                    <a:moveTo>
                      <a:pt x="1422852" y="0"/>
                    </a:moveTo>
                    <a:cubicBezTo>
                      <a:pt x="1535076" y="0"/>
                      <a:pt x="1626052" y="90976"/>
                      <a:pt x="1626052" y="203200"/>
                    </a:cubicBezTo>
                    <a:cubicBezTo>
                      <a:pt x="1626052" y="315424"/>
                      <a:pt x="1535076" y="406400"/>
                      <a:pt x="1422852"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12" id="12"/>
              <p:cNvSpPr txBox="true"/>
              <p:nvPr/>
            </p:nvSpPr>
            <p:spPr>
              <a:xfrm>
                <a:off x="0" y="-38100"/>
                <a:ext cx="1626052" cy="444500"/>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414535" y="124612"/>
              <a:ext cx="5254984" cy="1271367"/>
            </a:xfrm>
            <a:custGeom>
              <a:avLst/>
              <a:gdLst/>
              <a:ahLst/>
              <a:cxnLst/>
              <a:rect r="r" b="b" t="t" l="l"/>
              <a:pathLst>
                <a:path h="1271367" w="5254984">
                  <a:moveTo>
                    <a:pt x="0" y="0"/>
                  </a:moveTo>
                  <a:lnTo>
                    <a:pt x="5254983" y="0"/>
                  </a:lnTo>
                  <a:lnTo>
                    <a:pt x="5254983" y="1271367"/>
                  </a:lnTo>
                  <a:lnTo>
                    <a:pt x="0" y="1271367"/>
                  </a:lnTo>
                  <a:lnTo>
                    <a:pt x="0" y="0"/>
                  </a:lnTo>
                  <a:close/>
                </a:path>
              </a:pathLst>
            </a:custGeom>
            <a:blipFill>
              <a:blip r:embed="rId2"/>
              <a:stretch>
                <a:fillRect l="0" t="0" r="0" b="0"/>
              </a:stretch>
            </a:blipFill>
          </p:spPr>
        </p:sp>
      </p:grpSp>
      <p:sp>
        <p:nvSpPr>
          <p:cNvPr name="Freeform 14" id="14"/>
          <p:cNvSpPr/>
          <p:nvPr/>
        </p:nvSpPr>
        <p:spPr>
          <a:xfrm flipH="false" flipV="false" rot="0">
            <a:off x="8749848" y="1606072"/>
            <a:ext cx="8576653" cy="8680928"/>
          </a:xfrm>
          <a:custGeom>
            <a:avLst/>
            <a:gdLst/>
            <a:ahLst/>
            <a:cxnLst/>
            <a:rect r="r" b="b" t="t" l="l"/>
            <a:pathLst>
              <a:path h="8680928" w="8576653">
                <a:moveTo>
                  <a:pt x="0" y="0"/>
                </a:moveTo>
                <a:lnTo>
                  <a:pt x="8576653" y="0"/>
                </a:lnTo>
                <a:lnTo>
                  <a:pt x="8576653" y="8680928"/>
                </a:lnTo>
                <a:lnTo>
                  <a:pt x="0" y="8680928"/>
                </a:lnTo>
                <a:lnTo>
                  <a:pt x="0" y="0"/>
                </a:lnTo>
                <a:close/>
              </a:path>
            </a:pathLst>
          </a:custGeom>
          <a:blipFill>
            <a:blip r:embed="rId3"/>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5313" y="464654"/>
            <a:ext cx="5217449" cy="1523631"/>
            <a:chOff x="0" y="0"/>
            <a:chExt cx="1859252" cy="542950"/>
          </a:xfrm>
        </p:grpSpPr>
        <p:sp>
          <p:nvSpPr>
            <p:cNvPr name="Freeform 3" id="3"/>
            <p:cNvSpPr/>
            <p:nvPr/>
          </p:nvSpPr>
          <p:spPr>
            <a:xfrm flipH="false" flipV="false" rot="0">
              <a:off x="0" y="0"/>
              <a:ext cx="1859252" cy="542950"/>
            </a:xfrm>
            <a:custGeom>
              <a:avLst/>
              <a:gdLst/>
              <a:ahLst/>
              <a:cxnLst/>
              <a:rect r="r" b="b" t="t" l="l"/>
              <a:pathLst>
                <a:path h="542950" w="1859252">
                  <a:moveTo>
                    <a:pt x="1656052" y="0"/>
                  </a:moveTo>
                  <a:cubicBezTo>
                    <a:pt x="1768276" y="0"/>
                    <a:pt x="1859252" y="121543"/>
                    <a:pt x="1859252" y="271475"/>
                  </a:cubicBezTo>
                  <a:cubicBezTo>
                    <a:pt x="1859252" y="421406"/>
                    <a:pt x="1768276" y="542950"/>
                    <a:pt x="1656052" y="542950"/>
                  </a:cubicBezTo>
                  <a:lnTo>
                    <a:pt x="203200" y="542950"/>
                  </a:lnTo>
                  <a:cubicBezTo>
                    <a:pt x="90976" y="542950"/>
                    <a:pt x="0" y="421406"/>
                    <a:pt x="0" y="271475"/>
                  </a:cubicBezTo>
                  <a:cubicBezTo>
                    <a:pt x="0" y="121543"/>
                    <a:pt x="90976" y="0"/>
                    <a:pt x="203200" y="0"/>
                  </a:cubicBezTo>
                  <a:close/>
                </a:path>
              </a:pathLst>
            </a:custGeom>
            <a:solidFill>
              <a:srgbClr val="F2F2F2"/>
            </a:solidFill>
          </p:spPr>
        </p:sp>
        <p:sp>
          <p:nvSpPr>
            <p:cNvPr name="TextBox 4" id="4"/>
            <p:cNvSpPr txBox="true"/>
            <p:nvPr/>
          </p:nvSpPr>
          <p:spPr>
            <a:xfrm>
              <a:off x="0" y="-38100"/>
              <a:ext cx="1859252" cy="5810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809625" y="9163050"/>
            <a:ext cx="16668750" cy="95250"/>
            <a:chOff x="0" y="0"/>
            <a:chExt cx="4390123" cy="25086"/>
          </a:xfrm>
        </p:grpSpPr>
        <p:sp>
          <p:nvSpPr>
            <p:cNvPr name="Freeform 6" id="6"/>
            <p:cNvSpPr/>
            <p:nvPr/>
          </p:nvSpPr>
          <p:spPr>
            <a:xfrm flipH="false" flipV="false" rot="0">
              <a:off x="0" y="0"/>
              <a:ext cx="4390124" cy="25086"/>
            </a:xfrm>
            <a:custGeom>
              <a:avLst/>
              <a:gdLst/>
              <a:ahLst/>
              <a:cxnLst/>
              <a:rect r="r" b="b" t="t" l="l"/>
              <a:pathLst>
                <a:path h="25086" w="4390124">
                  <a:moveTo>
                    <a:pt x="0" y="0"/>
                  </a:moveTo>
                  <a:lnTo>
                    <a:pt x="4390124" y="0"/>
                  </a:lnTo>
                  <a:lnTo>
                    <a:pt x="4390124" y="25086"/>
                  </a:lnTo>
                  <a:lnTo>
                    <a:pt x="0" y="25086"/>
                  </a:lnTo>
                  <a:close/>
                </a:path>
              </a:pathLst>
            </a:custGeom>
            <a:solidFill>
              <a:srgbClr val="59524B"/>
            </a:solidFill>
          </p:spPr>
        </p:sp>
        <p:sp>
          <p:nvSpPr>
            <p:cNvPr name="TextBox 7" id="7"/>
            <p:cNvSpPr txBox="true"/>
            <p:nvPr/>
          </p:nvSpPr>
          <p:spPr>
            <a:xfrm>
              <a:off x="0" y="-38100"/>
              <a:ext cx="4390123" cy="63186"/>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3038174" y="458478"/>
            <a:ext cx="4563040" cy="1140443"/>
            <a:chOff x="0" y="0"/>
            <a:chExt cx="6084053" cy="1520591"/>
          </a:xfrm>
        </p:grpSpPr>
        <p:grpSp>
          <p:nvGrpSpPr>
            <p:cNvPr name="Group 9" id="9"/>
            <p:cNvGrpSpPr/>
            <p:nvPr/>
          </p:nvGrpSpPr>
          <p:grpSpPr>
            <a:xfrm rot="0">
              <a:off x="0" y="0"/>
              <a:ext cx="6084053" cy="1520591"/>
              <a:chOff x="0" y="0"/>
              <a:chExt cx="1626052" cy="406400"/>
            </a:xfrm>
          </p:grpSpPr>
          <p:sp>
            <p:nvSpPr>
              <p:cNvPr name="Freeform 10" id="10"/>
              <p:cNvSpPr/>
              <p:nvPr/>
            </p:nvSpPr>
            <p:spPr>
              <a:xfrm flipH="false" flipV="false" rot="0">
                <a:off x="0" y="0"/>
                <a:ext cx="1626052" cy="406400"/>
              </a:xfrm>
              <a:custGeom>
                <a:avLst/>
                <a:gdLst/>
                <a:ahLst/>
                <a:cxnLst/>
                <a:rect r="r" b="b" t="t" l="l"/>
                <a:pathLst>
                  <a:path h="406400" w="1626052">
                    <a:moveTo>
                      <a:pt x="1422852" y="0"/>
                    </a:moveTo>
                    <a:cubicBezTo>
                      <a:pt x="1535076" y="0"/>
                      <a:pt x="1626052" y="90976"/>
                      <a:pt x="1626052" y="203200"/>
                    </a:cubicBezTo>
                    <a:cubicBezTo>
                      <a:pt x="1626052" y="315424"/>
                      <a:pt x="1535076" y="406400"/>
                      <a:pt x="1422852"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11" id="11"/>
              <p:cNvSpPr txBox="true"/>
              <p:nvPr/>
            </p:nvSpPr>
            <p:spPr>
              <a:xfrm>
                <a:off x="0" y="-38100"/>
                <a:ext cx="1626052" cy="444500"/>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414535" y="124612"/>
              <a:ext cx="5254984" cy="1271367"/>
            </a:xfrm>
            <a:custGeom>
              <a:avLst/>
              <a:gdLst/>
              <a:ahLst/>
              <a:cxnLst/>
              <a:rect r="r" b="b" t="t" l="l"/>
              <a:pathLst>
                <a:path h="1271367" w="5254984">
                  <a:moveTo>
                    <a:pt x="0" y="0"/>
                  </a:moveTo>
                  <a:lnTo>
                    <a:pt x="5254983" y="0"/>
                  </a:lnTo>
                  <a:lnTo>
                    <a:pt x="5254983" y="1271367"/>
                  </a:lnTo>
                  <a:lnTo>
                    <a:pt x="0" y="1271367"/>
                  </a:lnTo>
                  <a:lnTo>
                    <a:pt x="0" y="0"/>
                  </a:lnTo>
                  <a:close/>
                </a:path>
              </a:pathLst>
            </a:custGeom>
            <a:blipFill>
              <a:blip r:embed="rId2"/>
              <a:stretch>
                <a:fillRect l="0" t="0" r="0" b="0"/>
              </a:stretch>
            </a:blipFill>
          </p:spPr>
        </p:sp>
      </p:grpSp>
      <p:sp>
        <p:nvSpPr>
          <p:cNvPr name="Freeform 13" id="13"/>
          <p:cNvSpPr/>
          <p:nvPr/>
        </p:nvSpPr>
        <p:spPr>
          <a:xfrm flipH="false" flipV="false" rot="0">
            <a:off x="1547059" y="2328643"/>
            <a:ext cx="10008380" cy="5629714"/>
          </a:xfrm>
          <a:custGeom>
            <a:avLst/>
            <a:gdLst/>
            <a:ahLst/>
            <a:cxnLst/>
            <a:rect r="r" b="b" t="t" l="l"/>
            <a:pathLst>
              <a:path h="5629714" w="10008380">
                <a:moveTo>
                  <a:pt x="0" y="0"/>
                </a:moveTo>
                <a:lnTo>
                  <a:pt x="10008380" y="0"/>
                </a:lnTo>
                <a:lnTo>
                  <a:pt x="10008380" y="5629714"/>
                </a:lnTo>
                <a:lnTo>
                  <a:pt x="0" y="5629714"/>
                </a:lnTo>
                <a:lnTo>
                  <a:pt x="0" y="0"/>
                </a:lnTo>
                <a:close/>
              </a:path>
            </a:pathLst>
          </a:custGeom>
          <a:blipFill>
            <a:blip r:embed="rId3"/>
            <a:stretch>
              <a:fillRect l="0" t="0" r="0" b="0"/>
            </a:stretch>
          </a:blipFill>
        </p:spPr>
      </p:sp>
      <p:sp>
        <p:nvSpPr>
          <p:cNvPr name="Freeform 14" id="14"/>
          <p:cNvSpPr/>
          <p:nvPr/>
        </p:nvSpPr>
        <p:spPr>
          <a:xfrm flipH="false" flipV="false" rot="0">
            <a:off x="12479730" y="3148426"/>
            <a:ext cx="4261211" cy="3990147"/>
          </a:xfrm>
          <a:custGeom>
            <a:avLst/>
            <a:gdLst/>
            <a:ahLst/>
            <a:cxnLst/>
            <a:rect r="r" b="b" t="t" l="l"/>
            <a:pathLst>
              <a:path h="3990147" w="4261211">
                <a:moveTo>
                  <a:pt x="0" y="0"/>
                </a:moveTo>
                <a:lnTo>
                  <a:pt x="4261211" y="0"/>
                </a:lnTo>
                <a:lnTo>
                  <a:pt x="4261211" y="3990148"/>
                </a:lnTo>
                <a:lnTo>
                  <a:pt x="0" y="3990148"/>
                </a:lnTo>
                <a:lnTo>
                  <a:pt x="0" y="0"/>
                </a:lnTo>
                <a:close/>
              </a:path>
            </a:pathLst>
          </a:custGeom>
          <a:blipFill>
            <a:blip r:embed="rId4"/>
            <a:stretch>
              <a:fillRect l="-19710" t="0" r="-20747" b="0"/>
            </a:stretch>
          </a:blipFill>
        </p:spPr>
      </p:sp>
      <p:sp>
        <p:nvSpPr>
          <p:cNvPr name="AutoShape 15" id="15"/>
          <p:cNvSpPr/>
          <p:nvPr/>
        </p:nvSpPr>
        <p:spPr>
          <a:xfrm>
            <a:off x="10687639" y="5318865"/>
            <a:ext cx="2762687" cy="421041"/>
          </a:xfrm>
          <a:prstGeom prst="line">
            <a:avLst/>
          </a:prstGeom>
          <a:ln cap="flat" w="95250">
            <a:solidFill>
              <a:srgbClr val="E5C857"/>
            </a:solidFill>
            <a:prstDash val="solid"/>
            <a:headEnd type="none" len="sm" w="sm"/>
            <a:tailEnd type="triangle" len="med" w="lg"/>
          </a:ln>
        </p:spPr>
      </p:sp>
      <p:sp>
        <p:nvSpPr>
          <p:cNvPr name="TextBox 16" id="16"/>
          <p:cNvSpPr txBox="true"/>
          <p:nvPr/>
        </p:nvSpPr>
        <p:spPr>
          <a:xfrm rot="0">
            <a:off x="1110116" y="1112169"/>
            <a:ext cx="6131874" cy="995271"/>
          </a:xfrm>
          <a:prstGeom prst="rect">
            <a:avLst/>
          </a:prstGeom>
        </p:spPr>
        <p:txBody>
          <a:bodyPr anchor="t" rtlCol="false" tIns="0" lIns="0" bIns="0" rIns="0">
            <a:spAutoFit/>
          </a:bodyPr>
          <a:lstStyle/>
          <a:p>
            <a:pPr algn="l">
              <a:lnSpc>
                <a:spcPts val="8142"/>
              </a:lnSpc>
            </a:pPr>
            <a:r>
              <a:rPr lang="en-US" sz="5816">
                <a:solidFill>
                  <a:srgbClr val="E5C857"/>
                </a:solidFill>
                <a:latin typeface="Bebas Neue 1"/>
                <a:ea typeface="Bebas Neue 1"/>
                <a:cs typeface="Bebas Neue 1"/>
                <a:sym typeface="Bebas Neue 1"/>
              </a:rPr>
              <a:t>Setup</a:t>
            </a:r>
          </a:p>
        </p:txBody>
      </p:sp>
      <p:sp>
        <p:nvSpPr>
          <p:cNvPr name="TextBox 17" id="17"/>
          <p:cNvSpPr txBox="true"/>
          <p:nvPr/>
        </p:nvSpPr>
        <p:spPr>
          <a:xfrm rot="0">
            <a:off x="1051559" y="344178"/>
            <a:ext cx="4684584" cy="995271"/>
          </a:xfrm>
          <a:prstGeom prst="rect">
            <a:avLst/>
          </a:prstGeom>
        </p:spPr>
        <p:txBody>
          <a:bodyPr anchor="t" rtlCol="false" tIns="0" lIns="0" bIns="0" rIns="0">
            <a:spAutoFit/>
          </a:bodyPr>
          <a:lstStyle/>
          <a:p>
            <a:pPr algn="l">
              <a:lnSpc>
                <a:spcPts val="8142"/>
              </a:lnSpc>
            </a:pPr>
            <a:r>
              <a:rPr lang="en-US" sz="5816">
                <a:solidFill>
                  <a:srgbClr val="59524B"/>
                </a:solidFill>
                <a:latin typeface="Bebas Neue 1"/>
                <a:ea typeface="Bebas Neue 1"/>
                <a:cs typeface="Bebas Neue 1"/>
                <a:sym typeface="Bebas Neue 1"/>
              </a:rPr>
              <a:t>metode penelitian</a:t>
            </a:r>
          </a:p>
        </p:txBody>
      </p:sp>
      <p:sp>
        <p:nvSpPr>
          <p:cNvPr name="TextBox 18" id="18"/>
          <p:cNvSpPr txBox="true"/>
          <p:nvPr/>
        </p:nvSpPr>
        <p:spPr>
          <a:xfrm rot="0">
            <a:off x="432984" y="9324000"/>
            <a:ext cx="17422032" cy="596265"/>
          </a:xfrm>
          <a:prstGeom prst="rect">
            <a:avLst/>
          </a:prstGeom>
        </p:spPr>
        <p:txBody>
          <a:bodyPr anchor="t" rtlCol="false" tIns="0" lIns="0" bIns="0" rIns="0">
            <a:spAutoFit/>
          </a:bodyPr>
          <a:lstStyle/>
          <a:p>
            <a:pPr algn="just">
              <a:lnSpc>
                <a:spcPts val="2799"/>
              </a:lnSpc>
            </a:pPr>
            <a:r>
              <a:rPr lang="en-US" b="true" sz="1999">
                <a:solidFill>
                  <a:srgbClr val="000000"/>
                </a:solidFill>
                <a:latin typeface="Poppins Bold"/>
                <a:ea typeface="Poppins Bold"/>
                <a:cs typeface="Poppins Bold"/>
                <a:sym typeface="Poppins Bold"/>
              </a:rPr>
              <a:t>Refrensi :</a:t>
            </a:r>
          </a:p>
          <a:p>
            <a:pPr algn="just" marL="280673" indent="-140336" lvl="1">
              <a:lnSpc>
                <a:spcPts val="1820"/>
              </a:lnSpc>
              <a:buFont typeface="Arial"/>
              <a:buChar char="•"/>
            </a:pPr>
            <a:r>
              <a:rPr lang="en-US" sz="1300">
                <a:solidFill>
                  <a:srgbClr val="000000"/>
                </a:solidFill>
                <a:latin typeface="Poppins"/>
                <a:ea typeface="Poppins"/>
                <a:cs typeface="Poppins"/>
                <a:sym typeface="Poppins"/>
              </a:rPr>
              <a:t>ams OSRAM Group (2018) AS5600: 12-Bit Programmable Contactless Potentiometer, datasheet, revision 1-06 [v1-06], 2018-Jun-20. ams OSRAM Group.</a:t>
            </a:r>
          </a:p>
        </p:txBody>
      </p:sp>
      <p:sp>
        <p:nvSpPr>
          <p:cNvPr name="AutoShape 19" id="19"/>
          <p:cNvSpPr/>
          <p:nvPr/>
        </p:nvSpPr>
        <p:spPr>
          <a:xfrm flipV="true">
            <a:off x="9247738" y="4750044"/>
            <a:ext cx="1298482" cy="0"/>
          </a:xfrm>
          <a:prstGeom prst="line">
            <a:avLst/>
          </a:prstGeom>
          <a:ln cap="flat" w="76200">
            <a:solidFill>
              <a:srgbClr val="F50000"/>
            </a:solidFill>
            <a:prstDash val="solid"/>
            <a:headEnd type="none" len="sm" w="sm"/>
            <a:tailEnd type="none" len="sm" w="sm"/>
          </a:ln>
        </p:spPr>
      </p:sp>
      <p:sp>
        <p:nvSpPr>
          <p:cNvPr name="AutoShape 20" id="20"/>
          <p:cNvSpPr/>
          <p:nvPr/>
        </p:nvSpPr>
        <p:spPr>
          <a:xfrm flipV="true">
            <a:off x="9285838" y="4750044"/>
            <a:ext cx="0" cy="1027961"/>
          </a:xfrm>
          <a:prstGeom prst="line">
            <a:avLst/>
          </a:prstGeom>
          <a:ln cap="flat" w="76200">
            <a:solidFill>
              <a:srgbClr val="F50000"/>
            </a:solidFill>
            <a:prstDash val="solid"/>
            <a:headEnd type="none" len="sm" w="sm"/>
            <a:tailEnd type="none" len="sm" w="sm"/>
          </a:ln>
        </p:spPr>
      </p:sp>
      <p:sp>
        <p:nvSpPr>
          <p:cNvPr name="AutoShape 21" id="21"/>
          <p:cNvSpPr/>
          <p:nvPr/>
        </p:nvSpPr>
        <p:spPr>
          <a:xfrm flipH="true">
            <a:off x="9247738" y="5778006"/>
            <a:ext cx="1333617" cy="0"/>
          </a:xfrm>
          <a:prstGeom prst="line">
            <a:avLst/>
          </a:prstGeom>
          <a:ln cap="flat" w="76200">
            <a:solidFill>
              <a:srgbClr val="F50000"/>
            </a:solidFill>
            <a:prstDash val="solid"/>
            <a:headEnd type="none" len="sm" w="sm"/>
            <a:tailEnd type="none" len="sm" w="sm"/>
          </a:ln>
        </p:spPr>
      </p:sp>
      <p:sp>
        <p:nvSpPr>
          <p:cNvPr name="AutoShape 22" id="22"/>
          <p:cNvSpPr/>
          <p:nvPr/>
        </p:nvSpPr>
        <p:spPr>
          <a:xfrm flipV="true">
            <a:off x="10546219" y="4711944"/>
            <a:ext cx="0" cy="1100294"/>
          </a:xfrm>
          <a:prstGeom prst="line">
            <a:avLst/>
          </a:prstGeom>
          <a:ln cap="flat" w="76200">
            <a:solidFill>
              <a:srgbClr val="F50000"/>
            </a:solidFill>
            <a:prstDash val="solid"/>
            <a:headEnd type="none" len="sm" w="sm"/>
            <a:tailEnd type="none" len="sm" w="sm"/>
          </a:ln>
        </p:spPr>
      </p:sp>
      <p:sp>
        <p:nvSpPr>
          <p:cNvPr name="AutoShape 23" id="23"/>
          <p:cNvSpPr/>
          <p:nvPr/>
        </p:nvSpPr>
        <p:spPr>
          <a:xfrm flipV="true">
            <a:off x="5561239" y="6223740"/>
            <a:ext cx="1298482" cy="0"/>
          </a:xfrm>
          <a:prstGeom prst="line">
            <a:avLst/>
          </a:prstGeom>
          <a:ln cap="flat" w="76200">
            <a:solidFill>
              <a:srgbClr val="F50000"/>
            </a:solidFill>
            <a:prstDash val="solid"/>
            <a:headEnd type="none" len="sm" w="sm"/>
            <a:tailEnd type="none" len="sm" w="sm"/>
          </a:ln>
        </p:spPr>
      </p:sp>
      <p:sp>
        <p:nvSpPr>
          <p:cNvPr name="AutoShape 24" id="24"/>
          <p:cNvSpPr/>
          <p:nvPr/>
        </p:nvSpPr>
        <p:spPr>
          <a:xfrm flipV="true">
            <a:off x="5599339" y="6223740"/>
            <a:ext cx="0" cy="1027961"/>
          </a:xfrm>
          <a:prstGeom prst="line">
            <a:avLst/>
          </a:prstGeom>
          <a:ln cap="flat" w="76200">
            <a:solidFill>
              <a:srgbClr val="F50000"/>
            </a:solidFill>
            <a:prstDash val="solid"/>
            <a:headEnd type="none" len="sm" w="sm"/>
            <a:tailEnd type="none" len="sm" w="sm"/>
          </a:ln>
        </p:spPr>
      </p:sp>
      <p:sp>
        <p:nvSpPr>
          <p:cNvPr name="AutoShape 25" id="25"/>
          <p:cNvSpPr/>
          <p:nvPr/>
        </p:nvSpPr>
        <p:spPr>
          <a:xfrm flipH="true">
            <a:off x="5561239" y="7251701"/>
            <a:ext cx="1333617" cy="0"/>
          </a:xfrm>
          <a:prstGeom prst="line">
            <a:avLst/>
          </a:prstGeom>
          <a:ln cap="flat" w="76200">
            <a:solidFill>
              <a:srgbClr val="F50000"/>
            </a:solidFill>
            <a:prstDash val="solid"/>
            <a:headEnd type="none" len="sm" w="sm"/>
            <a:tailEnd type="none" len="sm" w="sm"/>
          </a:ln>
        </p:spPr>
      </p:sp>
      <p:sp>
        <p:nvSpPr>
          <p:cNvPr name="AutoShape 26" id="26"/>
          <p:cNvSpPr/>
          <p:nvPr/>
        </p:nvSpPr>
        <p:spPr>
          <a:xfrm flipV="true">
            <a:off x="6859721" y="6185640"/>
            <a:ext cx="0" cy="1100294"/>
          </a:xfrm>
          <a:prstGeom prst="line">
            <a:avLst/>
          </a:prstGeom>
          <a:ln cap="flat" w="76200">
            <a:solidFill>
              <a:srgbClr val="F50000"/>
            </a:solidFill>
            <a:prstDash val="solid"/>
            <a:headEnd type="none" len="sm" w="sm"/>
            <a:tailEnd type="none" len="sm" w="sm"/>
          </a:ln>
        </p:spPr>
      </p:sp>
      <p:sp>
        <p:nvSpPr>
          <p:cNvPr name="AutoShape 27" id="27"/>
          <p:cNvSpPr/>
          <p:nvPr/>
        </p:nvSpPr>
        <p:spPr>
          <a:xfrm flipV="true">
            <a:off x="1541290" y="5013175"/>
            <a:ext cx="3600346" cy="0"/>
          </a:xfrm>
          <a:prstGeom prst="line">
            <a:avLst/>
          </a:prstGeom>
          <a:ln cap="flat" w="209550">
            <a:solidFill>
              <a:srgbClr val="F50000"/>
            </a:solidFill>
            <a:prstDash val="solid"/>
            <a:headEnd type="none" len="sm" w="sm"/>
            <a:tailEnd type="none" len="sm" w="sm"/>
          </a:ln>
        </p:spPr>
      </p:sp>
      <p:sp>
        <p:nvSpPr>
          <p:cNvPr name="AutoShape 28" id="28"/>
          <p:cNvSpPr/>
          <p:nvPr/>
        </p:nvSpPr>
        <p:spPr>
          <a:xfrm flipV="true">
            <a:off x="5141636" y="4907534"/>
            <a:ext cx="0" cy="3050823"/>
          </a:xfrm>
          <a:prstGeom prst="line">
            <a:avLst/>
          </a:prstGeom>
          <a:ln cap="flat" w="209550">
            <a:solidFill>
              <a:srgbClr val="F50000"/>
            </a:solidFill>
            <a:prstDash val="solid"/>
            <a:headEnd type="none" len="sm" w="sm"/>
            <a:tailEnd type="none" len="sm" w="sm"/>
          </a:ln>
        </p:spPr>
      </p:sp>
      <p:sp>
        <p:nvSpPr>
          <p:cNvPr name="TextBox 29" id="29"/>
          <p:cNvSpPr txBox="true"/>
          <p:nvPr/>
        </p:nvSpPr>
        <p:spPr>
          <a:xfrm rot="0">
            <a:off x="8599909" y="3826119"/>
            <a:ext cx="2780745" cy="762000"/>
          </a:xfrm>
          <a:prstGeom prst="rect">
            <a:avLst/>
          </a:prstGeom>
        </p:spPr>
        <p:txBody>
          <a:bodyPr anchor="t" rtlCol="false" tIns="0" lIns="0" bIns="0" rIns="0">
            <a:spAutoFit/>
          </a:bodyPr>
          <a:lstStyle/>
          <a:p>
            <a:pPr algn="just">
              <a:lnSpc>
                <a:spcPts val="2999"/>
              </a:lnSpc>
            </a:pPr>
            <a:r>
              <a:rPr lang="en-US" sz="2499" b="true">
                <a:solidFill>
                  <a:srgbClr val="F50000"/>
                </a:solidFill>
                <a:latin typeface="Poppins Bold"/>
                <a:ea typeface="Poppins Bold"/>
                <a:cs typeface="Poppins Bold"/>
                <a:sym typeface="Poppins Bold"/>
              </a:rPr>
              <a:t>Motor Sun</a:t>
            </a:r>
            <a:r>
              <a:rPr lang="en-US" b="true" sz="2499">
                <a:solidFill>
                  <a:srgbClr val="F50000"/>
                </a:solidFill>
                <a:latin typeface="Poppins Bold"/>
                <a:ea typeface="Poppins Bold"/>
                <a:cs typeface="Poppins Bold"/>
                <a:sym typeface="Poppins Bold"/>
              </a:rPr>
              <a:t>nySky </a:t>
            </a:r>
          </a:p>
          <a:p>
            <a:pPr algn="ctr">
              <a:lnSpc>
                <a:spcPts val="2999"/>
              </a:lnSpc>
            </a:pPr>
            <a:r>
              <a:rPr lang="en-US" b="true" sz="2499">
                <a:solidFill>
                  <a:srgbClr val="F50000"/>
                </a:solidFill>
                <a:latin typeface="Poppins Bold"/>
                <a:ea typeface="Poppins Bold"/>
                <a:cs typeface="Poppins Bold"/>
                <a:sym typeface="Poppins Bold"/>
              </a:rPr>
              <a:t>X4108S 380KV</a:t>
            </a:r>
          </a:p>
        </p:txBody>
      </p:sp>
      <p:sp>
        <p:nvSpPr>
          <p:cNvPr name="TextBox 30" id="30"/>
          <p:cNvSpPr txBox="true"/>
          <p:nvPr/>
        </p:nvSpPr>
        <p:spPr>
          <a:xfrm rot="0">
            <a:off x="5561239" y="5299815"/>
            <a:ext cx="3038670" cy="762000"/>
          </a:xfrm>
          <a:prstGeom prst="rect">
            <a:avLst/>
          </a:prstGeom>
        </p:spPr>
        <p:txBody>
          <a:bodyPr anchor="t" rtlCol="false" tIns="0" lIns="0" bIns="0" rIns="0">
            <a:spAutoFit/>
          </a:bodyPr>
          <a:lstStyle/>
          <a:p>
            <a:pPr algn="ctr">
              <a:lnSpc>
                <a:spcPts val="2999"/>
              </a:lnSpc>
            </a:pPr>
            <a:r>
              <a:rPr lang="en-US" b="true" sz="2499">
                <a:solidFill>
                  <a:srgbClr val="F50000"/>
                </a:solidFill>
                <a:latin typeface="Poppins Bold"/>
                <a:ea typeface="Poppins Bold"/>
                <a:cs typeface="Poppins Bold"/>
                <a:sym typeface="Poppins Bold"/>
              </a:rPr>
              <a:t>ESC</a:t>
            </a:r>
            <a:r>
              <a:rPr lang="en-US" b="true" sz="2499">
                <a:solidFill>
                  <a:srgbClr val="F50000"/>
                </a:solidFill>
                <a:latin typeface="Poppins Bold"/>
                <a:ea typeface="Poppins Bold"/>
                <a:cs typeface="Poppins Bold"/>
                <a:sym typeface="Poppins Bold"/>
              </a:rPr>
              <a:t> B-G</a:t>
            </a:r>
            <a:r>
              <a:rPr lang="en-US" b="true" sz="2499">
                <a:solidFill>
                  <a:srgbClr val="F50000"/>
                </a:solidFill>
                <a:latin typeface="Poppins Bold"/>
                <a:ea typeface="Poppins Bold"/>
                <a:cs typeface="Poppins Bold"/>
                <a:sym typeface="Poppins Bold"/>
              </a:rPr>
              <a:t>431B-ESC1 (STM32G431)</a:t>
            </a:r>
          </a:p>
        </p:txBody>
      </p:sp>
      <p:sp>
        <p:nvSpPr>
          <p:cNvPr name="TextBox 31" id="31"/>
          <p:cNvSpPr txBox="true"/>
          <p:nvPr/>
        </p:nvSpPr>
        <p:spPr>
          <a:xfrm rot="0">
            <a:off x="1874516" y="4394050"/>
            <a:ext cx="3038670" cy="390525"/>
          </a:xfrm>
          <a:prstGeom prst="rect">
            <a:avLst/>
          </a:prstGeom>
        </p:spPr>
        <p:txBody>
          <a:bodyPr anchor="t" rtlCol="false" tIns="0" lIns="0" bIns="0" rIns="0">
            <a:spAutoFit/>
          </a:bodyPr>
          <a:lstStyle/>
          <a:p>
            <a:pPr algn="ctr">
              <a:lnSpc>
                <a:spcPts val="2999"/>
              </a:lnSpc>
            </a:pPr>
            <a:r>
              <a:rPr lang="en-US" b="true" sz="2499" i="true">
                <a:solidFill>
                  <a:srgbClr val="F50000"/>
                </a:solidFill>
                <a:latin typeface="Poppins Bold Italics"/>
                <a:ea typeface="Poppins Bold Italics"/>
                <a:cs typeface="Poppins Bold Italics"/>
                <a:sym typeface="Poppins Bold Italics"/>
              </a:rPr>
              <a:t>Power Supply</a:t>
            </a:r>
            <a:r>
              <a:rPr lang="en-US" b="true" sz="2499">
                <a:solidFill>
                  <a:srgbClr val="F50000"/>
                </a:solidFill>
                <a:latin typeface="Poppins Bold"/>
                <a:ea typeface="Poppins Bold"/>
                <a:cs typeface="Poppins Bold"/>
                <a:sym typeface="Poppins Bold"/>
              </a:rPr>
              <a:t> </a:t>
            </a:r>
            <a:r>
              <a:rPr lang="en-US" b="true" sz="2499">
                <a:solidFill>
                  <a:srgbClr val="F50000"/>
                </a:solidFill>
                <a:latin typeface="Poppins Bold"/>
                <a:ea typeface="Poppins Bold"/>
                <a:cs typeface="Poppins Bold"/>
                <a:sym typeface="Poppins Bold"/>
              </a:rPr>
              <a:t>12 V</a:t>
            </a:r>
          </a:p>
        </p:txBody>
      </p:sp>
      <p:sp>
        <p:nvSpPr>
          <p:cNvPr name="TextBox 32" id="32"/>
          <p:cNvSpPr txBox="true"/>
          <p:nvPr/>
        </p:nvSpPr>
        <p:spPr>
          <a:xfrm rot="0">
            <a:off x="2919231" y="8272682"/>
            <a:ext cx="7264035" cy="485775"/>
          </a:xfrm>
          <a:prstGeom prst="rect">
            <a:avLst/>
          </a:prstGeom>
        </p:spPr>
        <p:txBody>
          <a:bodyPr anchor="t" rtlCol="false" tIns="0" lIns="0" bIns="0" rIns="0">
            <a:spAutoFit/>
          </a:bodyPr>
          <a:lstStyle/>
          <a:p>
            <a:pPr algn="ctr">
              <a:lnSpc>
                <a:spcPts val="3600"/>
              </a:lnSpc>
            </a:pPr>
            <a:r>
              <a:rPr lang="en-US" b="true" sz="3000">
                <a:solidFill>
                  <a:srgbClr val="59524B"/>
                </a:solidFill>
                <a:latin typeface="Poppins Bold"/>
                <a:ea typeface="Poppins Bold"/>
                <a:cs typeface="Poppins Bold"/>
                <a:sym typeface="Poppins Bold"/>
              </a:rPr>
              <a:t>Set-Up Pl</a:t>
            </a:r>
            <a:r>
              <a:rPr lang="en-US" b="true" sz="3000">
                <a:solidFill>
                  <a:srgbClr val="59524B"/>
                </a:solidFill>
                <a:latin typeface="Poppins Bold"/>
                <a:ea typeface="Poppins Bold"/>
                <a:cs typeface="Poppins Bold"/>
                <a:sym typeface="Poppins Bold"/>
              </a:rPr>
              <a:t>ant Hardware</a:t>
            </a:r>
          </a:p>
        </p:txBody>
      </p:sp>
      <p:sp>
        <p:nvSpPr>
          <p:cNvPr name="TextBox 33" id="33"/>
          <p:cNvSpPr txBox="true"/>
          <p:nvPr/>
        </p:nvSpPr>
        <p:spPr>
          <a:xfrm rot="0">
            <a:off x="10978318" y="7358282"/>
            <a:ext cx="7264035" cy="942975"/>
          </a:xfrm>
          <a:prstGeom prst="rect">
            <a:avLst/>
          </a:prstGeom>
        </p:spPr>
        <p:txBody>
          <a:bodyPr anchor="t" rtlCol="false" tIns="0" lIns="0" bIns="0" rIns="0">
            <a:spAutoFit/>
          </a:bodyPr>
          <a:lstStyle/>
          <a:p>
            <a:pPr algn="ctr">
              <a:lnSpc>
                <a:spcPts val="3600"/>
              </a:lnSpc>
            </a:pPr>
            <a:r>
              <a:rPr lang="en-US" sz="3000" b="true">
                <a:solidFill>
                  <a:srgbClr val="59524B"/>
                </a:solidFill>
                <a:latin typeface="Poppins Bold"/>
                <a:ea typeface="Poppins Bold"/>
                <a:cs typeface="Poppins Bold"/>
                <a:sym typeface="Poppins Bold"/>
              </a:rPr>
              <a:t>S</a:t>
            </a:r>
            <a:r>
              <a:rPr lang="en-US" b="true" sz="3000">
                <a:solidFill>
                  <a:srgbClr val="59524B"/>
                </a:solidFill>
                <a:latin typeface="Poppins Bold"/>
                <a:ea typeface="Poppins Bold"/>
                <a:cs typeface="Poppins Bold"/>
                <a:sym typeface="Poppins Bold"/>
              </a:rPr>
              <a:t>ensor AS5600 </a:t>
            </a:r>
          </a:p>
          <a:p>
            <a:pPr algn="ctr">
              <a:lnSpc>
                <a:spcPts val="3600"/>
              </a:lnSpc>
            </a:pPr>
            <a:r>
              <a:rPr lang="en-US" b="true" sz="3000">
                <a:solidFill>
                  <a:srgbClr val="59524B"/>
                </a:solidFill>
                <a:latin typeface="Poppins Bold"/>
                <a:ea typeface="Poppins Bold"/>
                <a:cs typeface="Poppins Bold"/>
                <a:sym typeface="Poppins Bold"/>
              </a:rPr>
              <a:t>pada shaft motor</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5313" y="464654"/>
            <a:ext cx="5217449" cy="1523631"/>
            <a:chOff x="0" y="0"/>
            <a:chExt cx="1859252" cy="542950"/>
          </a:xfrm>
        </p:grpSpPr>
        <p:sp>
          <p:nvSpPr>
            <p:cNvPr name="Freeform 3" id="3"/>
            <p:cNvSpPr/>
            <p:nvPr/>
          </p:nvSpPr>
          <p:spPr>
            <a:xfrm flipH="false" flipV="false" rot="0">
              <a:off x="0" y="0"/>
              <a:ext cx="1859252" cy="542950"/>
            </a:xfrm>
            <a:custGeom>
              <a:avLst/>
              <a:gdLst/>
              <a:ahLst/>
              <a:cxnLst/>
              <a:rect r="r" b="b" t="t" l="l"/>
              <a:pathLst>
                <a:path h="542950" w="1859252">
                  <a:moveTo>
                    <a:pt x="1656052" y="0"/>
                  </a:moveTo>
                  <a:cubicBezTo>
                    <a:pt x="1768276" y="0"/>
                    <a:pt x="1859252" y="121543"/>
                    <a:pt x="1859252" y="271475"/>
                  </a:cubicBezTo>
                  <a:cubicBezTo>
                    <a:pt x="1859252" y="421406"/>
                    <a:pt x="1768276" y="542950"/>
                    <a:pt x="1656052" y="542950"/>
                  </a:cubicBezTo>
                  <a:lnTo>
                    <a:pt x="203200" y="542950"/>
                  </a:lnTo>
                  <a:cubicBezTo>
                    <a:pt x="90976" y="542950"/>
                    <a:pt x="0" y="421406"/>
                    <a:pt x="0" y="271475"/>
                  </a:cubicBezTo>
                  <a:cubicBezTo>
                    <a:pt x="0" y="121543"/>
                    <a:pt x="90976" y="0"/>
                    <a:pt x="203200" y="0"/>
                  </a:cubicBezTo>
                  <a:close/>
                </a:path>
              </a:pathLst>
            </a:custGeom>
            <a:solidFill>
              <a:srgbClr val="F2F2F2"/>
            </a:solidFill>
          </p:spPr>
        </p:sp>
        <p:sp>
          <p:nvSpPr>
            <p:cNvPr name="TextBox 4" id="4"/>
            <p:cNvSpPr txBox="true"/>
            <p:nvPr/>
          </p:nvSpPr>
          <p:spPr>
            <a:xfrm>
              <a:off x="0" y="-38100"/>
              <a:ext cx="1859252" cy="5810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038174" y="458478"/>
            <a:ext cx="4563040" cy="1140443"/>
            <a:chOff x="0" y="0"/>
            <a:chExt cx="6084053" cy="1520591"/>
          </a:xfrm>
        </p:grpSpPr>
        <p:grpSp>
          <p:nvGrpSpPr>
            <p:cNvPr name="Group 6" id="6"/>
            <p:cNvGrpSpPr/>
            <p:nvPr/>
          </p:nvGrpSpPr>
          <p:grpSpPr>
            <a:xfrm rot="0">
              <a:off x="0" y="0"/>
              <a:ext cx="6084053" cy="1520591"/>
              <a:chOff x="0" y="0"/>
              <a:chExt cx="1626052" cy="406400"/>
            </a:xfrm>
          </p:grpSpPr>
          <p:sp>
            <p:nvSpPr>
              <p:cNvPr name="Freeform 7" id="7"/>
              <p:cNvSpPr/>
              <p:nvPr/>
            </p:nvSpPr>
            <p:spPr>
              <a:xfrm flipH="false" flipV="false" rot="0">
                <a:off x="0" y="0"/>
                <a:ext cx="1626052" cy="406400"/>
              </a:xfrm>
              <a:custGeom>
                <a:avLst/>
                <a:gdLst/>
                <a:ahLst/>
                <a:cxnLst/>
                <a:rect r="r" b="b" t="t" l="l"/>
                <a:pathLst>
                  <a:path h="406400" w="1626052">
                    <a:moveTo>
                      <a:pt x="1422852" y="0"/>
                    </a:moveTo>
                    <a:cubicBezTo>
                      <a:pt x="1535076" y="0"/>
                      <a:pt x="1626052" y="90976"/>
                      <a:pt x="1626052" y="203200"/>
                    </a:cubicBezTo>
                    <a:cubicBezTo>
                      <a:pt x="1626052" y="315424"/>
                      <a:pt x="1535076" y="406400"/>
                      <a:pt x="1422852"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8" id="8"/>
              <p:cNvSpPr txBox="true"/>
              <p:nvPr/>
            </p:nvSpPr>
            <p:spPr>
              <a:xfrm>
                <a:off x="0" y="-38100"/>
                <a:ext cx="1626052" cy="44450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414535" y="124612"/>
              <a:ext cx="5254984" cy="1271367"/>
            </a:xfrm>
            <a:custGeom>
              <a:avLst/>
              <a:gdLst/>
              <a:ahLst/>
              <a:cxnLst/>
              <a:rect r="r" b="b" t="t" l="l"/>
              <a:pathLst>
                <a:path h="1271367" w="5254984">
                  <a:moveTo>
                    <a:pt x="0" y="0"/>
                  </a:moveTo>
                  <a:lnTo>
                    <a:pt x="5254983" y="0"/>
                  </a:lnTo>
                  <a:lnTo>
                    <a:pt x="5254983" y="1271367"/>
                  </a:lnTo>
                  <a:lnTo>
                    <a:pt x="0" y="1271367"/>
                  </a:lnTo>
                  <a:lnTo>
                    <a:pt x="0" y="0"/>
                  </a:lnTo>
                  <a:close/>
                </a:path>
              </a:pathLst>
            </a:custGeom>
            <a:blipFill>
              <a:blip r:embed="rId2"/>
              <a:stretch>
                <a:fillRect l="0" t="0" r="0" b="0"/>
              </a:stretch>
            </a:blipFill>
          </p:spPr>
        </p:sp>
      </p:grpSp>
      <p:sp>
        <p:nvSpPr>
          <p:cNvPr name="Freeform 10" id="10"/>
          <p:cNvSpPr/>
          <p:nvPr/>
        </p:nvSpPr>
        <p:spPr>
          <a:xfrm flipH="false" flipV="false" rot="0">
            <a:off x="2814711" y="2718850"/>
            <a:ext cx="13311722" cy="4996578"/>
          </a:xfrm>
          <a:custGeom>
            <a:avLst/>
            <a:gdLst/>
            <a:ahLst/>
            <a:cxnLst/>
            <a:rect r="r" b="b" t="t" l="l"/>
            <a:pathLst>
              <a:path h="4996578" w="13311722">
                <a:moveTo>
                  <a:pt x="0" y="0"/>
                </a:moveTo>
                <a:lnTo>
                  <a:pt x="13311722" y="0"/>
                </a:lnTo>
                <a:lnTo>
                  <a:pt x="13311722" y="4996577"/>
                </a:lnTo>
                <a:lnTo>
                  <a:pt x="0" y="4996577"/>
                </a:lnTo>
                <a:lnTo>
                  <a:pt x="0" y="0"/>
                </a:lnTo>
                <a:close/>
              </a:path>
            </a:pathLst>
          </a:custGeom>
          <a:blipFill>
            <a:blip r:embed="rId3"/>
            <a:stretch>
              <a:fillRect l="0" t="0" r="0" b="0"/>
            </a:stretch>
          </a:blipFill>
        </p:spPr>
      </p:sp>
      <p:sp>
        <p:nvSpPr>
          <p:cNvPr name="TextBox 11" id="11"/>
          <p:cNvSpPr txBox="true"/>
          <p:nvPr/>
        </p:nvSpPr>
        <p:spPr>
          <a:xfrm rot="0">
            <a:off x="1110116" y="1112169"/>
            <a:ext cx="6131874" cy="995271"/>
          </a:xfrm>
          <a:prstGeom prst="rect">
            <a:avLst/>
          </a:prstGeom>
        </p:spPr>
        <p:txBody>
          <a:bodyPr anchor="t" rtlCol="false" tIns="0" lIns="0" bIns="0" rIns="0">
            <a:spAutoFit/>
          </a:bodyPr>
          <a:lstStyle/>
          <a:p>
            <a:pPr algn="l">
              <a:lnSpc>
                <a:spcPts val="8142"/>
              </a:lnSpc>
            </a:pPr>
            <a:r>
              <a:rPr lang="en-US" sz="5816">
                <a:solidFill>
                  <a:srgbClr val="E5C857"/>
                </a:solidFill>
                <a:latin typeface="Bebas Neue 1"/>
                <a:ea typeface="Bebas Neue 1"/>
                <a:cs typeface="Bebas Neue 1"/>
                <a:sym typeface="Bebas Neue 1"/>
              </a:rPr>
              <a:t>Pemodelan</a:t>
            </a:r>
          </a:p>
        </p:txBody>
      </p:sp>
      <p:sp>
        <p:nvSpPr>
          <p:cNvPr name="TextBox 12" id="12"/>
          <p:cNvSpPr txBox="true"/>
          <p:nvPr/>
        </p:nvSpPr>
        <p:spPr>
          <a:xfrm rot="0">
            <a:off x="1051559" y="344178"/>
            <a:ext cx="4684584" cy="995271"/>
          </a:xfrm>
          <a:prstGeom prst="rect">
            <a:avLst/>
          </a:prstGeom>
        </p:spPr>
        <p:txBody>
          <a:bodyPr anchor="t" rtlCol="false" tIns="0" lIns="0" bIns="0" rIns="0">
            <a:spAutoFit/>
          </a:bodyPr>
          <a:lstStyle/>
          <a:p>
            <a:pPr algn="l">
              <a:lnSpc>
                <a:spcPts val="8142"/>
              </a:lnSpc>
            </a:pPr>
            <a:r>
              <a:rPr lang="en-US" sz="5816">
                <a:solidFill>
                  <a:srgbClr val="59524B"/>
                </a:solidFill>
                <a:latin typeface="Bebas Neue 1"/>
                <a:ea typeface="Bebas Neue 1"/>
                <a:cs typeface="Bebas Neue 1"/>
                <a:sym typeface="Bebas Neue 1"/>
              </a:rPr>
              <a:t>metode penelitian</a:t>
            </a:r>
          </a:p>
        </p:txBody>
      </p:sp>
      <p:grpSp>
        <p:nvGrpSpPr>
          <p:cNvPr name="Group 13" id="13"/>
          <p:cNvGrpSpPr/>
          <p:nvPr/>
        </p:nvGrpSpPr>
        <p:grpSpPr>
          <a:xfrm rot="0">
            <a:off x="9401292" y="8326837"/>
            <a:ext cx="4025679" cy="914206"/>
            <a:chOff x="0" y="0"/>
            <a:chExt cx="1789570" cy="406400"/>
          </a:xfrm>
        </p:grpSpPr>
        <p:sp>
          <p:nvSpPr>
            <p:cNvPr name="Freeform 14" id="14"/>
            <p:cNvSpPr/>
            <p:nvPr/>
          </p:nvSpPr>
          <p:spPr>
            <a:xfrm flipH="false" flipV="false" rot="0">
              <a:off x="0" y="0"/>
              <a:ext cx="1789570" cy="406400"/>
            </a:xfrm>
            <a:custGeom>
              <a:avLst/>
              <a:gdLst/>
              <a:ahLst/>
              <a:cxnLst/>
              <a:rect r="r" b="b" t="t" l="l"/>
              <a:pathLst>
                <a:path h="406400" w="1789570">
                  <a:moveTo>
                    <a:pt x="1586370" y="0"/>
                  </a:moveTo>
                  <a:cubicBezTo>
                    <a:pt x="1698594" y="0"/>
                    <a:pt x="1789570" y="90976"/>
                    <a:pt x="1789570" y="203200"/>
                  </a:cubicBezTo>
                  <a:cubicBezTo>
                    <a:pt x="1789570" y="315424"/>
                    <a:pt x="1698594" y="406400"/>
                    <a:pt x="1586370"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15" id="15"/>
            <p:cNvSpPr txBox="true"/>
            <p:nvPr/>
          </p:nvSpPr>
          <p:spPr>
            <a:xfrm>
              <a:off x="0" y="-38100"/>
              <a:ext cx="1789570" cy="444500"/>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9562145" y="8323996"/>
            <a:ext cx="3703973" cy="815112"/>
          </a:xfrm>
          <a:prstGeom prst="rect">
            <a:avLst/>
          </a:prstGeom>
        </p:spPr>
        <p:txBody>
          <a:bodyPr anchor="t" rtlCol="false" tIns="0" lIns="0" bIns="0" rIns="0">
            <a:spAutoFit/>
          </a:bodyPr>
          <a:lstStyle/>
          <a:p>
            <a:pPr algn="ctr">
              <a:lnSpc>
                <a:spcPts val="6527"/>
              </a:lnSpc>
            </a:pPr>
            <a:r>
              <a:rPr lang="en-US" sz="4662">
                <a:solidFill>
                  <a:srgbClr val="E5C857"/>
                </a:solidFill>
                <a:latin typeface="Bebas Neue 1"/>
                <a:ea typeface="Bebas Neue 1"/>
                <a:cs typeface="Bebas Neue 1"/>
                <a:sym typeface="Bebas Neue 1"/>
              </a:rPr>
              <a:t>Motor BLDC</a:t>
            </a:r>
          </a:p>
        </p:txBody>
      </p:sp>
      <p:sp>
        <p:nvSpPr>
          <p:cNvPr name="TextBox 17" id="17"/>
          <p:cNvSpPr txBox="true"/>
          <p:nvPr/>
        </p:nvSpPr>
        <p:spPr>
          <a:xfrm rot="0">
            <a:off x="1961978" y="5424419"/>
            <a:ext cx="8494714" cy="873125"/>
          </a:xfrm>
          <a:prstGeom prst="rect">
            <a:avLst/>
          </a:prstGeom>
        </p:spPr>
        <p:txBody>
          <a:bodyPr anchor="t" rtlCol="false" tIns="0" lIns="0" bIns="0" rIns="0">
            <a:spAutoFit/>
          </a:bodyPr>
          <a:lstStyle/>
          <a:p>
            <a:pPr algn="ctr">
              <a:lnSpc>
                <a:spcPts val="7000"/>
              </a:lnSpc>
            </a:pPr>
            <a:r>
              <a:rPr lang="en-US" sz="5000">
                <a:solidFill>
                  <a:srgbClr val="59524B"/>
                </a:solidFill>
                <a:latin typeface="Bebas Neue 1"/>
                <a:ea typeface="Bebas Neue 1"/>
                <a:cs typeface="Bebas Neue 1"/>
                <a:sym typeface="Bebas Neue 1"/>
              </a:rPr>
              <a:t>Pemodelan simulasi simulink OPen loop</a:t>
            </a:r>
          </a:p>
        </p:txBody>
      </p:sp>
      <p:grpSp>
        <p:nvGrpSpPr>
          <p:cNvPr name="Group 18" id="18"/>
          <p:cNvGrpSpPr/>
          <p:nvPr/>
        </p:nvGrpSpPr>
        <p:grpSpPr>
          <a:xfrm rot="0">
            <a:off x="13626560" y="8326837"/>
            <a:ext cx="4025679" cy="914206"/>
            <a:chOff x="0" y="0"/>
            <a:chExt cx="1789570" cy="406400"/>
          </a:xfrm>
        </p:grpSpPr>
        <p:sp>
          <p:nvSpPr>
            <p:cNvPr name="Freeform 19" id="19"/>
            <p:cNvSpPr/>
            <p:nvPr/>
          </p:nvSpPr>
          <p:spPr>
            <a:xfrm flipH="false" flipV="false" rot="0">
              <a:off x="0" y="0"/>
              <a:ext cx="1789570" cy="406400"/>
            </a:xfrm>
            <a:custGeom>
              <a:avLst/>
              <a:gdLst/>
              <a:ahLst/>
              <a:cxnLst/>
              <a:rect r="r" b="b" t="t" l="l"/>
              <a:pathLst>
                <a:path h="406400" w="1789570">
                  <a:moveTo>
                    <a:pt x="1586370" y="0"/>
                  </a:moveTo>
                  <a:cubicBezTo>
                    <a:pt x="1698594" y="0"/>
                    <a:pt x="1789570" y="90976"/>
                    <a:pt x="1789570" y="203200"/>
                  </a:cubicBezTo>
                  <a:cubicBezTo>
                    <a:pt x="1789570" y="315424"/>
                    <a:pt x="1698594" y="406400"/>
                    <a:pt x="1586370"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20" id="20"/>
            <p:cNvSpPr txBox="true"/>
            <p:nvPr/>
          </p:nvSpPr>
          <p:spPr>
            <a:xfrm>
              <a:off x="0" y="-38100"/>
              <a:ext cx="1789570" cy="444500"/>
            </a:xfrm>
            <a:prstGeom prst="rect">
              <a:avLst/>
            </a:prstGeom>
          </p:spPr>
          <p:txBody>
            <a:bodyPr anchor="ctr" rtlCol="false" tIns="50800" lIns="50800" bIns="50800" rIns="50800"/>
            <a:lstStyle/>
            <a:p>
              <a:pPr algn="ctr">
                <a:lnSpc>
                  <a:spcPts val="2659"/>
                </a:lnSpc>
              </a:pPr>
            </a:p>
          </p:txBody>
        </p:sp>
      </p:grpSp>
      <p:sp>
        <p:nvSpPr>
          <p:cNvPr name="TextBox 21" id="21"/>
          <p:cNvSpPr txBox="true"/>
          <p:nvPr/>
        </p:nvSpPr>
        <p:spPr>
          <a:xfrm rot="0">
            <a:off x="13787412" y="8323996"/>
            <a:ext cx="3703973" cy="815112"/>
          </a:xfrm>
          <a:prstGeom prst="rect">
            <a:avLst/>
          </a:prstGeom>
        </p:spPr>
        <p:txBody>
          <a:bodyPr anchor="t" rtlCol="false" tIns="0" lIns="0" bIns="0" rIns="0">
            <a:spAutoFit/>
          </a:bodyPr>
          <a:lstStyle/>
          <a:p>
            <a:pPr algn="ctr">
              <a:lnSpc>
                <a:spcPts val="6527"/>
              </a:lnSpc>
            </a:pPr>
            <a:r>
              <a:rPr lang="en-US" sz="4662">
                <a:solidFill>
                  <a:srgbClr val="E5C857"/>
                </a:solidFill>
                <a:latin typeface="Bebas Neue 1"/>
                <a:ea typeface="Bebas Neue 1"/>
                <a:cs typeface="Bebas Neue 1"/>
                <a:sym typeface="Bebas Neue 1"/>
              </a:rPr>
              <a:t>current sensing</a:t>
            </a:r>
          </a:p>
        </p:txBody>
      </p:sp>
      <p:grpSp>
        <p:nvGrpSpPr>
          <p:cNvPr name="Group 22" id="22"/>
          <p:cNvGrpSpPr/>
          <p:nvPr/>
        </p:nvGrpSpPr>
        <p:grpSpPr>
          <a:xfrm rot="0">
            <a:off x="5018527" y="8344094"/>
            <a:ext cx="4025679" cy="914206"/>
            <a:chOff x="0" y="0"/>
            <a:chExt cx="1789570" cy="406400"/>
          </a:xfrm>
        </p:grpSpPr>
        <p:sp>
          <p:nvSpPr>
            <p:cNvPr name="Freeform 23" id="23"/>
            <p:cNvSpPr/>
            <p:nvPr/>
          </p:nvSpPr>
          <p:spPr>
            <a:xfrm flipH="false" flipV="false" rot="0">
              <a:off x="0" y="0"/>
              <a:ext cx="1789570" cy="406400"/>
            </a:xfrm>
            <a:custGeom>
              <a:avLst/>
              <a:gdLst/>
              <a:ahLst/>
              <a:cxnLst/>
              <a:rect r="r" b="b" t="t" l="l"/>
              <a:pathLst>
                <a:path h="406400" w="1789570">
                  <a:moveTo>
                    <a:pt x="1586370" y="0"/>
                  </a:moveTo>
                  <a:cubicBezTo>
                    <a:pt x="1698594" y="0"/>
                    <a:pt x="1789570" y="90976"/>
                    <a:pt x="1789570" y="203200"/>
                  </a:cubicBezTo>
                  <a:cubicBezTo>
                    <a:pt x="1789570" y="315424"/>
                    <a:pt x="1698594" y="406400"/>
                    <a:pt x="1586370"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24" id="24"/>
            <p:cNvSpPr txBox="true"/>
            <p:nvPr/>
          </p:nvSpPr>
          <p:spPr>
            <a:xfrm>
              <a:off x="0" y="-38100"/>
              <a:ext cx="1789570" cy="444500"/>
            </a:xfrm>
            <a:prstGeom prst="rect">
              <a:avLst/>
            </a:prstGeom>
          </p:spPr>
          <p:txBody>
            <a:bodyPr anchor="ctr" rtlCol="false" tIns="50800" lIns="50800" bIns="50800" rIns="50800"/>
            <a:lstStyle/>
            <a:p>
              <a:pPr algn="ctr">
                <a:lnSpc>
                  <a:spcPts val="2659"/>
                </a:lnSpc>
              </a:pPr>
            </a:p>
          </p:txBody>
        </p:sp>
      </p:grpSp>
      <p:sp>
        <p:nvSpPr>
          <p:cNvPr name="TextBox 25" id="25"/>
          <p:cNvSpPr txBox="true"/>
          <p:nvPr/>
        </p:nvSpPr>
        <p:spPr>
          <a:xfrm rot="0">
            <a:off x="5179380" y="8341253"/>
            <a:ext cx="3703973" cy="815112"/>
          </a:xfrm>
          <a:prstGeom prst="rect">
            <a:avLst/>
          </a:prstGeom>
        </p:spPr>
        <p:txBody>
          <a:bodyPr anchor="t" rtlCol="false" tIns="0" lIns="0" bIns="0" rIns="0">
            <a:spAutoFit/>
          </a:bodyPr>
          <a:lstStyle/>
          <a:p>
            <a:pPr algn="ctr">
              <a:lnSpc>
                <a:spcPts val="6527"/>
              </a:lnSpc>
            </a:pPr>
            <a:r>
              <a:rPr lang="en-US" sz="4662">
                <a:solidFill>
                  <a:srgbClr val="E5C857"/>
                </a:solidFill>
                <a:latin typeface="Bebas Neue 1"/>
                <a:ea typeface="Bebas Neue 1"/>
                <a:cs typeface="Bebas Neue 1"/>
                <a:sym typeface="Bebas Neue 1"/>
              </a:rPr>
              <a:t>inverter</a:t>
            </a:r>
          </a:p>
        </p:txBody>
      </p:sp>
      <p:grpSp>
        <p:nvGrpSpPr>
          <p:cNvPr name="Group 26" id="26"/>
          <p:cNvGrpSpPr/>
          <p:nvPr/>
        </p:nvGrpSpPr>
        <p:grpSpPr>
          <a:xfrm rot="0">
            <a:off x="635762" y="8326837"/>
            <a:ext cx="4025679" cy="914206"/>
            <a:chOff x="0" y="0"/>
            <a:chExt cx="1789570" cy="406400"/>
          </a:xfrm>
        </p:grpSpPr>
        <p:sp>
          <p:nvSpPr>
            <p:cNvPr name="Freeform 27" id="27"/>
            <p:cNvSpPr/>
            <p:nvPr/>
          </p:nvSpPr>
          <p:spPr>
            <a:xfrm flipH="false" flipV="false" rot="0">
              <a:off x="0" y="0"/>
              <a:ext cx="1789570" cy="406400"/>
            </a:xfrm>
            <a:custGeom>
              <a:avLst/>
              <a:gdLst/>
              <a:ahLst/>
              <a:cxnLst/>
              <a:rect r="r" b="b" t="t" l="l"/>
              <a:pathLst>
                <a:path h="406400" w="1789570">
                  <a:moveTo>
                    <a:pt x="1586370" y="0"/>
                  </a:moveTo>
                  <a:cubicBezTo>
                    <a:pt x="1698594" y="0"/>
                    <a:pt x="1789570" y="90976"/>
                    <a:pt x="1789570" y="203200"/>
                  </a:cubicBezTo>
                  <a:cubicBezTo>
                    <a:pt x="1789570" y="315424"/>
                    <a:pt x="1698594" y="406400"/>
                    <a:pt x="1586370"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28" id="28"/>
            <p:cNvSpPr txBox="true"/>
            <p:nvPr/>
          </p:nvSpPr>
          <p:spPr>
            <a:xfrm>
              <a:off x="0" y="-38100"/>
              <a:ext cx="1789570" cy="444500"/>
            </a:xfrm>
            <a:prstGeom prst="rect">
              <a:avLst/>
            </a:prstGeom>
          </p:spPr>
          <p:txBody>
            <a:bodyPr anchor="ctr" rtlCol="false" tIns="50800" lIns="50800" bIns="50800" rIns="50800"/>
            <a:lstStyle/>
            <a:p>
              <a:pPr algn="ctr">
                <a:lnSpc>
                  <a:spcPts val="2659"/>
                </a:lnSpc>
              </a:pPr>
            </a:p>
          </p:txBody>
        </p:sp>
      </p:grpSp>
      <p:sp>
        <p:nvSpPr>
          <p:cNvPr name="TextBox 29" id="29"/>
          <p:cNvSpPr txBox="true"/>
          <p:nvPr/>
        </p:nvSpPr>
        <p:spPr>
          <a:xfrm rot="0">
            <a:off x="796614" y="8323996"/>
            <a:ext cx="3703973" cy="815112"/>
          </a:xfrm>
          <a:prstGeom prst="rect">
            <a:avLst/>
          </a:prstGeom>
        </p:spPr>
        <p:txBody>
          <a:bodyPr anchor="t" rtlCol="false" tIns="0" lIns="0" bIns="0" rIns="0">
            <a:spAutoFit/>
          </a:bodyPr>
          <a:lstStyle/>
          <a:p>
            <a:pPr algn="ctr">
              <a:lnSpc>
                <a:spcPts val="6527"/>
              </a:lnSpc>
            </a:pPr>
            <a:r>
              <a:rPr lang="en-US" sz="4662">
                <a:solidFill>
                  <a:srgbClr val="E5C857"/>
                </a:solidFill>
                <a:latin typeface="Bebas Neue 1"/>
                <a:ea typeface="Bebas Neue 1"/>
                <a:cs typeface="Bebas Neue 1"/>
                <a:sym typeface="Bebas Neue 1"/>
              </a:rPr>
              <a:t>pwm generator</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8994" y="-227865"/>
            <a:ext cx="13186774" cy="11115601"/>
            <a:chOff x="0" y="0"/>
            <a:chExt cx="3473060" cy="2927566"/>
          </a:xfrm>
        </p:grpSpPr>
        <p:sp>
          <p:nvSpPr>
            <p:cNvPr name="Freeform 3" id="3"/>
            <p:cNvSpPr/>
            <p:nvPr/>
          </p:nvSpPr>
          <p:spPr>
            <a:xfrm flipH="false" flipV="false" rot="0">
              <a:off x="0" y="0"/>
              <a:ext cx="3473060" cy="2927566"/>
            </a:xfrm>
            <a:custGeom>
              <a:avLst/>
              <a:gdLst/>
              <a:ahLst/>
              <a:cxnLst/>
              <a:rect r="r" b="b" t="t" l="l"/>
              <a:pathLst>
                <a:path h="2927566" w="3473060">
                  <a:moveTo>
                    <a:pt x="0" y="0"/>
                  </a:moveTo>
                  <a:lnTo>
                    <a:pt x="3473060" y="0"/>
                  </a:lnTo>
                  <a:lnTo>
                    <a:pt x="3473060" y="2927566"/>
                  </a:lnTo>
                  <a:lnTo>
                    <a:pt x="0" y="2927566"/>
                  </a:lnTo>
                  <a:close/>
                </a:path>
              </a:pathLst>
            </a:custGeom>
            <a:solidFill>
              <a:srgbClr val="59524B"/>
            </a:solidFill>
          </p:spPr>
        </p:sp>
        <p:sp>
          <p:nvSpPr>
            <p:cNvPr name="TextBox 4" id="4"/>
            <p:cNvSpPr txBox="true"/>
            <p:nvPr/>
          </p:nvSpPr>
          <p:spPr>
            <a:xfrm>
              <a:off x="0" y="-38100"/>
              <a:ext cx="3473060" cy="2965666"/>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665313" y="464654"/>
            <a:ext cx="6576676" cy="1523631"/>
            <a:chOff x="0" y="0"/>
            <a:chExt cx="2343616" cy="542950"/>
          </a:xfrm>
        </p:grpSpPr>
        <p:sp>
          <p:nvSpPr>
            <p:cNvPr name="Freeform 6" id="6"/>
            <p:cNvSpPr/>
            <p:nvPr/>
          </p:nvSpPr>
          <p:spPr>
            <a:xfrm flipH="false" flipV="false" rot="0">
              <a:off x="0" y="0"/>
              <a:ext cx="2343616" cy="542950"/>
            </a:xfrm>
            <a:custGeom>
              <a:avLst/>
              <a:gdLst/>
              <a:ahLst/>
              <a:cxnLst/>
              <a:rect r="r" b="b" t="t" l="l"/>
              <a:pathLst>
                <a:path h="542950" w="2343616">
                  <a:moveTo>
                    <a:pt x="2140416" y="0"/>
                  </a:moveTo>
                  <a:cubicBezTo>
                    <a:pt x="2252641" y="0"/>
                    <a:pt x="2343616" y="121543"/>
                    <a:pt x="2343616" y="271475"/>
                  </a:cubicBezTo>
                  <a:cubicBezTo>
                    <a:pt x="2343616" y="421406"/>
                    <a:pt x="2252641" y="542950"/>
                    <a:pt x="2140416" y="542950"/>
                  </a:cubicBezTo>
                  <a:lnTo>
                    <a:pt x="203200" y="542950"/>
                  </a:lnTo>
                  <a:cubicBezTo>
                    <a:pt x="90976" y="542950"/>
                    <a:pt x="0" y="421406"/>
                    <a:pt x="0" y="271475"/>
                  </a:cubicBezTo>
                  <a:cubicBezTo>
                    <a:pt x="0" y="121543"/>
                    <a:pt x="90976" y="0"/>
                    <a:pt x="203200" y="0"/>
                  </a:cubicBezTo>
                  <a:close/>
                </a:path>
              </a:pathLst>
            </a:custGeom>
            <a:solidFill>
              <a:srgbClr val="F2F2F2"/>
            </a:solidFill>
          </p:spPr>
        </p:sp>
        <p:sp>
          <p:nvSpPr>
            <p:cNvPr name="TextBox 7" id="7"/>
            <p:cNvSpPr txBox="true"/>
            <p:nvPr/>
          </p:nvSpPr>
          <p:spPr>
            <a:xfrm>
              <a:off x="0" y="-38100"/>
              <a:ext cx="2343616" cy="58105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3038174" y="458478"/>
            <a:ext cx="4563040" cy="1140443"/>
            <a:chOff x="0" y="0"/>
            <a:chExt cx="6084053" cy="1520591"/>
          </a:xfrm>
        </p:grpSpPr>
        <p:grpSp>
          <p:nvGrpSpPr>
            <p:cNvPr name="Group 9" id="9"/>
            <p:cNvGrpSpPr/>
            <p:nvPr/>
          </p:nvGrpSpPr>
          <p:grpSpPr>
            <a:xfrm rot="0">
              <a:off x="0" y="0"/>
              <a:ext cx="6084053" cy="1520591"/>
              <a:chOff x="0" y="0"/>
              <a:chExt cx="1626052" cy="406400"/>
            </a:xfrm>
          </p:grpSpPr>
          <p:sp>
            <p:nvSpPr>
              <p:cNvPr name="Freeform 10" id="10"/>
              <p:cNvSpPr/>
              <p:nvPr/>
            </p:nvSpPr>
            <p:spPr>
              <a:xfrm flipH="false" flipV="false" rot="0">
                <a:off x="0" y="0"/>
                <a:ext cx="1626052" cy="406400"/>
              </a:xfrm>
              <a:custGeom>
                <a:avLst/>
                <a:gdLst/>
                <a:ahLst/>
                <a:cxnLst/>
                <a:rect r="r" b="b" t="t" l="l"/>
                <a:pathLst>
                  <a:path h="406400" w="1626052">
                    <a:moveTo>
                      <a:pt x="1422852" y="0"/>
                    </a:moveTo>
                    <a:cubicBezTo>
                      <a:pt x="1535076" y="0"/>
                      <a:pt x="1626052" y="90976"/>
                      <a:pt x="1626052" y="203200"/>
                    </a:cubicBezTo>
                    <a:cubicBezTo>
                      <a:pt x="1626052" y="315424"/>
                      <a:pt x="1535076" y="406400"/>
                      <a:pt x="1422852"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11" id="11"/>
              <p:cNvSpPr txBox="true"/>
              <p:nvPr/>
            </p:nvSpPr>
            <p:spPr>
              <a:xfrm>
                <a:off x="0" y="-38100"/>
                <a:ext cx="1626052" cy="444500"/>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414535" y="124612"/>
              <a:ext cx="5254984" cy="1271367"/>
            </a:xfrm>
            <a:custGeom>
              <a:avLst/>
              <a:gdLst/>
              <a:ahLst/>
              <a:cxnLst/>
              <a:rect r="r" b="b" t="t" l="l"/>
              <a:pathLst>
                <a:path h="1271367" w="5254984">
                  <a:moveTo>
                    <a:pt x="0" y="0"/>
                  </a:moveTo>
                  <a:lnTo>
                    <a:pt x="5254983" y="0"/>
                  </a:lnTo>
                  <a:lnTo>
                    <a:pt x="5254983" y="1271367"/>
                  </a:lnTo>
                  <a:lnTo>
                    <a:pt x="0" y="1271367"/>
                  </a:lnTo>
                  <a:lnTo>
                    <a:pt x="0" y="0"/>
                  </a:lnTo>
                  <a:close/>
                </a:path>
              </a:pathLst>
            </a:custGeom>
            <a:blipFill>
              <a:blip r:embed="rId2"/>
              <a:stretch>
                <a:fillRect l="0" t="0" r="0" b="0"/>
              </a:stretch>
            </a:blipFill>
          </p:spPr>
        </p:sp>
      </p:grpSp>
      <p:sp>
        <p:nvSpPr>
          <p:cNvPr name="Freeform 13" id="13"/>
          <p:cNvSpPr/>
          <p:nvPr/>
        </p:nvSpPr>
        <p:spPr>
          <a:xfrm flipH="false" flipV="false" rot="0">
            <a:off x="13277254" y="1816562"/>
            <a:ext cx="4084880" cy="8196371"/>
          </a:xfrm>
          <a:custGeom>
            <a:avLst/>
            <a:gdLst/>
            <a:ahLst/>
            <a:cxnLst/>
            <a:rect r="r" b="b" t="t" l="l"/>
            <a:pathLst>
              <a:path h="8196371" w="4084880">
                <a:moveTo>
                  <a:pt x="0" y="0"/>
                </a:moveTo>
                <a:lnTo>
                  <a:pt x="4084880" y="0"/>
                </a:lnTo>
                <a:lnTo>
                  <a:pt x="4084880" y="8196372"/>
                </a:lnTo>
                <a:lnTo>
                  <a:pt x="0" y="8196372"/>
                </a:lnTo>
                <a:lnTo>
                  <a:pt x="0" y="0"/>
                </a:lnTo>
                <a:close/>
              </a:path>
            </a:pathLst>
          </a:custGeom>
          <a:blipFill>
            <a:blip r:embed="rId3"/>
            <a:stretch>
              <a:fillRect l="0" t="0" r="0" b="0"/>
            </a:stretch>
          </a:blipFill>
        </p:spPr>
      </p:sp>
      <p:sp>
        <p:nvSpPr>
          <p:cNvPr name="Freeform 14" id="14"/>
          <p:cNvSpPr/>
          <p:nvPr/>
        </p:nvSpPr>
        <p:spPr>
          <a:xfrm flipH="false" flipV="false" rot="0">
            <a:off x="1553779" y="3136192"/>
            <a:ext cx="5244546" cy="1664135"/>
          </a:xfrm>
          <a:custGeom>
            <a:avLst/>
            <a:gdLst/>
            <a:ahLst/>
            <a:cxnLst/>
            <a:rect r="r" b="b" t="t" l="l"/>
            <a:pathLst>
              <a:path h="1664135" w="5244546">
                <a:moveTo>
                  <a:pt x="0" y="0"/>
                </a:moveTo>
                <a:lnTo>
                  <a:pt x="5244546" y="0"/>
                </a:lnTo>
                <a:lnTo>
                  <a:pt x="5244546" y="1664135"/>
                </a:lnTo>
                <a:lnTo>
                  <a:pt x="0" y="1664135"/>
                </a:lnTo>
                <a:lnTo>
                  <a:pt x="0" y="0"/>
                </a:lnTo>
                <a:close/>
              </a:path>
            </a:pathLst>
          </a:custGeom>
          <a:blipFill>
            <a:blip r:embed="rId4"/>
            <a:stretch>
              <a:fillRect l="0" t="0" r="0" b="0"/>
            </a:stretch>
          </a:blipFill>
        </p:spPr>
      </p:sp>
      <p:sp>
        <p:nvSpPr>
          <p:cNvPr name="TextBox 15" id="15"/>
          <p:cNvSpPr txBox="true"/>
          <p:nvPr/>
        </p:nvSpPr>
        <p:spPr>
          <a:xfrm rot="0">
            <a:off x="1110116" y="1112169"/>
            <a:ext cx="6131874" cy="995271"/>
          </a:xfrm>
          <a:prstGeom prst="rect">
            <a:avLst/>
          </a:prstGeom>
        </p:spPr>
        <p:txBody>
          <a:bodyPr anchor="t" rtlCol="false" tIns="0" lIns="0" bIns="0" rIns="0">
            <a:spAutoFit/>
          </a:bodyPr>
          <a:lstStyle/>
          <a:p>
            <a:pPr algn="l">
              <a:lnSpc>
                <a:spcPts val="8142"/>
              </a:lnSpc>
            </a:pPr>
            <a:r>
              <a:rPr lang="en-US" sz="5816">
                <a:solidFill>
                  <a:srgbClr val="E5C857"/>
                </a:solidFill>
                <a:latin typeface="Bebas Neue 1"/>
                <a:ea typeface="Bebas Neue 1"/>
                <a:cs typeface="Bebas Neue 1"/>
                <a:sym typeface="Bebas Neue 1"/>
              </a:rPr>
              <a:t>identifikasi parameter</a:t>
            </a:r>
          </a:p>
        </p:txBody>
      </p:sp>
      <p:sp>
        <p:nvSpPr>
          <p:cNvPr name="TextBox 16" id="16"/>
          <p:cNvSpPr txBox="true"/>
          <p:nvPr/>
        </p:nvSpPr>
        <p:spPr>
          <a:xfrm rot="0">
            <a:off x="1051559" y="344178"/>
            <a:ext cx="4684584" cy="995271"/>
          </a:xfrm>
          <a:prstGeom prst="rect">
            <a:avLst/>
          </a:prstGeom>
        </p:spPr>
        <p:txBody>
          <a:bodyPr anchor="t" rtlCol="false" tIns="0" lIns="0" bIns="0" rIns="0">
            <a:spAutoFit/>
          </a:bodyPr>
          <a:lstStyle/>
          <a:p>
            <a:pPr algn="l">
              <a:lnSpc>
                <a:spcPts val="8142"/>
              </a:lnSpc>
            </a:pPr>
            <a:r>
              <a:rPr lang="en-US" sz="5816">
                <a:solidFill>
                  <a:srgbClr val="59524B"/>
                </a:solidFill>
                <a:latin typeface="Bebas Neue 1"/>
                <a:ea typeface="Bebas Neue 1"/>
                <a:cs typeface="Bebas Neue 1"/>
                <a:sym typeface="Bebas Neue 1"/>
              </a:rPr>
              <a:t>metode penelitian</a:t>
            </a:r>
          </a:p>
        </p:txBody>
      </p:sp>
      <p:sp>
        <p:nvSpPr>
          <p:cNvPr name="TextBox 17" id="17"/>
          <p:cNvSpPr txBox="true"/>
          <p:nvPr/>
        </p:nvSpPr>
        <p:spPr>
          <a:xfrm rot="0">
            <a:off x="1180191" y="2321166"/>
            <a:ext cx="4904539" cy="815027"/>
          </a:xfrm>
          <a:prstGeom prst="rect">
            <a:avLst/>
          </a:prstGeom>
        </p:spPr>
        <p:txBody>
          <a:bodyPr anchor="t" rtlCol="false" tIns="0" lIns="0" bIns="0" rIns="0">
            <a:spAutoFit/>
          </a:bodyPr>
          <a:lstStyle/>
          <a:p>
            <a:pPr algn="l">
              <a:lnSpc>
                <a:spcPts val="6527"/>
              </a:lnSpc>
            </a:pPr>
            <a:r>
              <a:rPr lang="en-US" sz="4662">
                <a:solidFill>
                  <a:srgbClr val="E5C857"/>
                </a:solidFill>
                <a:latin typeface="Bebas Neue 1"/>
                <a:ea typeface="Bebas Neue 1"/>
                <a:cs typeface="Bebas Neue 1"/>
                <a:sym typeface="Bebas Neue 1"/>
              </a:rPr>
              <a:t>model state alpha-beta</a:t>
            </a:r>
          </a:p>
        </p:txBody>
      </p:sp>
      <p:sp>
        <p:nvSpPr>
          <p:cNvPr name="TextBox 18" id="18"/>
          <p:cNvSpPr txBox="true"/>
          <p:nvPr/>
        </p:nvSpPr>
        <p:spPr>
          <a:xfrm rot="0">
            <a:off x="1180191" y="4855302"/>
            <a:ext cx="9670650" cy="1482090"/>
          </a:xfrm>
          <a:prstGeom prst="rect">
            <a:avLst/>
          </a:prstGeom>
        </p:spPr>
        <p:txBody>
          <a:bodyPr anchor="t" rtlCol="false" tIns="0" lIns="0" bIns="0" rIns="0">
            <a:spAutoFit/>
          </a:bodyPr>
          <a:lstStyle/>
          <a:p>
            <a:pPr algn="just">
              <a:lnSpc>
                <a:spcPts val="3900"/>
              </a:lnSpc>
            </a:pPr>
            <a:r>
              <a:rPr lang="en-US" sz="2600" b="true">
                <a:solidFill>
                  <a:srgbClr val="FFFFFF"/>
                </a:solidFill>
                <a:latin typeface="Poppins Bold"/>
                <a:ea typeface="Poppins Bold"/>
                <a:cs typeface="Poppins Bold"/>
                <a:sym typeface="Poppins Bold"/>
              </a:rPr>
              <a:t>Data input didapatkan dari p</a:t>
            </a:r>
            <a:r>
              <a:rPr lang="en-US" b="true" sz="2600">
                <a:solidFill>
                  <a:srgbClr val="FFFFFF"/>
                </a:solidFill>
                <a:latin typeface="Poppins Bold"/>
                <a:ea typeface="Poppins Bold"/>
                <a:cs typeface="Poppins Bold"/>
                <a:sym typeface="Poppins Bold"/>
              </a:rPr>
              <a:t>engujian hardware open loop, dengan sudut &amp; kecepatan sudut bersal dari encoder AS5600 (θenc ωenc​)</a:t>
            </a:r>
          </a:p>
        </p:txBody>
      </p:sp>
      <p:sp>
        <p:nvSpPr>
          <p:cNvPr name="TextBox 19" id="19"/>
          <p:cNvSpPr txBox="true"/>
          <p:nvPr/>
        </p:nvSpPr>
        <p:spPr>
          <a:xfrm rot="0">
            <a:off x="1180191" y="7776210"/>
            <a:ext cx="9670650" cy="1482090"/>
          </a:xfrm>
          <a:prstGeom prst="rect">
            <a:avLst/>
          </a:prstGeom>
        </p:spPr>
        <p:txBody>
          <a:bodyPr anchor="t" rtlCol="false" tIns="0" lIns="0" bIns="0" rIns="0">
            <a:spAutoFit/>
          </a:bodyPr>
          <a:lstStyle/>
          <a:p>
            <a:pPr algn="just">
              <a:lnSpc>
                <a:spcPts val="3900"/>
              </a:lnSpc>
            </a:pPr>
            <a:r>
              <a:rPr lang="en-US" b="true" sz="2600">
                <a:solidFill>
                  <a:srgbClr val="FFFFFF"/>
                </a:solidFill>
                <a:latin typeface="Poppins Bold"/>
                <a:ea typeface="Poppins Bold"/>
                <a:cs typeface="Poppins Bold"/>
                <a:sym typeface="Poppins Bold"/>
              </a:rPr>
              <a:t>Tahap 1 : Regresi closed-form </a:t>
            </a:r>
          </a:p>
          <a:p>
            <a:pPr algn="just">
              <a:lnSpc>
                <a:spcPts val="3900"/>
              </a:lnSpc>
            </a:pPr>
            <a:r>
              <a:rPr lang="en-US" b="true" sz="2600">
                <a:solidFill>
                  <a:srgbClr val="FFFFFF"/>
                </a:solidFill>
                <a:latin typeface="Poppins Bold"/>
                <a:ea typeface="Poppins Bold"/>
                <a:cs typeface="Poppins Bold"/>
                <a:sym typeface="Poppins Bold"/>
              </a:rPr>
              <a:t>Tahap 2 : Optimasi nlgreyest (digunakan toolbox system identification MATLAB)</a:t>
            </a:r>
          </a:p>
        </p:txBody>
      </p:sp>
      <p:sp>
        <p:nvSpPr>
          <p:cNvPr name="TextBox 20" id="20"/>
          <p:cNvSpPr txBox="true"/>
          <p:nvPr/>
        </p:nvSpPr>
        <p:spPr>
          <a:xfrm rot="0">
            <a:off x="1180191" y="6989700"/>
            <a:ext cx="6769705" cy="815027"/>
          </a:xfrm>
          <a:prstGeom prst="rect">
            <a:avLst/>
          </a:prstGeom>
        </p:spPr>
        <p:txBody>
          <a:bodyPr anchor="t" rtlCol="false" tIns="0" lIns="0" bIns="0" rIns="0">
            <a:spAutoFit/>
          </a:bodyPr>
          <a:lstStyle/>
          <a:p>
            <a:pPr algn="l">
              <a:lnSpc>
                <a:spcPts val="6527"/>
              </a:lnSpc>
            </a:pPr>
            <a:r>
              <a:rPr lang="en-US" sz="4662">
                <a:solidFill>
                  <a:srgbClr val="E5C857"/>
                </a:solidFill>
                <a:latin typeface="Bebas Neue 1"/>
                <a:ea typeface="Bebas Neue 1"/>
                <a:cs typeface="Bebas Neue 1"/>
                <a:sym typeface="Bebas Neue 1"/>
              </a:rPr>
              <a:t>identifikasi parameter dua tahap</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5313" y="464654"/>
            <a:ext cx="7562855" cy="1523631"/>
            <a:chOff x="0" y="0"/>
            <a:chExt cx="2695044" cy="542950"/>
          </a:xfrm>
        </p:grpSpPr>
        <p:sp>
          <p:nvSpPr>
            <p:cNvPr name="Freeform 3" id="3"/>
            <p:cNvSpPr/>
            <p:nvPr/>
          </p:nvSpPr>
          <p:spPr>
            <a:xfrm flipH="false" flipV="false" rot="0">
              <a:off x="0" y="0"/>
              <a:ext cx="2695044" cy="542950"/>
            </a:xfrm>
            <a:custGeom>
              <a:avLst/>
              <a:gdLst/>
              <a:ahLst/>
              <a:cxnLst/>
              <a:rect r="r" b="b" t="t" l="l"/>
              <a:pathLst>
                <a:path h="542950" w="2695044">
                  <a:moveTo>
                    <a:pt x="2491844" y="0"/>
                  </a:moveTo>
                  <a:cubicBezTo>
                    <a:pt x="2604068" y="0"/>
                    <a:pt x="2695044" y="121543"/>
                    <a:pt x="2695044" y="271475"/>
                  </a:cubicBezTo>
                  <a:cubicBezTo>
                    <a:pt x="2695044" y="421406"/>
                    <a:pt x="2604068" y="542950"/>
                    <a:pt x="2491844" y="542950"/>
                  </a:cubicBezTo>
                  <a:lnTo>
                    <a:pt x="203200" y="542950"/>
                  </a:lnTo>
                  <a:cubicBezTo>
                    <a:pt x="90976" y="542950"/>
                    <a:pt x="0" y="421406"/>
                    <a:pt x="0" y="271475"/>
                  </a:cubicBezTo>
                  <a:cubicBezTo>
                    <a:pt x="0" y="121543"/>
                    <a:pt x="90976" y="0"/>
                    <a:pt x="203200" y="0"/>
                  </a:cubicBezTo>
                  <a:close/>
                </a:path>
              </a:pathLst>
            </a:custGeom>
            <a:solidFill>
              <a:srgbClr val="F2F2F2"/>
            </a:solidFill>
          </p:spPr>
        </p:sp>
        <p:sp>
          <p:nvSpPr>
            <p:cNvPr name="TextBox 4" id="4"/>
            <p:cNvSpPr txBox="true"/>
            <p:nvPr/>
          </p:nvSpPr>
          <p:spPr>
            <a:xfrm>
              <a:off x="0" y="-38100"/>
              <a:ext cx="2695044" cy="5810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038174" y="458478"/>
            <a:ext cx="4563040" cy="1140443"/>
            <a:chOff x="0" y="0"/>
            <a:chExt cx="6084053" cy="1520591"/>
          </a:xfrm>
        </p:grpSpPr>
        <p:grpSp>
          <p:nvGrpSpPr>
            <p:cNvPr name="Group 6" id="6"/>
            <p:cNvGrpSpPr/>
            <p:nvPr/>
          </p:nvGrpSpPr>
          <p:grpSpPr>
            <a:xfrm rot="0">
              <a:off x="0" y="0"/>
              <a:ext cx="6084053" cy="1520591"/>
              <a:chOff x="0" y="0"/>
              <a:chExt cx="1626052" cy="406400"/>
            </a:xfrm>
          </p:grpSpPr>
          <p:sp>
            <p:nvSpPr>
              <p:cNvPr name="Freeform 7" id="7"/>
              <p:cNvSpPr/>
              <p:nvPr/>
            </p:nvSpPr>
            <p:spPr>
              <a:xfrm flipH="false" flipV="false" rot="0">
                <a:off x="0" y="0"/>
                <a:ext cx="1626052" cy="406400"/>
              </a:xfrm>
              <a:custGeom>
                <a:avLst/>
                <a:gdLst/>
                <a:ahLst/>
                <a:cxnLst/>
                <a:rect r="r" b="b" t="t" l="l"/>
                <a:pathLst>
                  <a:path h="406400" w="1626052">
                    <a:moveTo>
                      <a:pt x="1422852" y="0"/>
                    </a:moveTo>
                    <a:cubicBezTo>
                      <a:pt x="1535076" y="0"/>
                      <a:pt x="1626052" y="90976"/>
                      <a:pt x="1626052" y="203200"/>
                    </a:cubicBezTo>
                    <a:cubicBezTo>
                      <a:pt x="1626052" y="315424"/>
                      <a:pt x="1535076" y="406400"/>
                      <a:pt x="1422852"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8" id="8"/>
              <p:cNvSpPr txBox="true"/>
              <p:nvPr/>
            </p:nvSpPr>
            <p:spPr>
              <a:xfrm>
                <a:off x="0" y="-38100"/>
                <a:ext cx="1626052" cy="44450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414535" y="124612"/>
              <a:ext cx="5254984" cy="1271367"/>
            </a:xfrm>
            <a:custGeom>
              <a:avLst/>
              <a:gdLst/>
              <a:ahLst/>
              <a:cxnLst/>
              <a:rect r="r" b="b" t="t" l="l"/>
              <a:pathLst>
                <a:path h="1271367" w="5254984">
                  <a:moveTo>
                    <a:pt x="0" y="0"/>
                  </a:moveTo>
                  <a:lnTo>
                    <a:pt x="5254983" y="0"/>
                  </a:lnTo>
                  <a:lnTo>
                    <a:pt x="5254983" y="1271367"/>
                  </a:lnTo>
                  <a:lnTo>
                    <a:pt x="0" y="1271367"/>
                  </a:lnTo>
                  <a:lnTo>
                    <a:pt x="0" y="0"/>
                  </a:lnTo>
                  <a:close/>
                </a:path>
              </a:pathLst>
            </a:custGeom>
            <a:blipFill>
              <a:blip r:embed="rId2"/>
              <a:stretch>
                <a:fillRect l="0" t="0" r="0" b="0"/>
              </a:stretch>
            </a:blipFill>
          </p:spPr>
        </p:sp>
      </p:grpSp>
      <p:sp>
        <p:nvSpPr>
          <p:cNvPr name="Freeform 10" id="10"/>
          <p:cNvSpPr/>
          <p:nvPr/>
        </p:nvSpPr>
        <p:spPr>
          <a:xfrm flipH="false" flipV="false" rot="0">
            <a:off x="4870314" y="2107440"/>
            <a:ext cx="8890390" cy="3582245"/>
          </a:xfrm>
          <a:custGeom>
            <a:avLst/>
            <a:gdLst/>
            <a:ahLst/>
            <a:cxnLst/>
            <a:rect r="r" b="b" t="t" l="l"/>
            <a:pathLst>
              <a:path h="3582245" w="8890390">
                <a:moveTo>
                  <a:pt x="0" y="0"/>
                </a:moveTo>
                <a:lnTo>
                  <a:pt x="8890390" y="0"/>
                </a:lnTo>
                <a:lnTo>
                  <a:pt x="8890390" y="3582245"/>
                </a:lnTo>
                <a:lnTo>
                  <a:pt x="0" y="3582245"/>
                </a:lnTo>
                <a:lnTo>
                  <a:pt x="0" y="0"/>
                </a:lnTo>
                <a:close/>
              </a:path>
            </a:pathLst>
          </a:custGeom>
          <a:blipFill>
            <a:blip r:embed="rId3"/>
            <a:stretch>
              <a:fillRect l="0" t="0" r="0" b="0"/>
            </a:stretch>
          </a:blipFill>
        </p:spPr>
      </p:sp>
      <p:sp>
        <p:nvSpPr>
          <p:cNvPr name="Freeform 11" id="11"/>
          <p:cNvSpPr/>
          <p:nvPr/>
        </p:nvSpPr>
        <p:spPr>
          <a:xfrm flipH="false" flipV="false" rot="0">
            <a:off x="4620885" y="7172410"/>
            <a:ext cx="9389250" cy="2752672"/>
          </a:xfrm>
          <a:custGeom>
            <a:avLst/>
            <a:gdLst/>
            <a:ahLst/>
            <a:cxnLst/>
            <a:rect r="r" b="b" t="t" l="l"/>
            <a:pathLst>
              <a:path h="2752672" w="9389250">
                <a:moveTo>
                  <a:pt x="0" y="0"/>
                </a:moveTo>
                <a:lnTo>
                  <a:pt x="9389249" y="0"/>
                </a:lnTo>
                <a:lnTo>
                  <a:pt x="9389249" y="2752672"/>
                </a:lnTo>
                <a:lnTo>
                  <a:pt x="0" y="2752672"/>
                </a:lnTo>
                <a:lnTo>
                  <a:pt x="0" y="0"/>
                </a:lnTo>
                <a:close/>
              </a:path>
            </a:pathLst>
          </a:custGeom>
          <a:blipFill>
            <a:blip r:embed="rId4"/>
            <a:stretch>
              <a:fillRect l="0" t="0" r="0" b="0"/>
            </a:stretch>
          </a:blipFill>
        </p:spPr>
      </p:sp>
      <p:sp>
        <p:nvSpPr>
          <p:cNvPr name="TextBox 12" id="12"/>
          <p:cNvSpPr txBox="true"/>
          <p:nvPr/>
        </p:nvSpPr>
        <p:spPr>
          <a:xfrm rot="0">
            <a:off x="1110116" y="1112169"/>
            <a:ext cx="7118053" cy="995271"/>
          </a:xfrm>
          <a:prstGeom prst="rect">
            <a:avLst/>
          </a:prstGeom>
        </p:spPr>
        <p:txBody>
          <a:bodyPr anchor="t" rtlCol="false" tIns="0" lIns="0" bIns="0" rIns="0">
            <a:spAutoFit/>
          </a:bodyPr>
          <a:lstStyle/>
          <a:p>
            <a:pPr algn="l">
              <a:lnSpc>
                <a:spcPts val="8142"/>
              </a:lnSpc>
            </a:pPr>
            <a:r>
              <a:rPr lang="en-US" sz="5816">
                <a:solidFill>
                  <a:srgbClr val="E5C857"/>
                </a:solidFill>
                <a:latin typeface="Bebas Neue 1"/>
                <a:ea typeface="Bebas Neue 1"/>
                <a:cs typeface="Bebas Neue 1"/>
                <a:sym typeface="Bebas Neue 1"/>
              </a:rPr>
              <a:t>perancangan kontroler foc</a:t>
            </a:r>
          </a:p>
        </p:txBody>
      </p:sp>
      <p:sp>
        <p:nvSpPr>
          <p:cNvPr name="TextBox 13" id="13"/>
          <p:cNvSpPr txBox="true"/>
          <p:nvPr/>
        </p:nvSpPr>
        <p:spPr>
          <a:xfrm rot="0">
            <a:off x="1051559" y="344178"/>
            <a:ext cx="4684584" cy="995271"/>
          </a:xfrm>
          <a:prstGeom prst="rect">
            <a:avLst/>
          </a:prstGeom>
        </p:spPr>
        <p:txBody>
          <a:bodyPr anchor="t" rtlCol="false" tIns="0" lIns="0" bIns="0" rIns="0">
            <a:spAutoFit/>
          </a:bodyPr>
          <a:lstStyle/>
          <a:p>
            <a:pPr algn="l">
              <a:lnSpc>
                <a:spcPts val="8142"/>
              </a:lnSpc>
            </a:pPr>
            <a:r>
              <a:rPr lang="en-US" sz="5816">
                <a:solidFill>
                  <a:srgbClr val="59524B"/>
                </a:solidFill>
                <a:latin typeface="Bebas Neue 1"/>
                <a:ea typeface="Bebas Neue 1"/>
                <a:cs typeface="Bebas Neue 1"/>
                <a:sym typeface="Bebas Neue 1"/>
              </a:rPr>
              <a:t>metode penelitian</a:t>
            </a:r>
          </a:p>
        </p:txBody>
      </p:sp>
      <p:sp>
        <p:nvSpPr>
          <p:cNvPr name="TextBox 14" id="14"/>
          <p:cNvSpPr txBox="true"/>
          <p:nvPr/>
        </p:nvSpPr>
        <p:spPr>
          <a:xfrm rot="0">
            <a:off x="5068153" y="5613485"/>
            <a:ext cx="8494714" cy="533400"/>
          </a:xfrm>
          <a:prstGeom prst="rect">
            <a:avLst/>
          </a:prstGeom>
        </p:spPr>
        <p:txBody>
          <a:bodyPr anchor="t" rtlCol="false" tIns="0" lIns="0" bIns="0" rIns="0">
            <a:spAutoFit/>
          </a:bodyPr>
          <a:lstStyle/>
          <a:p>
            <a:pPr algn="ctr">
              <a:lnSpc>
                <a:spcPts val="4200"/>
              </a:lnSpc>
            </a:pPr>
            <a:r>
              <a:rPr lang="en-US" sz="3000">
                <a:solidFill>
                  <a:srgbClr val="59524B"/>
                </a:solidFill>
                <a:latin typeface="Bebas Neue 1"/>
                <a:ea typeface="Bebas Neue 1"/>
                <a:cs typeface="Bebas Neue 1"/>
                <a:sym typeface="Bebas Neue 1"/>
              </a:rPr>
              <a:t>block diagram foc sensored</a:t>
            </a:r>
          </a:p>
        </p:txBody>
      </p:sp>
      <p:sp>
        <p:nvSpPr>
          <p:cNvPr name="TextBox 15" id="15"/>
          <p:cNvSpPr txBox="true"/>
          <p:nvPr/>
        </p:nvSpPr>
        <p:spPr>
          <a:xfrm rot="0">
            <a:off x="1200209" y="6327860"/>
            <a:ext cx="16230600" cy="720725"/>
          </a:xfrm>
          <a:prstGeom prst="rect">
            <a:avLst/>
          </a:prstGeom>
        </p:spPr>
        <p:txBody>
          <a:bodyPr anchor="t" rtlCol="false" tIns="0" lIns="0" bIns="0" rIns="0">
            <a:spAutoFit/>
          </a:bodyPr>
          <a:lstStyle/>
          <a:p>
            <a:pPr algn="ctr">
              <a:lnSpc>
                <a:spcPts val="2800"/>
              </a:lnSpc>
            </a:pPr>
            <a:r>
              <a:rPr lang="en-US" sz="2000">
                <a:solidFill>
                  <a:srgbClr val="010101"/>
                </a:solidFill>
                <a:latin typeface="Poppins"/>
                <a:ea typeface="Poppins"/>
                <a:cs typeface="Poppins"/>
                <a:sym typeface="Poppins"/>
              </a:rPr>
              <a:t>Dirancang pada simulasi simulink untuk mengetahui dinamika  kontroler FOC dan melakukan tuning PI controler, dimana setelah didapatkan arsitektur yang sesuai teoritis respon FOC rancangan simulasi diubah menjadi kode program hardware</a:t>
            </a:r>
          </a:p>
        </p:txBody>
      </p:sp>
      <p:sp>
        <p:nvSpPr>
          <p:cNvPr name="TextBox 16" id="16"/>
          <p:cNvSpPr txBox="true"/>
          <p:nvPr/>
        </p:nvSpPr>
        <p:spPr>
          <a:xfrm rot="0">
            <a:off x="1488786" y="7096210"/>
            <a:ext cx="2684831" cy="533400"/>
          </a:xfrm>
          <a:prstGeom prst="rect">
            <a:avLst/>
          </a:prstGeom>
        </p:spPr>
        <p:txBody>
          <a:bodyPr anchor="t" rtlCol="false" tIns="0" lIns="0" bIns="0" rIns="0">
            <a:spAutoFit/>
          </a:bodyPr>
          <a:lstStyle/>
          <a:p>
            <a:pPr algn="l">
              <a:lnSpc>
                <a:spcPts val="4200"/>
              </a:lnSpc>
            </a:pPr>
            <a:r>
              <a:rPr lang="en-US" sz="3000">
                <a:solidFill>
                  <a:srgbClr val="59524B"/>
                </a:solidFill>
                <a:latin typeface="Bebas Neue 1"/>
                <a:ea typeface="Bebas Neue 1"/>
                <a:cs typeface="Bebas Neue 1"/>
                <a:sym typeface="Bebas Neue 1"/>
              </a:rPr>
              <a:t>tuning PI controler </a:t>
            </a:r>
          </a:p>
        </p:txBody>
      </p:sp>
      <p:sp>
        <p:nvSpPr>
          <p:cNvPr name="AutoShape 17" id="17"/>
          <p:cNvSpPr/>
          <p:nvPr/>
        </p:nvSpPr>
        <p:spPr>
          <a:xfrm>
            <a:off x="4116880" y="7401010"/>
            <a:ext cx="422662" cy="0"/>
          </a:xfrm>
          <a:prstGeom prst="line">
            <a:avLst/>
          </a:prstGeom>
          <a:ln cap="flat" w="76200">
            <a:solidFill>
              <a:srgbClr val="59524B"/>
            </a:solidFill>
            <a:prstDash val="solid"/>
            <a:headEnd type="none" len="sm" w="sm"/>
            <a:tailEnd type="triangle" len="med" w="lg"/>
          </a:ln>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5313" y="464654"/>
            <a:ext cx="7562855" cy="1523631"/>
            <a:chOff x="0" y="0"/>
            <a:chExt cx="2695044" cy="542950"/>
          </a:xfrm>
        </p:grpSpPr>
        <p:sp>
          <p:nvSpPr>
            <p:cNvPr name="Freeform 3" id="3"/>
            <p:cNvSpPr/>
            <p:nvPr/>
          </p:nvSpPr>
          <p:spPr>
            <a:xfrm flipH="false" flipV="false" rot="0">
              <a:off x="0" y="0"/>
              <a:ext cx="2695044" cy="542950"/>
            </a:xfrm>
            <a:custGeom>
              <a:avLst/>
              <a:gdLst/>
              <a:ahLst/>
              <a:cxnLst/>
              <a:rect r="r" b="b" t="t" l="l"/>
              <a:pathLst>
                <a:path h="542950" w="2695044">
                  <a:moveTo>
                    <a:pt x="2491844" y="0"/>
                  </a:moveTo>
                  <a:cubicBezTo>
                    <a:pt x="2604068" y="0"/>
                    <a:pt x="2695044" y="121543"/>
                    <a:pt x="2695044" y="271475"/>
                  </a:cubicBezTo>
                  <a:cubicBezTo>
                    <a:pt x="2695044" y="421406"/>
                    <a:pt x="2604068" y="542950"/>
                    <a:pt x="2491844" y="542950"/>
                  </a:cubicBezTo>
                  <a:lnTo>
                    <a:pt x="203200" y="542950"/>
                  </a:lnTo>
                  <a:cubicBezTo>
                    <a:pt x="90976" y="542950"/>
                    <a:pt x="0" y="421406"/>
                    <a:pt x="0" y="271475"/>
                  </a:cubicBezTo>
                  <a:cubicBezTo>
                    <a:pt x="0" y="121543"/>
                    <a:pt x="90976" y="0"/>
                    <a:pt x="203200" y="0"/>
                  </a:cubicBezTo>
                  <a:close/>
                </a:path>
              </a:pathLst>
            </a:custGeom>
            <a:solidFill>
              <a:srgbClr val="F2F2F2"/>
            </a:solidFill>
          </p:spPr>
        </p:sp>
        <p:sp>
          <p:nvSpPr>
            <p:cNvPr name="TextBox 4" id="4"/>
            <p:cNvSpPr txBox="true"/>
            <p:nvPr/>
          </p:nvSpPr>
          <p:spPr>
            <a:xfrm>
              <a:off x="0" y="-38100"/>
              <a:ext cx="2695044" cy="5810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038174" y="458478"/>
            <a:ext cx="4563040" cy="1140443"/>
            <a:chOff x="0" y="0"/>
            <a:chExt cx="6084053" cy="1520591"/>
          </a:xfrm>
        </p:grpSpPr>
        <p:grpSp>
          <p:nvGrpSpPr>
            <p:cNvPr name="Group 6" id="6"/>
            <p:cNvGrpSpPr/>
            <p:nvPr/>
          </p:nvGrpSpPr>
          <p:grpSpPr>
            <a:xfrm rot="0">
              <a:off x="0" y="0"/>
              <a:ext cx="6084053" cy="1520591"/>
              <a:chOff x="0" y="0"/>
              <a:chExt cx="1626052" cy="406400"/>
            </a:xfrm>
          </p:grpSpPr>
          <p:sp>
            <p:nvSpPr>
              <p:cNvPr name="Freeform 7" id="7"/>
              <p:cNvSpPr/>
              <p:nvPr/>
            </p:nvSpPr>
            <p:spPr>
              <a:xfrm flipH="false" flipV="false" rot="0">
                <a:off x="0" y="0"/>
                <a:ext cx="1626052" cy="406400"/>
              </a:xfrm>
              <a:custGeom>
                <a:avLst/>
                <a:gdLst/>
                <a:ahLst/>
                <a:cxnLst/>
                <a:rect r="r" b="b" t="t" l="l"/>
                <a:pathLst>
                  <a:path h="406400" w="1626052">
                    <a:moveTo>
                      <a:pt x="1422852" y="0"/>
                    </a:moveTo>
                    <a:cubicBezTo>
                      <a:pt x="1535076" y="0"/>
                      <a:pt x="1626052" y="90976"/>
                      <a:pt x="1626052" y="203200"/>
                    </a:cubicBezTo>
                    <a:cubicBezTo>
                      <a:pt x="1626052" y="315424"/>
                      <a:pt x="1535076" y="406400"/>
                      <a:pt x="1422852"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8" id="8"/>
              <p:cNvSpPr txBox="true"/>
              <p:nvPr/>
            </p:nvSpPr>
            <p:spPr>
              <a:xfrm>
                <a:off x="0" y="-38100"/>
                <a:ext cx="1626052" cy="44450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414535" y="124612"/>
              <a:ext cx="5254984" cy="1271367"/>
            </a:xfrm>
            <a:custGeom>
              <a:avLst/>
              <a:gdLst/>
              <a:ahLst/>
              <a:cxnLst/>
              <a:rect r="r" b="b" t="t" l="l"/>
              <a:pathLst>
                <a:path h="1271367" w="5254984">
                  <a:moveTo>
                    <a:pt x="0" y="0"/>
                  </a:moveTo>
                  <a:lnTo>
                    <a:pt x="5254983" y="0"/>
                  </a:lnTo>
                  <a:lnTo>
                    <a:pt x="5254983" y="1271367"/>
                  </a:lnTo>
                  <a:lnTo>
                    <a:pt x="0" y="1271367"/>
                  </a:lnTo>
                  <a:lnTo>
                    <a:pt x="0" y="0"/>
                  </a:lnTo>
                  <a:close/>
                </a:path>
              </a:pathLst>
            </a:custGeom>
            <a:blipFill>
              <a:blip r:embed="rId2"/>
              <a:stretch>
                <a:fillRect l="0" t="0" r="0" b="0"/>
              </a:stretch>
            </a:blipFill>
          </p:spPr>
        </p:sp>
      </p:grpSp>
      <p:grpSp>
        <p:nvGrpSpPr>
          <p:cNvPr name="Group 10" id="10"/>
          <p:cNvGrpSpPr/>
          <p:nvPr/>
        </p:nvGrpSpPr>
        <p:grpSpPr>
          <a:xfrm rot="0">
            <a:off x="1115239" y="2790930"/>
            <a:ext cx="3810000" cy="95250"/>
            <a:chOff x="0" y="0"/>
            <a:chExt cx="1003457" cy="25086"/>
          </a:xfrm>
        </p:grpSpPr>
        <p:sp>
          <p:nvSpPr>
            <p:cNvPr name="Freeform 11" id="11"/>
            <p:cNvSpPr/>
            <p:nvPr/>
          </p:nvSpPr>
          <p:spPr>
            <a:xfrm flipH="false" flipV="false" rot="0">
              <a:off x="0" y="0"/>
              <a:ext cx="1003457" cy="25086"/>
            </a:xfrm>
            <a:custGeom>
              <a:avLst/>
              <a:gdLst/>
              <a:ahLst/>
              <a:cxnLst/>
              <a:rect r="r" b="b" t="t" l="l"/>
              <a:pathLst>
                <a:path h="25086" w="1003457">
                  <a:moveTo>
                    <a:pt x="0" y="0"/>
                  </a:moveTo>
                  <a:lnTo>
                    <a:pt x="1003457" y="0"/>
                  </a:lnTo>
                  <a:lnTo>
                    <a:pt x="1003457" y="25086"/>
                  </a:lnTo>
                  <a:lnTo>
                    <a:pt x="0" y="25086"/>
                  </a:lnTo>
                  <a:close/>
                </a:path>
              </a:pathLst>
            </a:custGeom>
            <a:solidFill>
              <a:srgbClr val="59524B"/>
            </a:solidFill>
          </p:spPr>
        </p:sp>
        <p:sp>
          <p:nvSpPr>
            <p:cNvPr name="TextBox 12" id="12"/>
            <p:cNvSpPr txBox="true"/>
            <p:nvPr/>
          </p:nvSpPr>
          <p:spPr>
            <a:xfrm>
              <a:off x="0" y="-38100"/>
              <a:ext cx="1003457" cy="63186"/>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1115239" y="2990955"/>
            <a:ext cx="7258912" cy="1960072"/>
          </a:xfrm>
          <a:custGeom>
            <a:avLst/>
            <a:gdLst/>
            <a:ahLst/>
            <a:cxnLst/>
            <a:rect r="r" b="b" t="t" l="l"/>
            <a:pathLst>
              <a:path h="1960072" w="7258912">
                <a:moveTo>
                  <a:pt x="0" y="0"/>
                </a:moveTo>
                <a:lnTo>
                  <a:pt x="7258912" y="0"/>
                </a:lnTo>
                <a:lnTo>
                  <a:pt x="7258912" y="1960073"/>
                </a:lnTo>
                <a:lnTo>
                  <a:pt x="0" y="1960073"/>
                </a:lnTo>
                <a:lnTo>
                  <a:pt x="0" y="0"/>
                </a:lnTo>
                <a:close/>
              </a:path>
            </a:pathLst>
          </a:custGeom>
          <a:blipFill>
            <a:blip r:embed="rId3"/>
            <a:stretch>
              <a:fillRect l="0" t="0" r="0" b="0"/>
            </a:stretch>
          </a:blipFill>
        </p:spPr>
      </p:sp>
      <p:grpSp>
        <p:nvGrpSpPr>
          <p:cNvPr name="Group 14" id="14"/>
          <p:cNvGrpSpPr/>
          <p:nvPr/>
        </p:nvGrpSpPr>
        <p:grpSpPr>
          <a:xfrm rot="0">
            <a:off x="1120362" y="5936113"/>
            <a:ext cx="3810000" cy="95250"/>
            <a:chOff x="0" y="0"/>
            <a:chExt cx="1003457" cy="25086"/>
          </a:xfrm>
        </p:grpSpPr>
        <p:sp>
          <p:nvSpPr>
            <p:cNvPr name="Freeform 15" id="15"/>
            <p:cNvSpPr/>
            <p:nvPr/>
          </p:nvSpPr>
          <p:spPr>
            <a:xfrm flipH="false" flipV="false" rot="0">
              <a:off x="0" y="0"/>
              <a:ext cx="1003457" cy="25086"/>
            </a:xfrm>
            <a:custGeom>
              <a:avLst/>
              <a:gdLst/>
              <a:ahLst/>
              <a:cxnLst/>
              <a:rect r="r" b="b" t="t" l="l"/>
              <a:pathLst>
                <a:path h="25086" w="1003457">
                  <a:moveTo>
                    <a:pt x="0" y="0"/>
                  </a:moveTo>
                  <a:lnTo>
                    <a:pt x="1003457" y="0"/>
                  </a:lnTo>
                  <a:lnTo>
                    <a:pt x="1003457" y="25086"/>
                  </a:lnTo>
                  <a:lnTo>
                    <a:pt x="0" y="25086"/>
                  </a:lnTo>
                  <a:close/>
                </a:path>
              </a:pathLst>
            </a:custGeom>
            <a:solidFill>
              <a:srgbClr val="59524B"/>
            </a:solidFill>
          </p:spPr>
        </p:sp>
        <p:sp>
          <p:nvSpPr>
            <p:cNvPr name="TextBox 16" id="16"/>
            <p:cNvSpPr txBox="true"/>
            <p:nvPr/>
          </p:nvSpPr>
          <p:spPr>
            <a:xfrm>
              <a:off x="0" y="-38100"/>
              <a:ext cx="1003457" cy="63186"/>
            </a:xfrm>
            <a:prstGeom prst="rect">
              <a:avLst/>
            </a:prstGeom>
          </p:spPr>
          <p:txBody>
            <a:bodyPr anchor="ctr" rtlCol="false" tIns="50800" lIns="50800" bIns="50800" rIns="50800"/>
            <a:lstStyle/>
            <a:p>
              <a:pPr algn="ctr">
                <a:lnSpc>
                  <a:spcPts val="2659"/>
                </a:lnSpc>
              </a:pPr>
            </a:p>
          </p:txBody>
        </p:sp>
      </p:grpSp>
      <p:sp>
        <p:nvSpPr>
          <p:cNvPr name="Freeform 17" id="17"/>
          <p:cNvSpPr/>
          <p:nvPr/>
        </p:nvSpPr>
        <p:spPr>
          <a:xfrm flipH="false" flipV="false" rot="0">
            <a:off x="1120362" y="6136138"/>
            <a:ext cx="8340404" cy="2220818"/>
          </a:xfrm>
          <a:custGeom>
            <a:avLst/>
            <a:gdLst/>
            <a:ahLst/>
            <a:cxnLst/>
            <a:rect r="r" b="b" t="t" l="l"/>
            <a:pathLst>
              <a:path h="2220818" w="8340404">
                <a:moveTo>
                  <a:pt x="0" y="0"/>
                </a:moveTo>
                <a:lnTo>
                  <a:pt x="8340404" y="0"/>
                </a:lnTo>
                <a:lnTo>
                  <a:pt x="8340404" y="2220818"/>
                </a:lnTo>
                <a:lnTo>
                  <a:pt x="0" y="2220818"/>
                </a:lnTo>
                <a:lnTo>
                  <a:pt x="0" y="0"/>
                </a:lnTo>
                <a:close/>
              </a:path>
            </a:pathLst>
          </a:custGeom>
          <a:blipFill>
            <a:blip r:embed="rId4"/>
            <a:stretch>
              <a:fillRect l="0" t="0" r="0" b="0"/>
            </a:stretch>
          </a:blipFill>
        </p:spPr>
      </p:sp>
      <p:sp>
        <p:nvSpPr>
          <p:cNvPr name="Freeform 18" id="18"/>
          <p:cNvSpPr/>
          <p:nvPr/>
        </p:nvSpPr>
        <p:spPr>
          <a:xfrm flipH="false" flipV="false" rot="0">
            <a:off x="2202103" y="8661756"/>
            <a:ext cx="3791847" cy="303695"/>
          </a:xfrm>
          <a:custGeom>
            <a:avLst/>
            <a:gdLst/>
            <a:ahLst/>
            <a:cxnLst/>
            <a:rect r="r" b="b" t="t" l="l"/>
            <a:pathLst>
              <a:path h="303695" w="3791847">
                <a:moveTo>
                  <a:pt x="0" y="0"/>
                </a:moveTo>
                <a:lnTo>
                  <a:pt x="3791847" y="0"/>
                </a:lnTo>
                <a:lnTo>
                  <a:pt x="3791847" y="303694"/>
                </a:lnTo>
                <a:lnTo>
                  <a:pt x="0" y="303694"/>
                </a:lnTo>
                <a:lnTo>
                  <a:pt x="0" y="0"/>
                </a:lnTo>
                <a:close/>
              </a:path>
            </a:pathLst>
          </a:custGeom>
          <a:blipFill>
            <a:blip r:embed="rId5"/>
            <a:stretch>
              <a:fillRect l="0" t="0" r="0" b="0"/>
            </a:stretch>
          </a:blipFill>
        </p:spPr>
      </p:sp>
      <p:sp>
        <p:nvSpPr>
          <p:cNvPr name="Freeform 19" id="19"/>
          <p:cNvSpPr/>
          <p:nvPr/>
        </p:nvSpPr>
        <p:spPr>
          <a:xfrm flipH="false" flipV="false" rot="0">
            <a:off x="2202103" y="9076001"/>
            <a:ext cx="3791847" cy="280878"/>
          </a:xfrm>
          <a:custGeom>
            <a:avLst/>
            <a:gdLst/>
            <a:ahLst/>
            <a:cxnLst/>
            <a:rect r="r" b="b" t="t" l="l"/>
            <a:pathLst>
              <a:path h="280878" w="3791847">
                <a:moveTo>
                  <a:pt x="0" y="0"/>
                </a:moveTo>
                <a:lnTo>
                  <a:pt x="3791847" y="0"/>
                </a:lnTo>
                <a:lnTo>
                  <a:pt x="3791847" y="280877"/>
                </a:lnTo>
                <a:lnTo>
                  <a:pt x="0" y="280877"/>
                </a:lnTo>
                <a:lnTo>
                  <a:pt x="0" y="0"/>
                </a:lnTo>
                <a:close/>
              </a:path>
            </a:pathLst>
          </a:custGeom>
          <a:blipFill>
            <a:blip r:embed="rId6"/>
            <a:stretch>
              <a:fillRect l="0" t="0" r="0" b="0"/>
            </a:stretch>
          </a:blipFill>
        </p:spPr>
      </p:sp>
      <p:grpSp>
        <p:nvGrpSpPr>
          <p:cNvPr name="Group 20" id="20"/>
          <p:cNvGrpSpPr/>
          <p:nvPr/>
        </p:nvGrpSpPr>
        <p:grpSpPr>
          <a:xfrm rot="0">
            <a:off x="10213297" y="5936113"/>
            <a:ext cx="3810000" cy="95250"/>
            <a:chOff x="0" y="0"/>
            <a:chExt cx="1003457" cy="25086"/>
          </a:xfrm>
        </p:grpSpPr>
        <p:sp>
          <p:nvSpPr>
            <p:cNvPr name="Freeform 21" id="21"/>
            <p:cNvSpPr/>
            <p:nvPr/>
          </p:nvSpPr>
          <p:spPr>
            <a:xfrm flipH="false" flipV="false" rot="0">
              <a:off x="0" y="0"/>
              <a:ext cx="1003457" cy="25086"/>
            </a:xfrm>
            <a:custGeom>
              <a:avLst/>
              <a:gdLst/>
              <a:ahLst/>
              <a:cxnLst/>
              <a:rect r="r" b="b" t="t" l="l"/>
              <a:pathLst>
                <a:path h="25086" w="1003457">
                  <a:moveTo>
                    <a:pt x="0" y="0"/>
                  </a:moveTo>
                  <a:lnTo>
                    <a:pt x="1003457" y="0"/>
                  </a:lnTo>
                  <a:lnTo>
                    <a:pt x="1003457" y="25086"/>
                  </a:lnTo>
                  <a:lnTo>
                    <a:pt x="0" y="25086"/>
                  </a:lnTo>
                  <a:close/>
                </a:path>
              </a:pathLst>
            </a:custGeom>
            <a:solidFill>
              <a:srgbClr val="59524B"/>
            </a:solidFill>
          </p:spPr>
        </p:sp>
        <p:sp>
          <p:nvSpPr>
            <p:cNvPr name="TextBox 22" id="22"/>
            <p:cNvSpPr txBox="true"/>
            <p:nvPr/>
          </p:nvSpPr>
          <p:spPr>
            <a:xfrm>
              <a:off x="0" y="-38100"/>
              <a:ext cx="1003457" cy="63186"/>
            </a:xfrm>
            <a:prstGeom prst="rect">
              <a:avLst/>
            </a:prstGeom>
          </p:spPr>
          <p:txBody>
            <a:bodyPr anchor="ctr" rtlCol="false" tIns="50800" lIns="50800" bIns="50800" rIns="50800"/>
            <a:lstStyle/>
            <a:p>
              <a:pPr algn="ctr">
                <a:lnSpc>
                  <a:spcPts val="2659"/>
                </a:lnSpc>
              </a:pPr>
            </a:p>
          </p:txBody>
        </p:sp>
      </p:grpSp>
      <p:sp>
        <p:nvSpPr>
          <p:cNvPr name="Freeform 23" id="23"/>
          <p:cNvSpPr/>
          <p:nvPr/>
        </p:nvSpPr>
        <p:spPr>
          <a:xfrm flipH="false" flipV="false" rot="0">
            <a:off x="10213297" y="6136138"/>
            <a:ext cx="5448333" cy="2939863"/>
          </a:xfrm>
          <a:custGeom>
            <a:avLst/>
            <a:gdLst/>
            <a:ahLst/>
            <a:cxnLst/>
            <a:rect r="r" b="b" t="t" l="l"/>
            <a:pathLst>
              <a:path h="2939863" w="5448333">
                <a:moveTo>
                  <a:pt x="0" y="0"/>
                </a:moveTo>
                <a:lnTo>
                  <a:pt x="5448333" y="0"/>
                </a:lnTo>
                <a:lnTo>
                  <a:pt x="5448333" y="2939863"/>
                </a:lnTo>
                <a:lnTo>
                  <a:pt x="0" y="2939863"/>
                </a:lnTo>
                <a:lnTo>
                  <a:pt x="0" y="0"/>
                </a:lnTo>
                <a:close/>
              </a:path>
            </a:pathLst>
          </a:custGeom>
          <a:blipFill>
            <a:blip r:embed="rId7"/>
            <a:stretch>
              <a:fillRect l="0" t="0" r="0" b="0"/>
            </a:stretch>
          </a:blipFill>
        </p:spPr>
      </p:sp>
      <p:sp>
        <p:nvSpPr>
          <p:cNvPr name="Freeform 24" id="24"/>
          <p:cNvSpPr/>
          <p:nvPr/>
        </p:nvSpPr>
        <p:spPr>
          <a:xfrm flipH="false" flipV="false" rot="0">
            <a:off x="11796098" y="2293576"/>
            <a:ext cx="4088187" cy="2867409"/>
          </a:xfrm>
          <a:custGeom>
            <a:avLst/>
            <a:gdLst/>
            <a:ahLst/>
            <a:cxnLst/>
            <a:rect r="r" b="b" t="t" l="l"/>
            <a:pathLst>
              <a:path h="2867409" w="4088187">
                <a:moveTo>
                  <a:pt x="0" y="0"/>
                </a:moveTo>
                <a:lnTo>
                  <a:pt x="4088187" y="0"/>
                </a:lnTo>
                <a:lnTo>
                  <a:pt x="4088187" y="2867409"/>
                </a:lnTo>
                <a:lnTo>
                  <a:pt x="0" y="2867409"/>
                </a:lnTo>
                <a:lnTo>
                  <a:pt x="0" y="0"/>
                </a:lnTo>
                <a:close/>
              </a:path>
            </a:pathLst>
          </a:custGeom>
          <a:blipFill>
            <a:blip r:embed="rId8"/>
            <a:stretch>
              <a:fillRect l="0" t="0" r="0" b="0"/>
            </a:stretch>
          </a:blipFill>
        </p:spPr>
      </p:sp>
      <p:sp>
        <p:nvSpPr>
          <p:cNvPr name="TextBox 25" id="25"/>
          <p:cNvSpPr txBox="true"/>
          <p:nvPr/>
        </p:nvSpPr>
        <p:spPr>
          <a:xfrm rot="0">
            <a:off x="1110116" y="1112169"/>
            <a:ext cx="7118053" cy="995271"/>
          </a:xfrm>
          <a:prstGeom prst="rect">
            <a:avLst/>
          </a:prstGeom>
        </p:spPr>
        <p:txBody>
          <a:bodyPr anchor="t" rtlCol="false" tIns="0" lIns="0" bIns="0" rIns="0">
            <a:spAutoFit/>
          </a:bodyPr>
          <a:lstStyle/>
          <a:p>
            <a:pPr algn="l">
              <a:lnSpc>
                <a:spcPts val="8142"/>
              </a:lnSpc>
            </a:pPr>
            <a:r>
              <a:rPr lang="en-US" sz="5816">
                <a:solidFill>
                  <a:srgbClr val="E5C857"/>
                </a:solidFill>
                <a:latin typeface="Bebas Neue 1"/>
                <a:ea typeface="Bebas Neue 1"/>
                <a:cs typeface="Bebas Neue 1"/>
                <a:sym typeface="Bebas Neue 1"/>
              </a:rPr>
              <a:t>perancangan algoritma ekf</a:t>
            </a:r>
          </a:p>
        </p:txBody>
      </p:sp>
      <p:sp>
        <p:nvSpPr>
          <p:cNvPr name="TextBox 26" id="26"/>
          <p:cNvSpPr txBox="true"/>
          <p:nvPr/>
        </p:nvSpPr>
        <p:spPr>
          <a:xfrm rot="0">
            <a:off x="1051559" y="344178"/>
            <a:ext cx="4684584" cy="995271"/>
          </a:xfrm>
          <a:prstGeom prst="rect">
            <a:avLst/>
          </a:prstGeom>
        </p:spPr>
        <p:txBody>
          <a:bodyPr anchor="t" rtlCol="false" tIns="0" lIns="0" bIns="0" rIns="0">
            <a:spAutoFit/>
          </a:bodyPr>
          <a:lstStyle/>
          <a:p>
            <a:pPr algn="l">
              <a:lnSpc>
                <a:spcPts val="8142"/>
              </a:lnSpc>
            </a:pPr>
            <a:r>
              <a:rPr lang="en-US" sz="5816">
                <a:solidFill>
                  <a:srgbClr val="59524B"/>
                </a:solidFill>
                <a:latin typeface="Bebas Neue 1"/>
                <a:ea typeface="Bebas Neue 1"/>
                <a:cs typeface="Bebas Neue 1"/>
                <a:sym typeface="Bebas Neue 1"/>
              </a:rPr>
              <a:t>metode penelitian</a:t>
            </a:r>
          </a:p>
        </p:txBody>
      </p:sp>
      <p:sp>
        <p:nvSpPr>
          <p:cNvPr name="TextBox 27" id="27"/>
          <p:cNvSpPr txBox="true"/>
          <p:nvPr/>
        </p:nvSpPr>
        <p:spPr>
          <a:xfrm rot="0">
            <a:off x="1110116" y="2274526"/>
            <a:ext cx="7264035" cy="409575"/>
          </a:xfrm>
          <a:prstGeom prst="rect">
            <a:avLst/>
          </a:prstGeom>
        </p:spPr>
        <p:txBody>
          <a:bodyPr anchor="t" rtlCol="false" tIns="0" lIns="0" bIns="0" rIns="0">
            <a:spAutoFit/>
          </a:bodyPr>
          <a:lstStyle/>
          <a:p>
            <a:pPr algn="just">
              <a:lnSpc>
                <a:spcPts val="3120"/>
              </a:lnSpc>
            </a:pPr>
            <a:r>
              <a:rPr lang="en-US" b="true" sz="2600">
                <a:solidFill>
                  <a:srgbClr val="E5C857"/>
                </a:solidFill>
                <a:latin typeface="Poppins Bold"/>
                <a:ea typeface="Poppins Bold"/>
                <a:cs typeface="Poppins Bold"/>
                <a:sym typeface="Poppins Bold"/>
              </a:rPr>
              <a:t>Model BLDC sebagai acuan dua fasa</a:t>
            </a:r>
          </a:p>
        </p:txBody>
      </p:sp>
      <p:sp>
        <p:nvSpPr>
          <p:cNvPr name="TextBox 28" id="28"/>
          <p:cNvSpPr txBox="true"/>
          <p:nvPr/>
        </p:nvSpPr>
        <p:spPr>
          <a:xfrm rot="0">
            <a:off x="1115239" y="5419708"/>
            <a:ext cx="7264035" cy="409575"/>
          </a:xfrm>
          <a:prstGeom prst="rect">
            <a:avLst/>
          </a:prstGeom>
        </p:spPr>
        <p:txBody>
          <a:bodyPr anchor="t" rtlCol="false" tIns="0" lIns="0" bIns="0" rIns="0">
            <a:spAutoFit/>
          </a:bodyPr>
          <a:lstStyle/>
          <a:p>
            <a:pPr algn="just">
              <a:lnSpc>
                <a:spcPts val="3120"/>
              </a:lnSpc>
            </a:pPr>
            <a:r>
              <a:rPr lang="en-US" b="true" sz="2600">
                <a:solidFill>
                  <a:srgbClr val="E5C857"/>
                </a:solidFill>
                <a:latin typeface="Poppins Bold"/>
                <a:ea typeface="Poppins Bold"/>
                <a:cs typeface="Poppins Bold"/>
                <a:sym typeface="Poppins Bold"/>
              </a:rPr>
              <a:t>Bentuk Jacobian model BLDC </a:t>
            </a:r>
          </a:p>
        </p:txBody>
      </p:sp>
      <p:sp>
        <p:nvSpPr>
          <p:cNvPr name="TextBox 29" id="29"/>
          <p:cNvSpPr txBox="true"/>
          <p:nvPr/>
        </p:nvSpPr>
        <p:spPr>
          <a:xfrm rot="0">
            <a:off x="1208402" y="8542601"/>
            <a:ext cx="1104913" cy="533400"/>
          </a:xfrm>
          <a:prstGeom prst="rect">
            <a:avLst/>
          </a:prstGeom>
        </p:spPr>
        <p:txBody>
          <a:bodyPr anchor="t" rtlCol="false" tIns="0" lIns="0" bIns="0" rIns="0">
            <a:spAutoFit/>
          </a:bodyPr>
          <a:lstStyle/>
          <a:p>
            <a:pPr algn="l">
              <a:lnSpc>
                <a:spcPts val="4200"/>
              </a:lnSpc>
            </a:pPr>
            <a:r>
              <a:rPr lang="en-US" sz="3000">
                <a:solidFill>
                  <a:srgbClr val="59524B"/>
                </a:solidFill>
                <a:latin typeface="Bebas Neue 1"/>
                <a:ea typeface="Bebas Neue 1"/>
                <a:cs typeface="Bebas Neue 1"/>
                <a:sym typeface="Bebas Neue 1"/>
              </a:rPr>
              <a:t>dengan</a:t>
            </a:r>
          </a:p>
        </p:txBody>
      </p:sp>
      <p:sp>
        <p:nvSpPr>
          <p:cNvPr name="TextBox 30" id="30"/>
          <p:cNvSpPr txBox="true"/>
          <p:nvPr/>
        </p:nvSpPr>
        <p:spPr>
          <a:xfrm rot="0">
            <a:off x="10208174" y="5419708"/>
            <a:ext cx="7264035" cy="409575"/>
          </a:xfrm>
          <a:prstGeom prst="rect">
            <a:avLst/>
          </a:prstGeom>
        </p:spPr>
        <p:txBody>
          <a:bodyPr anchor="t" rtlCol="false" tIns="0" lIns="0" bIns="0" rIns="0">
            <a:spAutoFit/>
          </a:bodyPr>
          <a:lstStyle/>
          <a:p>
            <a:pPr algn="just">
              <a:lnSpc>
                <a:spcPts val="3120"/>
              </a:lnSpc>
            </a:pPr>
            <a:r>
              <a:rPr lang="en-US" b="true" sz="2600">
                <a:solidFill>
                  <a:srgbClr val="E5C857"/>
                </a:solidFill>
                <a:latin typeface="Poppins Bold"/>
                <a:ea typeface="Poppins Bold"/>
                <a:cs typeface="Poppins Bold"/>
                <a:sym typeface="Poppins Bold"/>
              </a:rPr>
              <a:t>Algoritma EKF </a:t>
            </a:r>
          </a:p>
        </p:txBody>
      </p:sp>
      <p:sp>
        <p:nvSpPr>
          <p:cNvPr name="TextBox 31" id="31"/>
          <p:cNvSpPr txBox="true"/>
          <p:nvPr/>
        </p:nvSpPr>
        <p:spPr>
          <a:xfrm rot="0">
            <a:off x="10323873" y="9159290"/>
            <a:ext cx="5855800" cy="609427"/>
          </a:xfrm>
          <a:prstGeom prst="rect">
            <a:avLst/>
          </a:prstGeom>
        </p:spPr>
        <p:txBody>
          <a:bodyPr anchor="t" rtlCol="false" tIns="0" lIns="0" bIns="0" rIns="0">
            <a:spAutoFit/>
          </a:bodyPr>
          <a:lstStyle/>
          <a:p>
            <a:pPr algn="l">
              <a:lnSpc>
                <a:spcPts val="2364"/>
              </a:lnSpc>
            </a:pPr>
            <a:r>
              <a:rPr lang="en-US" sz="1688">
                <a:solidFill>
                  <a:srgbClr val="010101"/>
                </a:solidFill>
                <a:latin typeface="Poppins"/>
                <a:ea typeface="Poppins"/>
                <a:cs typeface="Poppins"/>
                <a:sym typeface="Poppins"/>
              </a:rPr>
              <a:t>Joseph </a:t>
            </a:r>
            <a:r>
              <a:rPr lang="en-US" sz="1688" i="true">
                <a:solidFill>
                  <a:srgbClr val="010101"/>
                </a:solidFill>
                <a:latin typeface="Poppins Italics"/>
                <a:ea typeface="Poppins Italics"/>
                <a:cs typeface="Poppins Italics"/>
                <a:sym typeface="Poppins Italics"/>
              </a:rPr>
              <a:t>form covarince update</a:t>
            </a:r>
            <a:r>
              <a:rPr lang="en-US" sz="1688">
                <a:solidFill>
                  <a:srgbClr val="010101"/>
                </a:solidFill>
                <a:latin typeface="Poppins"/>
                <a:ea typeface="Poppins"/>
                <a:cs typeface="Poppins"/>
                <a:sym typeface="Poppins"/>
              </a:rPr>
              <a:t> (6) digunakan untuk menjaga kestabilan numerik floating point koreksi</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5313" y="464654"/>
            <a:ext cx="9184626" cy="1523631"/>
            <a:chOff x="0" y="0"/>
            <a:chExt cx="3272967" cy="542950"/>
          </a:xfrm>
        </p:grpSpPr>
        <p:sp>
          <p:nvSpPr>
            <p:cNvPr name="Freeform 3" id="3"/>
            <p:cNvSpPr/>
            <p:nvPr/>
          </p:nvSpPr>
          <p:spPr>
            <a:xfrm flipH="false" flipV="false" rot="0">
              <a:off x="0" y="0"/>
              <a:ext cx="3272967" cy="542950"/>
            </a:xfrm>
            <a:custGeom>
              <a:avLst/>
              <a:gdLst/>
              <a:ahLst/>
              <a:cxnLst/>
              <a:rect r="r" b="b" t="t" l="l"/>
              <a:pathLst>
                <a:path h="542950" w="3272967">
                  <a:moveTo>
                    <a:pt x="3069767" y="0"/>
                  </a:moveTo>
                  <a:cubicBezTo>
                    <a:pt x="3181991" y="0"/>
                    <a:pt x="3272967" y="121543"/>
                    <a:pt x="3272967" y="271475"/>
                  </a:cubicBezTo>
                  <a:cubicBezTo>
                    <a:pt x="3272967" y="421406"/>
                    <a:pt x="3181991" y="542950"/>
                    <a:pt x="3069767" y="542950"/>
                  </a:cubicBezTo>
                  <a:lnTo>
                    <a:pt x="203200" y="542950"/>
                  </a:lnTo>
                  <a:cubicBezTo>
                    <a:pt x="90976" y="542950"/>
                    <a:pt x="0" y="421406"/>
                    <a:pt x="0" y="271475"/>
                  </a:cubicBezTo>
                  <a:cubicBezTo>
                    <a:pt x="0" y="121543"/>
                    <a:pt x="90976" y="0"/>
                    <a:pt x="203200" y="0"/>
                  </a:cubicBezTo>
                  <a:close/>
                </a:path>
              </a:pathLst>
            </a:custGeom>
            <a:solidFill>
              <a:srgbClr val="F2F2F2"/>
            </a:solidFill>
          </p:spPr>
        </p:sp>
        <p:sp>
          <p:nvSpPr>
            <p:cNvPr name="TextBox 4" id="4"/>
            <p:cNvSpPr txBox="true"/>
            <p:nvPr/>
          </p:nvSpPr>
          <p:spPr>
            <a:xfrm>
              <a:off x="0" y="-38100"/>
              <a:ext cx="3272967" cy="5810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038174" y="458478"/>
            <a:ext cx="4563040" cy="1140443"/>
            <a:chOff x="0" y="0"/>
            <a:chExt cx="6084053" cy="1520591"/>
          </a:xfrm>
        </p:grpSpPr>
        <p:grpSp>
          <p:nvGrpSpPr>
            <p:cNvPr name="Group 6" id="6"/>
            <p:cNvGrpSpPr/>
            <p:nvPr/>
          </p:nvGrpSpPr>
          <p:grpSpPr>
            <a:xfrm rot="0">
              <a:off x="0" y="0"/>
              <a:ext cx="6084053" cy="1520591"/>
              <a:chOff x="0" y="0"/>
              <a:chExt cx="1626052" cy="406400"/>
            </a:xfrm>
          </p:grpSpPr>
          <p:sp>
            <p:nvSpPr>
              <p:cNvPr name="Freeform 7" id="7"/>
              <p:cNvSpPr/>
              <p:nvPr/>
            </p:nvSpPr>
            <p:spPr>
              <a:xfrm flipH="false" flipV="false" rot="0">
                <a:off x="0" y="0"/>
                <a:ext cx="1626052" cy="406400"/>
              </a:xfrm>
              <a:custGeom>
                <a:avLst/>
                <a:gdLst/>
                <a:ahLst/>
                <a:cxnLst/>
                <a:rect r="r" b="b" t="t" l="l"/>
                <a:pathLst>
                  <a:path h="406400" w="1626052">
                    <a:moveTo>
                      <a:pt x="1422852" y="0"/>
                    </a:moveTo>
                    <a:cubicBezTo>
                      <a:pt x="1535076" y="0"/>
                      <a:pt x="1626052" y="90976"/>
                      <a:pt x="1626052" y="203200"/>
                    </a:cubicBezTo>
                    <a:cubicBezTo>
                      <a:pt x="1626052" y="315424"/>
                      <a:pt x="1535076" y="406400"/>
                      <a:pt x="1422852"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8" id="8"/>
              <p:cNvSpPr txBox="true"/>
              <p:nvPr/>
            </p:nvSpPr>
            <p:spPr>
              <a:xfrm>
                <a:off x="0" y="-38100"/>
                <a:ext cx="1626052" cy="44450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414535" y="124612"/>
              <a:ext cx="5254984" cy="1271367"/>
            </a:xfrm>
            <a:custGeom>
              <a:avLst/>
              <a:gdLst/>
              <a:ahLst/>
              <a:cxnLst/>
              <a:rect r="r" b="b" t="t" l="l"/>
              <a:pathLst>
                <a:path h="1271367" w="5254984">
                  <a:moveTo>
                    <a:pt x="0" y="0"/>
                  </a:moveTo>
                  <a:lnTo>
                    <a:pt x="5254983" y="0"/>
                  </a:lnTo>
                  <a:lnTo>
                    <a:pt x="5254983" y="1271367"/>
                  </a:lnTo>
                  <a:lnTo>
                    <a:pt x="0" y="1271367"/>
                  </a:lnTo>
                  <a:lnTo>
                    <a:pt x="0" y="0"/>
                  </a:lnTo>
                  <a:close/>
                </a:path>
              </a:pathLst>
            </a:custGeom>
            <a:blipFill>
              <a:blip r:embed="rId2"/>
              <a:stretch>
                <a:fillRect l="0" t="0" r="0" b="0"/>
              </a:stretch>
            </a:blipFill>
          </p:spPr>
        </p:sp>
      </p:grpSp>
      <p:sp>
        <p:nvSpPr>
          <p:cNvPr name="Freeform 10" id="10"/>
          <p:cNvSpPr/>
          <p:nvPr/>
        </p:nvSpPr>
        <p:spPr>
          <a:xfrm flipH="false" flipV="false" rot="0">
            <a:off x="4204611" y="2212303"/>
            <a:ext cx="9878778" cy="5720529"/>
          </a:xfrm>
          <a:custGeom>
            <a:avLst/>
            <a:gdLst/>
            <a:ahLst/>
            <a:cxnLst/>
            <a:rect r="r" b="b" t="t" l="l"/>
            <a:pathLst>
              <a:path h="5720529" w="9878778">
                <a:moveTo>
                  <a:pt x="0" y="0"/>
                </a:moveTo>
                <a:lnTo>
                  <a:pt x="9878778" y="0"/>
                </a:lnTo>
                <a:lnTo>
                  <a:pt x="9878778" y="5720529"/>
                </a:lnTo>
                <a:lnTo>
                  <a:pt x="0" y="5720529"/>
                </a:lnTo>
                <a:lnTo>
                  <a:pt x="0" y="0"/>
                </a:lnTo>
                <a:close/>
              </a:path>
            </a:pathLst>
          </a:custGeom>
          <a:blipFill>
            <a:blip r:embed="rId3"/>
            <a:stretch>
              <a:fillRect l="0" t="0" r="0" b="0"/>
            </a:stretch>
          </a:blipFill>
        </p:spPr>
      </p:sp>
      <p:sp>
        <p:nvSpPr>
          <p:cNvPr name="TextBox 11" id="11"/>
          <p:cNvSpPr txBox="true"/>
          <p:nvPr/>
        </p:nvSpPr>
        <p:spPr>
          <a:xfrm rot="0">
            <a:off x="1110116" y="1112169"/>
            <a:ext cx="8350650" cy="995271"/>
          </a:xfrm>
          <a:prstGeom prst="rect">
            <a:avLst/>
          </a:prstGeom>
        </p:spPr>
        <p:txBody>
          <a:bodyPr anchor="t" rtlCol="false" tIns="0" lIns="0" bIns="0" rIns="0">
            <a:spAutoFit/>
          </a:bodyPr>
          <a:lstStyle/>
          <a:p>
            <a:pPr algn="l">
              <a:lnSpc>
                <a:spcPts val="8142"/>
              </a:lnSpc>
            </a:pPr>
            <a:r>
              <a:rPr lang="en-US" sz="5816">
                <a:solidFill>
                  <a:srgbClr val="E5C857"/>
                </a:solidFill>
                <a:latin typeface="Bebas Neue 1"/>
                <a:ea typeface="Bebas Neue 1"/>
                <a:cs typeface="Bebas Neue 1"/>
                <a:sym typeface="Bebas Neue 1"/>
              </a:rPr>
              <a:t>perancangan kontrol sensorless</a:t>
            </a:r>
          </a:p>
        </p:txBody>
      </p:sp>
      <p:sp>
        <p:nvSpPr>
          <p:cNvPr name="TextBox 12" id="12"/>
          <p:cNvSpPr txBox="true"/>
          <p:nvPr/>
        </p:nvSpPr>
        <p:spPr>
          <a:xfrm rot="0">
            <a:off x="1051559" y="344178"/>
            <a:ext cx="4684584" cy="995271"/>
          </a:xfrm>
          <a:prstGeom prst="rect">
            <a:avLst/>
          </a:prstGeom>
        </p:spPr>
        <p:txBody>
          <a:bodyPr anchor="t" rtlCol="false" tIns="0" lIns="0" bIns="0" rIns="0">
            <a:spAutoFit/>
          </a:bodyPr>
          <a:lstStyle/>
          <a:p>
            <a:pPr algn="l">
              <a:lnSpc>
                <a:spcPts val="8142"/>
              </a:lnSpc>
            </a:pPr>
            <a:r>
              <a:rPr lang="en-US" sz="5816">
                <a:solidFill>
                  <a:srgbClr val="59524B"/>
                </a:solidFill>
                <a:latin typeface="Bebas Neue 1"/>
                <a:ea typeface="Bebas Neue 1"/>
                <a:cs typeface="Bebas Neue 1"/>
                <a:sym typeface="Bebas Neue 1"/>
              </a:rPr>
              <a:t>metode penelitian</a:t>
            </a:r>
          </a:p>
        </p:txBody>
      </p:sp>
      <p:sp>
        <p:nvSpPr>
          <p:cNvPr name="TextBox 13" id="13"/>
          <p:cNvSpPr txBox="true"/>
          <p:nvPr/>
        </p:nvSpPr>
        <p:spPr>
          <a:xfrm rot="0">
            <a:off x="4896643" y="7856632"/>
            <a:ext cx="8494714" cy="533400"/>
          </a:xfrm>
          <a:prstGeom prst="rect">
            <a:avLst/>
          </a:prstGeom>
        </p:spPr>
        <p:txBody>
          <a:bodyPr anchor="t" rtlCol="false" tIns="0" lIns="0" bIns="0" rIns="0">
            <a:spAutoFit/>
          </a:bodyPr>
          <a:lstStyle/>
          <a:p>
            <a:pPr algn="ctr">
              <a:lnSpc>
                <a:spcPts val="4200"/>
              </a:lnSpc>
            </a:pPr>
            <a:r>
              <a:rPr lang="en-US" sz="3000">
                <a:solidFill>
                  <a:srgbClr val="59524B"/>
                </a:solidFill>
                <a:latin typeface="Bebas Neue 1"/>
                <a:ea typeface="Bebas Neue 1"/>
                <a:cs typeface="Bebas Neue 1"/>
                <a:sym typeface="Bebas Neue 1"/>
              </a:rPr>
              <a:t>block diagram foc sensorless</a:t>
            </a:r>
          </a:p>
        </p:txBody>
      </p:sp>
      <p:sp>
        <p:nvSpPr>
          <p:cNvPr name="TextBox 14" id="14"/>
          <p:cNvSpPr txBox="true"/>
          <p:nvPr/>
        </p:nvSpPr>
        <p:spPr>
          <a:xfrm rot="0">
            <a:off x="1110116" y="8551957"/>
            <a:ext cx="16230600" cy="368300"/>
          </a:xfrm>
          <a:prstGeom prst="rect">
            <a:avLst/>
          </a:prstGeom>
        </p:spPr>
        <p:txBody>
          <a:bodyPr anchor="t" rtlCol="false" tIns="0" lIns="0" bIns="0" rIns="0">
            <a:spAutoFit/>
          </a:bodyPr>
          <a:lstStyle/>
          <a:p>
            <a:pPr algn="ctr">
              <a:lnSpc>
                <a:spcPts val="2800"/>
              </a:lnSpc>
            </a:pPr>
            <a:r>
              <a:rPr lang="en-US" sz="2000">
                <a:solidFill>
                  <a:srgbClr val="010101"/>
                </a:solidFill>
                <a:latin typeface="Poppins"/>
                <a:ea typeface="Poppins"/>
                <a:cs typeface="Poppins"/>
                <a:sym typeface="Poppins"/>
              </a:rPr>
              <a:t> </a:t>
            </a:r>
            <a:r>
              <a:rPr lang="en-US" sz="2000" i="true">
                <a:solidFill>
                  <a:srgbClr val="010101"/>
                </a:solidFill>
                <a:latin typeface="Poppins Italics"/>
                <a:ea typeface="Poppins Italics"/>
                <a:cs typeface="Poppins Italics"/>
                <a:sym typeface="Poppins Italics"/>
              </a:rPr>
              <a:t>Feedback</a:t>
            </a:r>
            <a:r>
              <a:rPr lang="en-US" sz="2000">
                <a:solidFill>
                  <a:srgbClr val="010101"/>
                </a:solidFill>
                <a:latin typeface="Poppins"/>
                <a:ea typeface="Poppins"/>
                <a:cs typeface="Poppins"/>
                <a:sym typeface="Poppins"/>
              </a:rPr>
              <a:t> θ^, ω^ ke PI kontroler sekarang berasal dari EKF, bukan sensor fisik AS5600</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4816593" cy="2709333"/>
          </a:xfrm>
        </p:grpSpPr>
        <p:sp>
          <p:nvSpPr>
            <p:cNvPr name="Freeform 3" id="3"/>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59524B"/>
            </a:solidFill>
          </p:spPr>
        </p:sp>
        <p:sp>
          <p:nvSpPr>
            <p:cNvPr name="TextBox 4" id="4"/>
            <p:cNvSpPr txBox="true"/>
            <p:nvPr/>
          </p:nvSpPr>
          <p:spPr>
            <a:xfrm>
              <a:off x="0" y="-38100"/>
              <a:ext cx="4816593" cy="2747433"/>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723147" y="0"/>
            <a:ext cx="21734294" cy="10287000"/>
          </a:xfrm>
          <a:custGeom>
            <a:avLst/>
            <a:gdLst/>
            <a:ahLst/>
            <a:cxnLst/>
            <a:rect r="r" b="b" t="t" l="l"/>
            <a:pathLst>
              <a:path h="10287000" w="21734294">
                <a:moveTo>
                  <a:pt x="0" y="0"/>
                </a:moveTo>
                <a:lnTo>
                  <a:pt x="21734294" y="0"/>
                </a:lnTo>
                <a:lnTo>
                  <a:pt x="21734294" y="10287000"/>
                </a:lnTo>
                <a:lnTo>
                  <a:pt x="0" y="10287000"/>
                </a:lnTo>
                <a:lnTo>
                  <a:pt x="0" y="0"/>
                </a:lnTo>
                <a:close/>
              </a:path>
            </a:pathLst>
          </a:custGeom>
          <a:blipFill>
            <a:blip r:embed="rId2">
              <a:alphaModFix amt="50000"/>
            </a:blip>
            <a:stretch>
              <a:fillRect l="0" t="0" r="0" b="0"/>
            </a:stretch>
          </a:blipFill>
        </p:spPr>
      </p:sp>
      <p:grpSp>
        <p:nvGrpSpPr>
          <p:cNvPr name="Group 6" id="6"/>
          <p:cNvGrpSpPr/>
          <p:nvPr/>
        </p:nvGrpSpPr>
        <p:grpSpPr>
          <a:xfrm rot="0">
            <a:off x="4853953" y="4169257"/>
            <a:ext cx="8580094" cy="1948485"/>
            <a:chOff x="0" y="0"/>
            <a:chExt cx="1789570" cy="406400"/>
          </a:xfrm>
        </p:grpSpPr>
        <p:sp>
          <p:nvSpPr>
            <p:cNvPr name="Freeform 7" id="7"/>
            <p:cNvSpPr/>
            <p:nvPr/>
          </p:nvSpPr>
          <p:spPr>
            <a:xfrm flipH="false" flipV="false" rot="0">
              <a:off x="0" y="0"/>
              <a:ext cx="1789570" cy="406400"/>
            </a:xfrm>
            <a:custGeom>
              <a:avLst/>
              <a:gdLst/>
              <a:ahLst/>
              <a:cxnLst/>
              <a:rect r="r" b="b" t="t" l="l"/>
              <a:pathLst>
                <a:path h="406400" w="1789570">
                  <a:moveTo>
                    <a:pt x="1586370" y="0"/>
                  </a:moveTo>
                  <a:cubicBezTo>
                    <a:pt x="1698594" y="0"/>
                    <a:pt x="1789570" y="90976"/>
                    <a:pt x="1789570" y="203200"/>
                  </a:cubicBezTo>
                  <a:cubicBezTo>
                    <a:pt x="1789570" y="315424"/>
                    <a:pt x="1698594" y="406400"/>
                    <a:pt x="1586370"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8" id="8"/>
            <p:cNvSpPr txBox="true"/>
            <p:nvPr/>
          </p:nvSpPr>
          <p:spPr>
            <a:xfrm>
              <a:off x="0" y="-38100"/>
              <a:ext cx="1789570" cy="4445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3038174" y="458478"/>
            <a:ext cx="4563040" cy="1140443"/>
            <a:chOff x="0" y="0"/>
            <a:chExt cx="6084053" cy="1520591"/>
          </a:xfrm>
        </p:grpSpPr>
        <p:grpSp>
          <p:nvGrpSpPr>
            <p:cNvPr name="Group 10" id="10"/>
            <p:cNvGrpSpPr/>
            <p:nvPr/>
          </p:nvGrpSpPr>
          <p:grpSpPr>
            <a:xfrm rot="0">
              <a:off x="0" y="0"/>
              <a:ext cx="6084053" cy="1520591"/>
              <a:chOff x="0" y="0"/>
              <a:chExt cx="1626052" cy="406400"/>
            </a:xfrm>
          </p:grpSpPr>
          <p:sp>
            <p:nvSpPr>
              <p:cNvPr name="Freeform 11" id="11"/>
              <p:cNvSpPr/>
              <p:nvPr/>
            </p:nvSpPr>
            <p:spPr>
              <a:xfrm flipH="false" flipV="false" rot="0">
                <a:off x="0" y="0"/>
                <a:ext cx="1626052" cy="406400"/>
              </a:xfrm>
              <a:custGeom>
                <a:avLst/>
                <a:gdLst/>
                <a:ahLst/>
                <a:cxnLst/>
                <a:rect r="r" b="b" t="t" l="l"/>
                <a:pathLst>
                  <a:path h="406400" w="1626052">
                    <a:moveTo>
                      <a:pt x="1422852" y="0"/>
                    </a:moveTo>
                    <a:cubicBezTo>
                      <a:pt x="1535076" y="0"/>
                      <a:pt x="1626052" y="90976"/>
                      <a:pt x="1626052" y="203200"/>
                    </a:cubicBezTo>
                    <a:cubicBezTo>
                      <a:pt x="1626052" y="315424"/>
                      <a:pt x="1535076" y="406400"/>
                      <a:pt x="1422852"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12" id="12"/>
              <p:cNvSpPr txBox="true"/>
              <p:nvPr/>
            </p:nvSpPr>
            <p:spPr>
              <a:xfrm>
                <a:off x="0" y="-38100"/>
                <a:ext cx="1626052" cy="444500"/>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414535" y="124612"/>
              <a:ext cx="5254984" cy="1271367"/>
            </a:xfrm>
            <a:custGeom>
              <a:avLst/>
              <a:gdLst/>
              <a:ahLst/>
              <a:cxnLst/>
              <a:rect r="r" b="b" t="t" l="l"/>
              <a:pathLst>
                <a:path h="1271367" w="5254984">
                  <a:moveTo>
                    <a:pt x="0" y="0"/>
                  </a:moveTo>
                  <a:lnTo>
                    <a:pt x="5254983" y="0"/>
                  </a:lnTo>
                  <a:lnTo>
                    <a:pt x="5254983" y="1271367"/>
                  </a:lnTo>
                  <a:lnTo>
                    <a:pt x="0" y="1271367"/>
                  </a:lnTo>
                  <a:lnTo>
                    <a:pt x="0" y="0"/>
                  </a:lnTo>
                  <a:close/>
                </a:path>
              </a:pathLst>
            </a:custGeom>
            <a:blipFill>
              <a:blip r:embed="rId3"/>
              <a:stretch>
                <a:fillRect l="0" t="0" r="0" b="0"/>
              </a:stretch>
            </a:blipFill>
          </p:spPr>
        </p:sp>
      </p:grpSp>
      <p:sp>
        <p:nvSpPr>
          <p:cNvPr name="TextBox 14" id="14"/>
          <p:cNvSpPr txBox="true"/>
          <p:nvPr/>
        </p:nvSpPr>
        <p:spPr>
          <a:xfrm rot="0">
            <a:off x="5196785" y="4186490"/>
            <a:ext cx="7894431" cy="1713996"/>
          </a:xfrm>
          <a:prstGeom prst="rect">
            <a:avLst/>
          </a:prstGeom>
        </p:spPr>
        <p:txBody>
          <a:bodyPr anchor="t" rtlCol="false" tIns="0" lIns="0" bIns="0" rIns="0">
            <a:spAutoFit/>
          </a:bodyPr>
          <a:lstStyle/>
          <a:p>
            <a:pPr algn="ctr">
              <a:lnSpc>
                <a:spcPts val="13911"/>
              </a:lnSpc>
            </a:pPr>
            <a:r>
              <a:rPr lang="en-US" sz="9937">
                <a:solidFill>
                  <a:srgbClr val="59524B"/>
                </a:solidFill>
                <a:latin typeface="Bebas Neue 1"/>
                <a:ea typeface="Bebas Neue 1"/>
                <a:cs typeface="Bebas Neue 1"/>
                <a:sym typeface="Bebas Neue 1"/>
              </a:rPr>
              <a:t>Hasil penelitian</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5313" y="464654"/>
            <a:ext cx="5931571" cy="1523631"/>
            <a:chOff x="0" y="0"/>
            <a:chExt cx="2113731" cy="542950"/>
          </a:xfrm>
        </p:grpSpPr>
        <p:sp>
          <p:nvSpPr>
            <p:cNvPr name="Freeform 3" id="3"/>
            <p:cNvSpPr/>
            <p:nvPr/>
          </p:nvSpPr>
          <p:spPr>
            <a:xfrm flipH="false" flipV="false" rot="0">
              <a:off x="0" y="0"/>
              <a:ext cx="2113731" cy="542950"/>
            </a:xfrm>
            <a:custGeom>
              <a:avLst/>
              <a:gdLst/>
              <a:ahLst/>
              <a:cxnLst/>
              <a:rect r="r" b="b" t="t" l="l"/>
              <a:pathLst>
                <a:path h="542950" w="2113731">
                  <a:moveTo>
                    <a:pt x="1910531" y="0"/>
                  </a:moveTo>
                  <a:cubicBezTo>
                    <a:pt x="2022756" y="0"/>
                    <a:pt x="2113731" y="121543"/>
                    <a:pt x="2113731" y="271475"/>
                  </a:cubicBezTo>
                  <a:cubicBezTo>
                    <a:pt x="2113731" y="421406"/>
                    <a:pt x="2022756" y="542950"/>
                    <a:pt x="1910531" y="542950"/>
                  </a:cubicBezTo>
                  <a:lnTo>
                    <a:pt x="203200" y="542950"/>
                  </a:lnTo>
                  <a:cubicBezTo>
                    <a:pt x="90976" y="542950"/>
                    <a:pt x="0" y="421406"/>
                    <a:pt x="0" y="271475"/>
                  </a:cubicBezTo>
                  <a:cubicBezTo>
                    <a:pt x="0" y="121543"/>
                    <a:pt x="90976" y="0"/>
                    <a:pt x="203200" y="0"/>
                  </a:cubicBezTo>
                  <a:close/>
                </a:path>
              </a:pathLst>
            </a:custGeom>
            <a:solidFill>
              <a:srgbClr val="F2F2F2"/>
            </a:solidFill>
          </p:spPr>
        </p:sp>
        <p:sp>
          <p:nvSpPr>
            <p:cNvPr name="TextBox 4" id="4"/>
            <p:cNvSpPr txBox="true"/>
            <p:nvPr/>
          </p:nvSpPr>
          <p:spPr>
            <a:xfrm>
              <a:off x="0" y="-38100"/>
              <a:ext cx="2113731" cy="5810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038174" y="458478"/>
            <a:ext cx="4563040" cy="1140443"/>
            <a:chOff x="0" y="0"/>
            <a:chExt cx="6084053" cy="1520591"/>
          </a:xfrm>
        </p:grpSpPr>
        <p:grpSp>
          <p:nvGrpSpPr>
            <p:cNvPr name="Group 6" id="6"/>
            <p:cNvGrpSpPr/>
            <p:nvPr/>
          </p:nvGrpSpPr>
          <p:grpSpPr>
            <a:xfrm rot="0">
              <a:off x="0" y="0"/>
              <a:ext cx="6084053" cy="1520591"/>
              <a:chOff x="0" y="0"/>
              <a:chExt cx="1626052" cy="406400"/>
            </a:xfrm>
          </p:grpSpPr>
          <p:sp>
            <p:nvSpPr>
              <p:cNvPr name="Freeform 7" id="7"/>
              <p:cNvSpPr/>
              <p:nvPr/>
            </p:nvSpPr>
            <p:spPr>
              <a:xfrm flipH="false" flipV="false" rot="0">
                <a:off x="0" y="0"/>
                <a:ext cx="1626052" cy="406400"/>
              </a:xfrm>
              <a:custGeom>
                <a:avLst/>
                <a:gdLst/>
                <a:ahLst/>
                <a:cxnLst/>
                <a:rect r="r" b="b" t="t" l="l"/>
                <a:pathLst>
                  <a:path h="406400" w="1626052">
                    <a:moveTo>
                      <a:pt x="1422852" y="0"/>
                    </a:moveTo>
                    <a:cubicBezTo>
                      <a:pt x="1535076" y="0"/>
                      <a:pt x="1626052" y="90976"/>
                      <a:pt x="1626052" y="203200"/>
                    </a:cubicBezTo>
                    <a:cubicBezTo>
                      <a:pt x="1626052" y="315424"/>
                      <a:pt x="1535076" y="406400"/>
                      <a:pt x="1422852"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8" id="8"/>
              <p:cNvSpPr txBox="true"/>
              <p:nvPr/>
            </p:nvSpPr>
            <p:spPr>
              <a:xfrm>
                <a:off x="0" y="-38100"/>
                <a:ext cx="1626052" cy="44450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414535" y="124612"/>
              <a:ext cx="5254984" cy="1271367"/>
            </a:xfrm>
            <a:custGeom>
              <a:avLst/>
              <a:gdLst/>
              <a:ahLst/>
              <a:cxnLst/>
              <a:rect r="r" b="b" t="t" l="l"/>
              <a:pathLst>
                <a:path h="1271367" w="5254984">
                  <a:moveTo>
                    <a:pt x="0" y="0"/>
                  </a:moveTo>
                  <a:lnTo>
                    <a:pt x="5254983" y="0"/>
                  </a:lnTo>
                  <a:lnTo>
                    <a:pt x="5254983" y="1271367"/>
                  </a:lnTo>
                  <a:lnTo>
                    <a:pt x="0" y="1271367"/>
                  </a:lnTo>
                  <a:lnTo>
                    <a:pt x="0" y="0"/>
                  </a:lnTo>
                  <a:close/>
                </a:path>
              </a:pathLst>
            </a:custGeom>
            <a:blipFill>
              <a:blip r:embed="rId2"/>
              <a:stretch>
                <a:fillRect l="0" t="0" r="0" b="0"/>
              </a:stretch>
            </a:blipFill>
          </p:spPr>
        </p:sp>
      </p:grpSp>
      <p:sp>
        <p:nvSpPr>
          <p:cNvPr name="Freeform 10" id="10"/>
          <p:cNvSpPr/>
          <p:nvPr/>
        </p:nvSpPr>
        <p:spPr>
          <a:xfrm flipH="false" flipV="false" rot="0">
            <a:off x="3311377" y="2107440"/>
            <a:ext cx="11665246" cy="4364978"/>
          </a:xfrm>
          <a:custGeom>
            <a:avLst/>
            <a:gdLst/>
            <a:ahLst/>
            <a:cxnLst/>
            <a:rect r="r" b="b" t="t" l="l"/>
            <a:pathLst>
              <a:path h="4364978" w="11665246">
                <a:moveTo>
                  <a:pt x="0" y="0"/>
                </a:moveTo>
                <a:lnTo>
                  <a:pt x="11665246" y="0"/>
                </a:lnTo>
                <a:lnTo>
                  <a:pt x="11665246" y="4364978"/>
                </a:lnTo>
                <a:lnTo>
                  <a:pt x="0" y="4364978"/>
                </a:lnTo>
                <a:lnTo>
                  <a:pt x="0" y="0"/>
                </a:lnTo>
                <a:close/>
              </a:path>
            </a:pathLst>
          </a:custGeom>
          <a:blipFill>
            <a:blip r:embed="rId3"/>
            <a:stretch>
              <a:fillRect l="0" t="0" r="0" b="0"/>
            </a:stretch>
          </a:blipFill>
        </p:spPr>
      </p:sp>
      <p:sp>
        <p:nvSpPr>
          <p:cNvPr name="Freeform 11" id="11"/>
          <p:cNvSpPr/>
          <p:nvPr/>
        </p:nvSpPr>
        <p:spPr>
          <a:xfrm flipH="false" flipV="false" rot="0">
            <a:off x="3312791" y="6472418"/>
            <a:ext cx="11662417" cy="3494926"/>
          </a:xfrm>
          <a:custGeom>
            <a:avLst/>
            <a:gdLst/>
            <a:ahLst/>
            <a:cxnLst/>
            <a:rect r="r" b="b" t="t" l="l"/>
            <a:pathLst>
              <a:path h="3494926" w="11662417">
                <a:moveTo>
                  <a:pt x="0" y="0"/>
                </a:moveTo>
                <a:lnTo>
                  <a:pt x="11662418" y="0"/>
                </a:lnTo>
                <a:lnTo>
                  <a:pt x="11662418" y="3494927"/>
                </a:lnTo>
                <a:lnTo>
                  <a:pt x="0" y="3494927"/>
                </a:lnTo>
                <a:lnTo>
                  <a:pt x="0" y="0"/>
                </a:lnTo>
                <a:close/>
              </a:path>
            </a:pathLst>
          </a:custGeom>
          <a:blipFill>
            <a:blip r:embed="rId4"/>
            <a:stretch>
              <a:fillRect l="0" t="0" r="0" b="0"/>
            </a:stretch>
          </a:blipFill>
        </p:spPr>
      </p:sp>
      <p:sp>
        <p:nvSpPr>
          <p:cNvPr name="TextBox 12" id="12"/>
          <p:cNvSpPr txBox="true"/>
          <p:nvPr/>
        </p:nvSpPr>
        <p:spPr>
          <a:xfrm rot="0">
            <a:off x="1110116" y="1112169"/>
            <a:ext cx="6001921" cy="995271"/>
          </a:xfrm>
          <a:prstGeom prst="rect">
            <a:avLst/>
          </a:prstGeom>
        </p:spPr>
        <p:txBody>
          <a:bodyPr anchor="t" rtlCol="false" tIns="0" lIns="0" bIns="0" rIns="0">
            <a:spAutoFit/>
          </a:bodyPr>
          <a:lstStyle/>
          <a:p>
            <a:pPr algn="l">
              <a:lnSpc>
                <a:spcPts val="8142"/>
              </a:lnSpc>
            </a:pPr>
            <a:r>
              <a:rPr lang="en-US" sz="5816">
                <a:solidFill>
                  <a:srgbClr val="E5C857"/>
                </a:solidFill>
                <a:latin typeface="Bebas Neue 1"/>
                <a:ea typeface="Bebas Neue 1"/>
                <a:cs typeface="Bebas Neue 1"/>
                <a:sym typeface="Bebas Neue 1"/>
              </a:rPr>
              <a:t>Parameter pengujian</a:t>
            </a:r>
          </a:p>
        </p:txBody>
      </p:sp>
      <p:sp>
        <p:nvSpPr>
          <p:cNvPr name="TextBox 13" id="13"/>
          <p:cNvSpPr txBox="true"/>
          <p:nvPr/>
        </p:nvSpPr>
        <p:spPr>
          <a:xfrm rot="0">
            <a:off x="1051559" y="344178"/>
            <a:ext cx="4684584" cy="995271"/>
          </a:xfrm>
          <a:prstGeom prst="rect">
            <a:avLst/>
          </a:prstGeom>
        </p:spPr>
        <p:txBody>
          <a:bodyPr anchor="t" rtlCol="false" tIns="0" lIns="0" bIns="0" rIns="0">
            <a:spAutoFit/>
          </a:bodyPr>
          <a:lstStyle/>
          <a:p>
            <a:pPr algn="l">
              <a:lnSpc>
                <a:spcPts val="8142"/>
              </a:lnSpc>
            </a:pPr>
            <a:r>
              <a:rPr lang="en-US" sz="5816">
                <a:solidFill>
                  <a:srgbClr val="59524B"/>
                </a:solidFill>
                <a:latin typeface="Bebas Neue 1"/>
                <a:ea typeface="Bebas Neue 1"/>
                <a:cs typeface="Bebas Neue 1"/>
                <a:sym typeface="Bebas Neue 1"/>
              </a:rPr>
              <a:t>hasil penelitian</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5313" y="464654"/>
            <a:ext cx="4620127" cy="1523631"/>
            <a:chOff x="0" y="0"/>
            <a:chExt cx="1646395" cy="542950"/>
          </a:xfrm>
        </p:grpSpPr>
        <p:sp>
          <p:nvSpPr>
            <p:cNvPr name="Freeform 3" id="3"/>
            <p:cNvSpPr/>
            <p:nvPr/>
          </p:nvSpPr>
          <p:spPr>
            <a:xfrm flipH="false" flipV="false" rot="0">
              <a:off x="0" y="0"/>
              <a:ext cx="1646395" cy="542950"/>
            </a:xfrm>
            <a:custGeom>
              <a:avLst/>
              <a:gdLst/>
              <a:ahLst/>
              <a:cxnLst/>
              <a:rect r="r" b="b" t="t" l="l"/>
              <a:pathLst>
                <a:path h="542950" w="1646395">
                  <a:moveTo>
                    <a:pt x="1443195" y="0"/>
                  </a:moveTo>
                  <a:cubicBezTo>
                    <a:pt x="1555419" y="0"/>
                    <a:pt x="1646395" y="121543"/>
                    <a:pt x="1646395" y="271475"/>
                  </a:cubicBezTo>
                  <a:cubicBezTo>
                    <a:pt x="1646395" y="421406"/>
                    <a:pt x="1555419" y="542950"/>
                    <a:pt x="1443195" y="542950"/>
                  </a:cubicBezTo>
                  <a:lnTo>
                    <a:pt x="203200" y="542950"/>
                  </a:lnTo>
                  <a:cubicBezTo>
                    <a:pt x="90976" y="542950"/>
                    <a:pt x="0" y="421406"/>
                    <a:pt x="0" y="271475"/>
                  </a:cubicBezTo>
                  <a:cubicBezTo>
                    <a:pt x="0" y="121543"/>
                    <a:pt x="90976" y="0"/>
                    <a:pt x="203200" y="0"/>
                  </a:cubicBezTo>
                  <a:close/>
                </a:path>
              </a:pathLst>
            </a:custGeom>
            <a:solidFill>
              <a:srgbClr val="F2F2F2"/>
            </a:solidFill>
          </p:spPr>
        </p:sp>
        <p:sp>
          <p:nvSpPr>
            <p:cNvPr name="TextBox 4" id="4"/>
            <p:cNvSpPr txBox="true"/>
            <p:nvPr/>
          </p:nvSpPr>
          <p:spPr>
            <a:xfrm>
              <a:off x="0" y="-38100"/>
              <a:ext cx="1646395" cy="5810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038174" y="458478"/>
            <a:ext cx="4563040" cy="1140443"/>
            <a:chOff x="0" y="0"/>
            <a:chExt cx="6084053" cy="1520591"/>
          </a:xfrm>
        </p:grpSpPr>
        <p:grpSp>
          <p:nvGrpSpPr>
            <p:cNvPr name="Group 6" id="6"/>
            <p:cNvGrpSpPr/>
            <p:nvPr/>
          </p:nvGrpSpPr>
          <p:grpSpPr>
            <a:xfrm rot="0">
              <a:off x="0" y="0"/>
              <a:ext cx="6084053" cy="1520591"/>
              <a:chOff x="0" y="0"/>
              <a:chExt cx="1626052" cy="406400"/>
            </a:xfrm>
          </p:grpSpPr>
          <p:sp>
            <p:nvSpPr>
              <p:cNvPr name="Freeform 7" id="7"/>
              <p:cNvSpPr/>
              <p:nvPr/>
            </p:nvSpPr>
            <p:spPr>
              <a:xfrm flipH="false" flipV="false" rot="0">
                <a:off x="0" y="0"/>
                <a:ext cx="1626052" cy="406400"/>
              </a:xfrm>
              <a:custGeom>
                <a:avLst/>
                <a:gdLst/>
                <a:ahLst/>
                <a:cxnLst/>
                <a:rect r="r" b="b" t="t" l="l"/>
                <a:pathLst>
                  <a:path h="406400" w="1626052">
                    <a:moveTo>
                      <a:pt x="1422852" y="0"/>
                    </a:moveTo>
                    <a:cubicBezTo>
                      <a:pt x="1535076" y="0"/>
                      <a:pt x="1626052" y="90976"/>
                      <a:pt x="1626052" y="203200"/>
                    </a:cubicBezTo>
                    <a:cubicBezTo>
                      <a:pt x="1626052" y="315424"/>
                      <a:pt x="1535076" y="406400"/>
                      <a:pt x="1422852"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8" id="8"/>
              <p:cNvSpPr txBox="true"/>
              <p:nvPr/>
            </p:nvSpPr>
            <p:spPr>
              <a:xfrm>
                <a:off x="0" y="-38100"/>
                <a:ext cx="1626052" cy="44450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414535" y="124612"/>
              <a:ext cx="5254984" cy="1271367"/>
            </a:xfrm>
            <a:custGeom>
              <a:avLst/>
              <a:gdLst/>
              <a:ahLst/>
              <a:cxnLst/>
              <a:rect r="r" b="b" t="t" l="l"/>
              <a:pathLst>
                <a:path h="1271367" w="5254984">
                  <a:moveTo>
                    <a:pt x="0" y="0"/>
                  </a:moveTo>
                  <a:lnTo>
                    <a:pt x="5254983" y="0"/>
                  </a:lnTo>
                  <a:lnTo>
                    <a:pt x="5254983" y="1271367"/>
                  </a:lnTo>
                  <a:lnTo>
                    <a:pt x="0" y="1271367"/>
                  </a:lnTo>
                  <a:lnTo>
                    <a:pt x="0" y="0"/>
                  </a:lnTo>
                  <a:close/>
                </a:path>
              </a:pathLst>
            </a:custGeom>
            <a:blipFill>
              <a:blip r:embed="rId2"/>
              <a:stretch>
                <a:fillRect l="0" t="0" r="0" b="0"/>
              </a:stretch>
            </a:blipFill>
          </p:spPr>
        </p:sp>
      </p:grpSp>
      <p:sp>
        <p:nvSpPr>
          <p:cNvPr name="Freeform 10" id="10"/>
          <p:cNvSpPr/>
          <p:nvPr/>
        </p:nvSpPr>
        <p:spPr>
          <a:xfrm flipH="false" flipV="false" rot="0">
            <a:off x="1051559" y="3390072"/>
            <a:ext cx="7907066" cy="5604133"/>
          </a:xfrm>
          <a:custGeom>
            <a:avLst/>
            <a:gdLst/>
            <a:ahLst/>
            <a:cxnLst/>
            <a:rect r="r" b="b" t="t" l="l"/>
            <a:pathLst>
              <a:path h="5604133" w="7907066">
                <a:moveTo>
                  <a:pt x="0" y="0"/>
                </a:moveTo>
                <a:lnTo>
                  <a:pt x="7907066" y="0"/>
                </a:lnTo>
                <a:lnTo>
                  <a:pt x="7907066" y="5604133"/>
                </a:lnTo>
                <a:lnTo>
                  <a:pt x="0" y="5604133"/>
                </a:lnTo>
                <a:lnTo>
                  <a:pt x="0" y="0"/>
                </a:lnTo>
                <a:close/>
              </a:path>
            </a:pathLst>
          </a:custGeom>
          <a:blipFill>
            <a:blip r:embed="rId3"/>
            <a:stretch>
              <a:fillRect l="0" t="0" r="0" b="0"/>
            </a:stretch>
          </a:blipFill>
        </p:spPr>
      </p:sp>
      <p:sp>
        <p:nvSpPr>
          <p:cNvPr name="Freeform 11" id="11"/>
          <p:cNvSpPr/>
          <p:nvPr/>
        </p:nvSpPr>
        <p:spPr>
          <a:xfrm flipH="false" flipV="false" rot="0">
            <a:off x="9352234" y="3390072"/>
            <a:ext cx="7907066" cy="5604133"/>
          </a:xfrm>
          <a:custGeom>
            <a:avLst/>
            <a:gdLst/>
            <a:ahLst/>
            <a:cxnLst/>
            <a:rect r="r" b="b" t="t" l="l"/>
            <a:pathLst>
              <a:path h="5604133" w="7907066">
                <a:moveTo>
                  <a:pt x="0" y="0"/>
                </a:moveTo>
                <a:lnTo>
                  <a:pt x="7907066" y="0"/>
                </a:lnTo>
                <a:lnTo>
                  <a:pt x="7907066" y="5604133"/>
                </a:lnTo>
                <a:lnTo>
                  <a:pt x="0" y="5604133"/>
                </a:lnTo>
                <a:lnTo>
                  <a:pt x="0" y="0"/>
                </a:lnTo>
                <a:close/>
              </a:path>
            </a:pathLst>
          </a:custGeom>
          <a:blipFill>
            <a:blip r:embed="rId4"/>
            <a:stretch>
              <a:fillRect l="0" t="0" r="0" b="0"/>
            </a:stretch>
          </a:blipFill>
        </p:spPr>
      </p:sp>
      <p:sp>
        <p:nvSpPr>
          <p:cNvPr name="TextBox 12" id="12"/>
          <p:cNvSpPr txBox="true"/>
          <p:nvPr/>
        </p:nvSpPr>
        <p:spPr>
          <a:xfrm rot="0">
            <a:off x="1110116" y="1112169"/>
            <a:ext cx="8350650" cy="995271"/>
          </a:xfrm>
          <a:prstGeom prst="rect">
            <a:avLst/>
          </a:prstGeom>
        </p:spPr>
        <p:txBody>
          <a:bodyPr anchor="t" rtlCol="false" tIns="0" lIns="0" bIns="0" rIns="0">
            <a:spAutoFit/>
          </a:bodyPr>
          <a:lstStyle/>
          <a:p>
            <a:pPr algn="l">
              <a:lnSpc>
                <a:spcPts val="8142"/>
              </a:lnSpc>
            </a:pPr>
            <a:r>
              <a:rPr lang="en-US" sz="5816">
                <a:solidFill>
                  <a:srgbClr val="E5C857"/>
                </a:solidFill>
                <a:latin typeface="Bebas Neue 1"/>
                <a:ea typeface="Bebas Neue 1"/>
                <a:cs typeface="Bebas Neue 1"/>
                <a:sym typeface="Bebas Neue 1"/>
              </a:rPr>
              <a:t>hasil setup</a:t>
            </a:r>
          </a:p>
        </p:txBody>
      </p:sp>
      <p:sp>
        <p:nvSpPr>
          <p:cNvPr name="TextBox 13" id="13"/>
          <p:cNvSpPr txBox="true"/>
          <p:nvPr/>
        </p:nvSpPr>
        <p:spPr>
          <a:xfrm rot="0">
            <a:off x="1051559" y="344178"/>
            <a:ext cx="4684584" cy="995271"/>
          </a:xfrm>
          <a:prstGeom prst="rect">
            <a:avLst/>
          </a:prstGeom>
        </p:spPr>
        <p:txBody>
          <a:bodyPr anchor="t" rtlCol="false" tIns="0" lIns="0" bIns="0" rIns="0">
            <a:spAutoFit/>
          </a:bodyPr>
          <a:lstStyle/>
          <a:p>
            <a:pPr algn="l">
              <a:lnSpc>
                <a:spcPts val="8142"/>
              </a:lnSpc>
            </a:pPr>
            <a:r>
              <a:rPr lang="en-US" sz="5816">
                <a:solidFill>
                  <a:srgbClr val="59524B"/>
                </a:solidFill>
                <a:latin typeface="Bebas Neue 1"/>
                <a:ea typeface="Bebas Neue 1"/>
                <a:cs typeface="Bebas Neue 1"/>
                <a:sym typeface="Bebas Neue 1"/>
              </a:rPr>
              <a:t>hasil penelitian</a:t>
            </a:r>
          </a:p>
        </p:txBody>
      </p:sp>
      <p:sp>
        <p:nvSpPr>
          <p:cNvPr name="TextBox 14" id="14"/>
          <p:cNvSpPr txBox="true"/>
          <p:nvPr/>
        </p:nvSpPr>
        <p:spPr>
          <a:xfrm rot="0">
            <a:off x="1028700" y="2355022"/>
            <a:ext cx="16230600" cy="720725"/>
          </a:xfrm>
          <a:prstGeom prst="rect">
            <a:avLst/>
          </a:prstGeom>
        </p:spPr>
        <p:txBody>
          <a:bodyPr anchor="t" rtlCol="false" tIns="0" lIns="0" bIns="0" rIns="0">
            <a:spAutoFit/>
          </a:bodyPr>
          <a:lstStyle/>
          <a:p>
            <a:pPr algn="l">
              <a:lnSpc>
                <a:spcPts val="2800"/>
              </a:lnSpc>
            </a:pPr>
            <a:r>
              <a:rPr lang="en-US" sz="2000" b="true">
                <a:solidFill>
                  <a:srgbClr val="010101"/>
                </a:solidFill>
                <a:latin typeface="Poppins Bold"/>
                <a:ea typeface="Poppins Bold"/>
                <a:cs typeface="Poppins Bold"/>
                <a:sym typeface="Poppins Bold"/>
              </a:rPr>
              <a:t>P</a:t>
            </a:r>
            <a:r>
              <a:rPr lang="en-US" sz="2000" b="true">
                <a:solidFill>
                  <a:srgbClr val="010101"/>
                </a:solidFill>
                <a:latin typeface="Poppins Bold"/>
                <a:ea typeface="Poppins Bold"/>
                <a:cs typeface="Poppins Bold"/>
                <a:sym typeface="Poppins Bold"/>
              </a:rPr>
              <a:t>e</a:t>
            </a:r>
            <a:r>
              <a:rPr lang="en-US" sz="2000" b="true">
                <a:solidFill>
                  <a:srgbClr val="010101"/>
                </a:solidFill>
                <a:latin typeface="Poppins Bold"/>
                <a:ea typeface="Poppins Bold"/>
                <a:cs typeface="Poppins Bold"/>
                <a:sym typeface="Poppins Bold"/>
              </a:rPr>
              <a:t>ngujian s</a:t>
            </a:r>
            <a:r>
              <a:rPr lang="en-US" sz="2000" b="true">
                <a:solidFill>
                  <a:srgbClr val="010101"/>
                </a:solidFill>
                <a:latin typeface="Poppins Bold"/>
                <a:ea typeface="Poppins Bold"/>
                <a:cs typeface="Poppins Bold"/>
                <a:sym typeface="Poppins Bold"/>
              </a:rPr>
              <a:t>e</a:t>
            </a:r>
            <a:r>
              <a:rPr lang="en-US" sz="2000" b="true">
                <a:solidFill>
                  <a:srgbClr val="010101"/>
                </a:solidFill>
                <a:latin typeface="Poppins Bold"/>
                <a:ea typeface="Poppins Bold"/>
                <a:cs typeface="Poppins Bold"/>
                <a:sym typeface="Poppins Bold"/>
              </a:rPr>
              <a:t>nsor </a:t>
            </a:r>
            <a:r>
              <a:rPr lang="en-US" sz="2000" b="true">
                <a:solidFill>
                  <a:srgbClr val="010101"/>
                </a:solidFill>
                <a:latin typeface="Poppins Bold"/>
                <a:ea typeface="Poppins Bold"/>
                <a:cs typeface="Poppins Bold"/>
                <a:sym typeface="Poppins Bold"/>
              </a:rPr>
              <a:t>d</a:t>
            </a:r>
            <a:r>
              <a:rPr lang="en-US" sz="2000" b="true">
                <a:solidFill>
                  <a:srgbClr val="010101"/>
                </a:solidFill>
                <a:latin typeface="Poppins Bold"/>
                <a:ea typeface="Poppins Bold"/>
                <a:cs typeface="Poppins Bold"/>
                <a:sym typeface="Poppins Bold"/>
              </a:rPr>
              <a:t>il</a:t>
            </a:r>
            <a:r>
              <a:rPr lang="en-US" sz="2000" b="true">
                <a:solidFill>
                  <a:srgbClr val="010101"/>
                </a:solidFill>
                <a:latin typeface="Poppins Bold"/>
                <a:ea typeface="Poppins Bold"/>
                <a:cs typeface="Poppins Bold"/>
                <a:sym typeface="Poppins Bold"/>
              </a:rPr>
              <a:t>ak</a:t>
            </a:r>
            <a:r>
              <a:rPr lang="en-US" sz="2000" b="true">
                <a:solidFill>
                  <a:srgbClr val="010101"/>
                </a:solidFill>
                <a:latin typeface="Poppins Bold"/>
                <a:ea typeface="Poppins Bold"/>
                <a:cs typeface="Poppins Bold"/>
                <a:sym typeface="Poppins Bold"/>
              </a:rPr>
              <a:t>ukan dengan memutar rotor motor menggunakan tangan selama kurang lebih 30 detik, sementara kecepatan sudut (𝜔) dan posisi sudut (𝜃) dari sensor diambil secara independen</a:t>
            </a:r>
          </a:p>
        </p:txBody>
      </p:sp>
      <p:sp>
        <p:nvSpPr>
          <p:cNvPr name="TextBox 15" id="15"/>
          <p:cNvSpPr txBox="true"/>
          <p:nvPr/>
        </p:nvSpPr>
        <p:spPr>
          <a:xfrm rot="0">
            <a:off x="1110116" y="8918005"/>
            <a:ext cx="7848509" cy="533400"/>
          </a:xfrm>
          <a:prstGeom prst="rect">
            <a:avLst/>
          </a:prstGeom>
        </p:spPr>
        <p:txBody>
          <a:bodyPr anchor="t" rtlCol="false" tIns="0" lIns="0" bIns="0" rIns="0">
            <a:spAutoFit/>
          </a:bodyPr>
          <a:lstStyle/>
          <a:p>
            <a:pPr algn="ctr">
              <a:lnSpc>
                <a:spcPts val="4200"/>
              </a:lnSpc>
            </a:pPr>
            <a:r>
              <a:rPr lang="en-US" sz="3000">
                <a:solidFill>
                  <a:srgbClr val="59524B"/>
                </a:solidFill>
                <a:latin typeface="Bebas Neue 1"/>
                <a:ea typeface="Bebas Neue 1"/>
                <a:cs typeface="Bebas Neue 1"/>
                <a:sym typeface="Bebas Neue 1"/>
              </a:rPr>
              <a:t>kecepatan sudut raw</a:t>
            </a:r>
          </a:p>
        </p:txBody>
      </p:sp>
      <p:sp>
        <p:nvSpPr>
          <p:cNvPr name="TextBox 16" id="16"/>
          <p:cNvSpPr txBox="true"/>
          <p:nvPr/>
        </p:nvSpPr>
        <p:spPr>
          <a:xfrm rot="0">
            <a:off x="9849939" y="8953500"/>
            <a:ext cx="7409361" cy="533400"/>
          </a:xfrm>
          <a:prstGeom prst="rect">
            <a:avLst/>
          </a:prstGeom>
        </p:spPr>
        <p:txBody>
          <a:bodyPr anchor="t" rtlCol="false" tIns="0" lIns="0" bIns="0" rIns="0">
            <a:spAutoFit/>
          </a:bodyPr>
          <a:lstStyle/>
          <a:p>
            <a:pPr algn="ctr">
              <a:lnSpc>
                <a:spcPts val="4200"/>
              </a:lnSpc>
            </a:pPr>
            <a:r>
              <a:rPr lang="en-US" sz="3000">
                <a:solidFill>
                  <a:srgbClr val="59524B"/>
                </a:solidFill>
                <a:latin typeface="Bebas Neue 1"/>
                <a:ea typeface="Bebas Neue 1"/>
                <a:cs typeface="Bebas Neue 1"/>
                <a:sym typeface="Bebas Neue 1"/>
              </a:rPr>
              <a:t>posisi sudut raw</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5313" y="464654"/>
            <a:ext cx="4620127" cy="1523631"/>
            <a:chOff x="0" y="0"/>
            <a:chExt cx="1646395" cy="542950"/>
          </a:xfrm>
        </p:grpSpPr>
        <p:sp>
          <p:nvSpPr>
            <p:cNvPr name="Freeform 3" id="3"/>
            <p:cNvSpPr/>
            <p:nvPr/>
          </p:nvSpPr>
          <p:spPr>
            <a:xfrm flipH="false" flipV="false" rot="0">
              <a:off x="0" y="0"/>
              <a:ext cx="1646395" cy="542950"/>
            </a:xfrm>
            <a:custGeom>
              <a:avLst/>
              <a:gdLst/>
              <a:ahLst/>
              <a:cxnLst/>
              <a:rect r="r" b="b" t="t" l="l"/>
              <a:pathLst>
                <a:path h="542950" w="1646395">
                  <a:moveTo>
                    <a:pt x="1443195" y="0"/>
                  </a:moveTo>
                  <a:cubicBezTo>
                    <a:pt x="1555419" y="0"/>
                    <a:pt x="1646395" y="121543"/>
                    <a:pt x="1646395" y="271475"/>
                  </a:cubicBezTo>
                  <a:cubicBezTo>
                    <a:pt x="1646395" y="421406"/>
                    <a:pt x="1555419" y="542950"/>
                    <a:pt x="1443195" y="542950"/>
                  </a:cubicBezTo>
                  <a:lnTo>
                    <a:pt x="203200" y="542950"/>
                  </a:lnTo>
                  <a:cubicBezTo>
                    <a:pt x="90976" y="542950"/>
                    <a:pt x="0" y="421406"/>
                    <a:pt x="0" y="271475"/>
                  </a:cubicBezTo>
                  <a:cubicBezTo>
                    <a:pt x="0" y="121543"/>
                    <a:pt x="90976" y="0"/>
                    <a:pt x="203200" y="0"/>
                  </a:cubicBezTo>
                  <a:close/>
                </a:path>
              </a:pathLst>
            </a:custGeom>
            <a:solidFill>
              <a:srgbClr val="F2F2F2"/>
            </a:solidFill>
          </p:spPr>
        </p:sp>
        <p:sp>
          <p:nvSpPr>
            <p:cNvPr name="TextBox 4" id="4"/>
            <p:cNvSpPr txBox="true"/>
            <p:nvPr/>
          </p:nvSpPr>
          <p:spPr>
            <a:xfrm>
              <a:off x="0" y="-38100"/>
              <a:ext cx="1646395" cy="5810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038174" y="458478"/>
            <a:ext cx="4563040" cy="1140443"/>
            <a:chOff x="0" y="0"/>
            <a:chExt cx="6084053" cy="1520591"/>
          </a:xfrm>
        </p:grpSpPr>
        <p:grpSp>
          <p:nvGrpSpPr>
            <p:cNvPr name="Group 6" id="6"/>
            <p:cNvGrpSpPr/>
            <p:nvPr/>
          </p:nvGrpSpPr>
          <p:grpSpPr>
            <a:xfrm rot="0">
              <a:off x="0" y="0"/>
              <a:ext cx="6084053" cy="1520591"/>
              <a:chOff x="0" y="0"/>
              <a:chExt cx="1626052" cy="406400"/>
            </a:xfrm>
          </p:grpSpPr>
          <p:sp>
            <p:nvSpPr>
              <p:cNvPr name="Freeform 7" id="7"/>
              <p:cNvSpPr/>
              <p:nvPr/>
            </p:nvSpPr>
            <p:spPr>
              <a:xfrm flipH="false" flipV="false" rot="0">
                <a:off x="0" y="0"/>
                <a:ext cx="1626052" cy="406400"/>
              </a:xfrm>
              <a:custGeom>
                <a:avLst/>
                <a:gdLst/>
                <a:ahLst/>
                <a:cxnLst/>
                <a:rect r="r" b="b" t="t" l="l"/>
                <a:pathLst>
                  <a:path h="406400" w="1626052">
                    <a:moveTo>
                      <a:pt x="1422852" y="0"/>
                    </a:moveTo>
                    <a:cubicBezTo>
                      <a:pt x="1535076" y="0"/>
                      <a:pt x="1626052" y="90976"/>
                      <a:pt x="1626052" y="203200"/>
                    </a:cubicBezTo>
                    <a:cubicBezTo>
                      <a:pt x="1626052" y="315424"/>
                      <a:pt x="1535076" y="406400"/>
                      <a:pt x="1422852"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8" id="8"/>
              <p:cNvSpPr txBox="true"/>
              <p:nvPr/>
            </p:nvSpPr>
            <p:spPr>
              <a:xfrm>
                <a:off x="0" y="-38100"/>
                <a:ext cx="1626052" cy="44450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414535" y="124612"/>
              <a:ext cx="5254984" cy="1271367"/>
            </a:xfrm>
            <a:custGeom>
              <a:avLst/>
              <a:gdLst/>
              <a:ahLst/>
              <a:cxnLst/>
              <a:rect r="r" b="b" t="t" l="l"/>
              <a:pathLst>
                <a:path h="1271367" w="5254984">
                  <a:moveTo>
                    <a:pt x="0" y="0"/>
                  </a:moveTo>
                  <a:lnTo>
                    <a:pt x="5254983" y="0"/>
                  </a:lnTo>
                  <a:lnTo>
                    <a:pt x="5254983" y="1271367"/>
                  </a:lnTo>
                  <a:lnTo>
                    <a:pt x="0" y="1271367"/>
                  </a:lnTo>
                  <a:lnTo>
                    <a:pt x="0" y="0"/>
                  </a:lnTo>
                  <a:close/>
                </a:path>
              </a:pathLst>
            </a:custGeom>
            <a:blipFill>
              <a:blip r:embed="rId2"/>
              <a:stretch>
                <a:fillRect l="0" t="0" r="0" b="0"/>
              </a:stretch>
            </a:blipFill>
          </p:spPr>
        </p:sp>
      </p:grpSp>
      <p:sp>
        <p:nvSpPr>
          <p:cNvPr name="Freeform 10" id="10"/>
          <p:cNvSpPr/>
          <p:nvPr/>
        </p:nvSpPr>
        <p:spPr>
          <a:xfrm flipH="false" flipV="false" rot="0">
            <a:off x="9352234" y="3390072"/>
            <a:ext cx="7853261" cy="5565999"/>
          </a:xfrm>
          <a:custGeom>
            <a:avLst/>
            <a:gdLst/>
            <a:ahLst/>
            <a:cxnLst/>
            <a:rect r="r" b="b" t="t" l="l"/>
            <a:pathLst>
              <a:path h="5565999" w="7853261">
                <a:moveTo>
                  <a:pt x="0" y="0"/>
                </a:moveTo>
                <a:lnTo>
                  <a:pt x="7853261" y="0"/>
                </a:lnTo>
                <a:lnTo>
                  <a:pt x="7853261" y="5565999"/>
                </a:lnTo>
                <a:lnTo>
                  <a:pt x="0" y="5565999"/>
                </a:lnTo>
                <a:lnTo>
                  <a:pt x="0" y="0"/>
                </a:lnTo>
                <a:close/>
              </a:path>
            </a:pathLst>
          </a:custGeom>
          <a:blipFill>
            <a:blip r:embed="rId3"/>
            <a:stretch>
              <a:fillRect l="0" t="0" r="0" b="0"/>
            </a:stretch>
          </a:blipFill>
        </p:spPr>
      </p:sp>
      <p:sp>
        <p:nvSpPr>
          <p:cNvPr name="Freeform 11" id="11"/>
          <p:cNvSpPr/>
          <p:nvPr/>
        </p:nvSpPr>
        <p:spPr>
          <a:xfrm flipH="false" flipV="false" rot="0">
            <a:off x="1110116" y="3390072"/>
            <a:ext cx="7848509" cy="5562631"/>
          </a:xfrm>
          <a:custGeom>
            <a:avLst/>
            <a:gdLst/>
            <a:ahLst/>
            <a:cxnLst/>
            <a:rect r="r" b="b" t="t" l="l"/>
            <a:pathLst>
              <a:path h="5562631" w="7848509">
                <a:moveTo>
                  <a:pt x="0" y="0"/>
                </a:moveTo>
                <a:lnTo>
                  <a:pt x="7848509" y="0"/>
                </a:lnTo>
                <a:lnTo>
                  <a:pt x="7848509" y="5562631"/>
                </a:lnTo>
                <a:lnTo>
                  <a:pt x="0" y="5562631"/>
                </a:lnTo>
                <a:lnTo>
                  <a:pt x="0" y="0"/>
                </a:lnTo>
                <a:close/>
              </a:path>
            </a:pathLst>
          </a:custGeom>
          <a:blipFill>
            <a:blip r:embed="rId4"/>
            <a:stretch>
              <a:fillRect l="0" t="0" r="0" b="0"/>
            </a:stretch>
          </a:blipFill>
        </p:spPr>
      </p:sp>
      <p:sp>
        <p:nvSpPr>
          <p:cNvPr name="TextBox 12" id="12"/>
          <p:cNvSpPr txBox="true"/>
          <p:nvPr/>
        </p:nvSpPr>
        <p:spPr>
          <a:xfrm rot="0">
            <a:off x="1110116" y="1112169"/>
            <a:ext cx="8350650" cy="995271"/>
          </a:xfrm>
          <a:prstGeom prst="rect">
            <a:avLst/>
          </a:prstGeom>
        </p:spPr>
        <p:txBody>
          <a:bodyPr anchor="t" rtlCol="false" tIns="0" lIns="0" bIns="0" rIns="0">
            <a:spAutoFit/>
          </a:bodyPr>
          <a:lstStyle/>
          <a:p>
            <a:pPr algn="l">
              <a:lnSpc>
                <a:spcPts val="8142"/>
              </a:lnSpc>
            </a:pPr>
            <a:r>
              <a:rPr lang="en-US" sz="5816">
                <a:solidFill>
                  <a:srgbClr val="E5C857"/>
                </a:solidFill>
                <a:latin typeface="Bebas Neue 1"/>
                <a:ea typeface="Bebas Neue 1"/>
                <a:cs typeface="Bebas Neue 1"/>
                <a:sym typeface="Bebas Neue 1"/>
              </a:rPr>
              <a:t>hasil setup</a:t>
            </a:r>
          </a:p>
        </p:txBody>
      </p:sp>
      <p:sp>
        <p:nvSpPr>
          <p:cNvPr name="TextBox 13" id="13"/>
          <p:cNvSpPr txBox="true"/>
          <p:nvPr/>
        </p:nvSpPr>
        <p:spPr>
          <a:xfrm rot="0">
            <a:off x="1051559" y="344178"/>
            <a:ext cx="4684584" cy="995271"/>
          </a:xfrm>
          <a:prstGeom prst="rect">
            <a:avLst/>
          </a:prstGeom>
        </p:spPr>
        <p:txBody>
          <a:bodyPr anchor="t" rtlCol="false" tIns="0" lIns="0" bIns="0" rIns="0">
            <a:spAutoFit/>
          </a:bodyPr>
          <a:lstStyle/>
          <a:p>
            <a:pPr algn="l">
              <a:lnSpc>
                <a:spcPts val="8142"/>
              </a:lnSpc>
            </a:pPr>
            <a:r>
              <a:rPr lang="en-US" sz="5816">
                <a:solidFill>
                  <a:srgbClr val="59524B"/>
                </a:solidFill>
                <a:latin typeface="Bebas Neue 1"/>
                <a:ea typeface="Bebas Neue 1"/>
                <a:cs typeface="Bebas Neue 1"/>
                <a:sym typeface="Bebas Neue 1"/>
              </a:rPr>
              <a:t>hasil penelitian</a:t>
            </a:r>
          </a:p>
        </p:txBody>
      </p:sp>
      <p:sp>
        <p:nvSpPr>
          <p:cNvPr name="TextBox 14" id="14"/>
          <p:cNvSpPr txBox="true"/>
          <p:nvPr/>
        </p:nvSpPr>
        <p:spPr>
          <a:xfrm rot="0">
            <a:off x="1028700" y="2355056"/>
            <a:ext cx="16230600" cy="1073150"/>
          </a:xfrm>
          <a:prstGeom prst="rect">
            <a:avLst/>
          </a:prstGeom>
        </p:spPr>
        <p:txBody>
          <a:bodyPr anchor="t" rtlCol="false" tIns="0" lIns="0" bIns="0" rIns="0">
            <a:spAutoFit/>
          </a:bodyPr>
          <a:lstStyle/>
          <a:p>
            <a:pPr algn="just">
              <a:lnSpc>
                <a:spcPts val="2800"/>
              </a:lnSpc>
            </a:pPr>
            <a:r>
              <a:rPr lang="en-US" sz="2000" b="true">
                <a:solidFill>
                  <a:srgbClr val="010101"/>
                </a:solidFill>
                <a:latin typeface="Poppins Bold"/>
                <a:ea typeface="Poppins Bold"/>
                <a:cs typeface="Poppins Bold"/>
                <a:sym typeface="Poppins Bold"/>
              </a:rPr>
              <a:t>Untuk memperoleh kecepatan sudut yang dapat </a:t>
            </a:r>
            <a:r>
              <a:rPr lang="en-US" b="true" sz="2000">
                <a:solidFill>
                  <a:srgbClr val="010101"/>
                </a:solidFill>
                <a:latin typeface="Poppins Bold"/>
                <a:ea typeface="Poppins Bold"/>
                <a:cs typeface="Poppins Bold"/>
                <a:sym typeface="Poppins Bold"/>
              </a:rPr>
              <a:t>d</a:t>
            </a:r>
            <a:r>
              <a:rPr lang="en-US" sz="2000" b="true">
                <a:solidFill>
                  <a:srgbClr val="010101"/>
                </a:solidFill>
                <a:latin typeface="Poppins Bold"/>
                <a:ea typeface="Poppins Bold"/>
                <a:cs typeface="Poppins Bold"/>
                <a:sym typeface="Poppins Bold"/>
              </a:rPr>
              <a:t>iand</a:t>
            </a:r>
            <a:r>
              <a:rPr lang="en-US" b="true" sz="2000">
                <a:solidFill>
                  <a:srgbClr val="010101"/>
                </a:solidFill>
                <a:latin typeface="Poppins Bold"/>
                <a:ea typeface="Poppins Bold"/>
                <a:cs typeface="Poppins Bold"/>
                <a:sym typeface="Poppins Bold"/>
              </a:rPr>
              <a:t>al</a:t>
            </a:r>
            <a:r>
              <a:rPr lang="en-US" sz="2000" b="true">
                <a:solidFill>
                  <a:srgbClr val="010101"/>
                </a:solidFill>
                <a:latin typeface="Poppins Bold"/>
                <a:ea typeface="Poppins Bold"/>
                <a:cs typeface="Poppins Bold"/>
                <a:sym typeface="Poppins Bold"/>
              </a:rPr>
              <a:t>kan sebagai referensi </a:t>
            </a:r>
            <a:r>
              <a:rPr lang="en-US" b="true" sz="2000" i="true">
                <a:solidFill>
                  <a:srgbClr val="010101"/>
                </a:solidFill>
                <a:latin typeface="Poppins Bold Italics"/>
                <a:ea typeface="Poppins Bold Italics"/>
                <a:cs typeface="Poppins Bold Italics"/>
                <a:sym typeface="Poppins Bold Italics"/>
              </a:rPr>
              <a:t>ground truth</a:t>
            </a:r>
            <a:r>
              <a:rPr lang="en-US" sz="2000" b="true">
                <a:solidFill>
                  <a:srgbClr val="010101"/>
                </a:solidFill>
                <a:latin typeface="Poppins Bold"/>
                <a:ea typeface="Poppins Bold"/>
                <a:cs typeface="Poppins Bold"/>
                <a:sym typeface="Poppins Bold"/>
              </a:rPr>
              <a:t>, data diproses menggunakan metode penurunan jendela lebar 20 sampel atau setara ~208 ms yang merata-ratakan noise kuantisasi sekaligus mempertahankan sinyal kecepatan sesungguhnya, dilanjutkan di implementasi low pass filter dengan nilai 𝑇𝑓 = 0.1 s.</a:t>
            </a:r>
          </a:p>
        </p:txBody>
      </p:sp>
      <p:sp>
        <p:nvSpPr>
          <p:cNvPr name="TextBox 15" id="15"/>
          <p:cNvSpPr txBox="true"/>
          <p:nvPr/>
        </p:nvSpPr>
        <p:spPr>
          <a:xfrm rot="0">
            <a:off x="1110116" y="8918005"/>
            <a:ext cx="7848509" cy="533400"/>
          </a:xfrm>
          <a:prstGeom prst="rect">
            <a:avLst/>
          </a:prstGeom>
        </p:spPr>
        <p:txBody>
          <a:bodyPr anchor="t" rtlCol="false" tIns="0" lIns="0" bIns="0" rIns="0">
            <a:spAutoFit/>
          </a:bodyPr>
          <a:lstStyle/>
          <a:p>
            <a:pPr algn="ctr">
              <a:lnSpc>
                <a:spcPts val="4200"/>
              </a:lnSpc>
            </a:pPr>
            <a:r>
              <a:rPr lang="en-US" sz="3000">
                <a:solidFill>
                  <a:srgbClr val="59524B"/>
                </a:solidFill>
                <a:latin typeface="Bebas Neue 1"/>
                <a:ea typeface="Bebas Neue 1"/>
                <a:cs typeface="Bebas Neue 1"/>
                <a:sym typeface="Bebas Neue 1"/>
              </a:rPr>
              <a:t>kecepatan sudut setelah proccesing</a:t>
            </a:r>
          </a:p>
        </p:txBody>
      </p:sp>
      <p:sp>
        <p:nvSpPr>
          <p:cNvPr name="TextBox 16" id="16"/>
          <p:cNvSpPr txBox="true"/>
          <p:nvPr/>
        </p:nvSpPr>
        <p:spPr>
          <a:xfrm rot="0">
            <a:off x="9849939" y="8953500"/>
            <a:ext cx="7409361" cy="533400"/>
          </a:xfrm>
          <a:prstGeom prst="rect">
            <a:avLst/>
          </a:prstGeom>
        </p:spPr>
        <p:txBody>
          <a:bodyPr anchor="t" rtlCol="false" tIns="0" lIns="0" bIns="0" rIns="0">
            <a:spAutoFit/>
          </a:bodyPr>
          <a:lstStyle/>
          <a:p>
            <a:pPr algn="ctr">
              <a:lnSpc>
                <a:spcPts val="4200"/>
              </a:lnSpc>
            </a:pPr>
            <a:r>
              <a:rPr lang="en-US" sz="3000">
                <a:solidFill>
                  <a:srgbClr val="59524B"/>
                </a:solidFill>
                <a:latin typeface="Bebas Neue 1"/>
                <a:ea typeface="Bebas Neue 1"/>
                <a:cs typeface="Bebas Neue 1"/>
                <a:sym typeface="Bebas Neue 1"/>
              </a:rPr>
              <a:t>posisi sudut setelah proccesing</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5313" y="464654"/>
            <a:ext cx="4620127" cy="1523631"/>
            <a:chOff x="0" y="0"/>
            <a:chExt cx="1646395" cy="542950"/>
          </a:xfrm>
        </p:grpSpPr>
        <p:sp>
          <p:nvSpPr>
            <p:cNvPr name="Freeform 3" id="3"/>
            <p:cNvSpPr/>
            <p:nvPr/>
          </p:nvSpPr>
          <p:spPr>
            <a:xfrm flipH="false" flipV="false" rot="0">
              <a:off x="0" y="0"/>
              <a:ext cx="1646395" cy="542950"/>
            </a:xfrm>
            <a:custGeom>
              <a:avLst/>
              <a:gdLst/>
              <a:ahLst/>
              <a:cxnLst/>
              <a:rect r="r" b="b" t="t" l="l"/>
              <a:pathLst>
                <a:path h="542950" w="1646395">
                  <a:moveTo>
                    <a:pt x="1443195" y="0"/>
                  </a:moveTo>
                  <a:cubicBezTo>
                    <a:pt x="1555419" y="0"/>
                    <a:pt x="1646395" y="121543"/>
                    <a:pt x="1646395" y="271475"/>
                  </a:cubicBezTo>
                  <a:cubicBezTo>
                    <a:pt x="1646395" y="421406"/>
                    <a:pt x="1555419" y="542950"/>
                    <a:pt x="1443195" y="542950"/>
                  </a:cubicBezTo>
                  <a:lnTo>
                    <a:pt x="203200" y="542950"/>
                  </a:lnTo>
                  <a:cubicBezTo>
                    <a:pt x="90976" y="542950"/>
                    <a:pt x="0" y="421406"/>
                    <a:pt x="0" y="271475"/>
                  </a:cubicBezTo>
                  <a:cubicBezTo>
                    <a:pt x="0" y="121543"/>
                    <a:pt x="90976" y="0"/>
                    <a:pt x="203200" y="0"/>
                  </a:cubicBezTo>
                  <a:close/>
                </a:path>
              </a:pathLst>
            </a:custGeom>
            <a:solidFill>
              <a:srgbClr val="F2F2F2"/>
            </a:solidFill>
          </p:spPr>
        </p:sp>
        <p:sp>
          <p:nvSpPr>
            <p:cNvPr name="TextBox 4" id="4"/>
            <p:cNvSpPr txBox="true"/>
            <p:nvPr/>
          </p:nvSpPr>
          <p:spPr>
            <a:xfrm>
              <a:off x="0" y="-38100"/>
              <a:ext cx="1646395" cy="5810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038174" y="458478"/>
            <a:ext cx="4563040" cy="1140443"/>
            <a:chOff x="0" y="0"/>
            <a:chExt cx="6084053" cy="1520591"/>
          </a:xfrm>
        </p:grpSpPr>
        <p:grpSp>
          <p:nvGrpSpPr>
            <p:cNvPr name="Group 6" id="6"/>
            <p:cNvGrpSpPr/>
            <p:nvPr/>
          </p:nvGrpSpPr>
          <p:grpSpPr>
            <a:xfrm rot="0">
              <a:off x="0" y="0"/>
              <a:ext cx="6084053" cy="1520591"/>
              <a:chOff x="0" y="0"/>
              <a:chExt cx="1626052" cy="406400"/>
            </a:xfrm>
          </p:grpSpPr>
          <p:sp>
            <p:nvSpPr>
              <p:cNvPr name="Freeform 7" id="7"/>
              <p:cNvSpPr/>
              <p:nvPr/>
            </p:nvSpPr>
            <p:spPr>
              <a:xfrm flipH="false" flipV="false" rot="0">
                <a:off x="0" y="0"/>
                <a:ext cx="1626052" cy="406400"/>
              </a:xfrm>
              <a:custGeom>
                <a:avLst/>
                <a:gdLst/>
                <a:ahLst/>
                <a:cxnLst/>
                <a:rect r="r" b="b" t="t" l="l"/>
                <a:pathLst>
                  <a:path h="406400" w="1626052">
                    <a:moveTo>
                      <a:pt x="1422852" y="0"/>
                    </a:moveTo>
                    <a:cubicBezTo>
                      <a:pt x="1535076" y="0"/>
                      <a:pt x="1626052" y="90976"/>
                      <a:pt x="1626052" y="203200"/>
                    </a:cubicBezTo>
                    <a:cubicBezTo>
                      <a:pt x="1626052" y="315424"/>
                      <a:pt x="1535076" y="406400"/>
                      <a:pt x="1422852"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8" id="8"/>
              <p:cNvSpPr txBox="true"/>
              <p:nvPr/>
            </p:nvSpPr>
            <p:spPr>
              <a:xfrm>
                <a:off x="0" y="-38100"/>
                <a:ext cx="1626052" cy="44450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414535" y="124612"/>
              <a:ext cx="5254984" cy="1271367"/>
            </a:xfrm>
            <a:custGeom>
              <a:avLst/>
              <a:gdLst/>
              <a:ahLst/>
              <a:cxnLst/>
              <a:rect r="r" b="b" t="t" l="l"/>
              <a:pathLst>
                <a:path h="1271367" w="5254984">
                  <a:moveTo>
                    <a:pt x="0" y="0"/>
                  </a:moveTo>
                  <a:lnTo>
                    <a:pt x="5254983" y="0"/>
                  </a:lnTo>
                  <a:lnTo>
                    <a:pt x="5254983" y="1271367"/>
                  </a:lnTo>
                  <a:lnTo>
                    <a:pt x="0" y="1271367"/>
                  </a:lnTo>
                  <a:lnTo>
                    <a:pt x="0" y="0"/>
                  </a:lnTo>
                  <a:close/>
                </a:path>
              </a:pathLst>
            </a:custGeom>
            <a:blipFill>
              <a:blip r:embed="rId2"/>
              <a:stretch>
                <a:fillRect l="0" t="0" r="0" b="0"/>
              </a:stretch>
            </a:blipFill>
          </p:spPr>
        </p:sp>
      </p:grpSp>
      <p:grpSp>
        <p:nvGrpSpPr>
          <p:cNvPr name="Group 10" id="10"/>
          <p:cNvGrpSpPr/>
          <p:nvPr/>
        </p:nvGrpSpPr>
        <p:grpSpPr>
          <a:xfrm rot="0">
            <a:off x="1246145" y="3555680"/>
            <a:ext cx="3810000" cy="95250"/>
            <a:chOff x="0" y="0"/>
            <a:chExt cx="1003457" cy="25086"/>
          </a:xfrm>
        </p:grpSpPr>
        <p:sp>
          <p:nvSpPr>
            <p:cNvPr name="Freeform 11" id="11"/>
            <p:cNvSpPr/>
            <p:nvPr/>
          </p:nvSpPr>
          <p:spPr>
            <a:xfrm flipH="false" flipV="false" rot="0">
              <a:off x="0" y="0"/>
              <a:ext cx="1003457" cy="25086"/>
            </a:xfrm>
            <a:custGeom>
              <a:avLst/>
              <a:gdLst/>
              <a:ahLst/>
              <a:cxnLst/>
              <a:rect r="r" b="b" t="t" l="l"/>
              <a:pathLst>
                <a:path h="25086" w="1003457">
                  <a:moveTo>
                    <a:pt x="0" y="0"/>
                  </a:moveTo>
                  <a:lnTo>
                    <a:pt x="1003457" y="0"/>
                  </a:lnTo>
                  <a:lnTo>
                    <a:pt x="1003457" y="25086"/>
                  </a:lnTo>
                  <a:lnTo>
                    <a:pt x="0" y="25086"/>
                  </a:lnTo>
                  <a:close/>
                </a:path>
              </a:pathLst>
            </a:custGeom>
            <a:solidFill>
              <a:srgbClr val="59524B"/>
            </a:solidFill>
          </p:spPr>
        </p:sp>
        <p:sp>
          <p:nvSpPr>
            <p:cNvPr name="TextBox 12" id="12"/>
            <p:cNvSpPr txBox="true"/>
            <p:nvPr/>
          </p:nvSpPr>
          <p:spPr>
            <a:xfrm>
              <a:off x="0" y="-38100"/>
              <a:ext cx="1003457" cy="63186"/>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1246145" y="3755705"/>
            <a:ext cx="9225297" cy="2277423"/>
          </a:xfrm>
          <a:custGeom>
            <a:avLst/>
            <a:gdLst/>
            <a:ahLst/>
            <a:cxnLst/>
            <a:rect r="r" b="b" t="t" l="l"/>
            <a:pathLst>
              <a:path h="2277423" w="9225297">
                <a:moveTo>
                  <a:pt x="0" y="0"/>
                </a:moveTo>
                <a:lnTo>
                  <a:pt x="9225296" y="0"/>
                </a:lnTo>
                <a:lnTo>
                  <a:pt x="9225296" y="2277423"/>
                </a:lnTo>
                <a:lnTo>
                  <a:pt x="0" y="2277423"/>
                </a:lnTo>
                <a:lnTo>
                  <a:pt x="0" y="0"/>
                </a:lnTo>
                <a:close/>
              </a:path>
            </a:pathLst>
          </a:custGeom>
          <a:blipFill>
            <a:blip r:embed="rId3"/>
            <a:stretch>
              <a:fillRect l="0" t="0" r="0" b="0"/>
            </a:stretch>
          </a:blipFill>
        </p:spPr>
      </p:sp>
      <p:sp>
        <p:nvSpPr>
          <p:cNvPr name="Freeform 14" id="14"/>
          <p:cNvSpPr/>
          <p:nvPr/>
        </p:nvSpPr>
        <p:spPr>
          <a:xfrm flipH="false" flipV="false" rot="0">
            <a:off x="1241021" y="7163428"/>
            <a:ext cx="6804006" cy="2094872"/>
          </a:xfrm>
          <a:custGeom>
            <a:avLst/>
            <a:gdLst/>
            <a:ahLst/>
            <a:cxnLst/>
            <a:rect r="r" b="b" t="t" l="l"/>
            <a:pathLst>
              <a:path h="2094872" w="6804006">
                <a:moveTo>
                  <a:pt x="0" y="0"/>
                </a:moveTo>
                <a:lnTo>
                  <a:pt x="6804006" y="0"/>
                </a:lnTo>
                <a:lnTo>
                  <a:pt x="6804006" y="2094872"/>
                </a:lnTo>
                <a:lnTo>
                  <a:pt x="0" y="2094872"/>
                </a:lnTo>
                <a:lnTo>
                  <a:pt x="0" y="0"/>
                </a:lnTo>
                <a:close/>
              </a:path>
            </a:pathLst>
          </a:custGeom>
          <a:blipFill>
            <a:blip r:embed="rId4"/>
            <a:stretch>
              <a:fillRect l="0" t="0" r="0" b="0"/>
            </a:stretch>
          </a:blipFill>
        </p:spPr>
      </p:sp>
      <p:sp>
        <p:nvSpPr>
          <p:cNvPr name="TextBox 15" id="15"/>
          <p:cNvSpPr txBox="true"/>
          <p:nvPr/>
        </p:nvSpPr>
        <p:spPr>
          <a:xfrm rot="0">
            <a:off x="1110116" y="1112169"/>
            <a:ext cx="8350650" cy="995271"/>
          </a:xfrm>
          <a:prstGeom prst="rect">
            <a:avLst/>
          </a:prstGeom>
        </p:spPr>
        <p:txBody>
          <a:bodyPr anchor="t" rtlCol="false" tIns="0" lIns="0" bIns="0" rIns="0">
            <a:spAutoFit/>
          </a:bodyPr>
          <a:lstStyle/>
          <a:p>
            <a:pPr algn="l">
              <a:lnSpc>
                <a:spcPts val="8142"/>
              </a:lnSpc>
            </a:pPr>
            <a:r>
              <a:rPr lang="en-US" sz="5816">
                <a:solidFill>
                  <a:srgbClr val="E5C857"/>
                </a:solidFill>
                <a:latin typeface="Bebas Neue 1"/>
                <a:ea typeface="Bebas Neue 1"/>
                <a:cs typeface="Bebas Neue 1"/>
                <a:sym typeface="Bebas Neue 1"/>
              </a:rPr>
              <a:t>analisis model</a:t>
            </a:r>
          </a:p>
        </p:txBody>
      </p:sp>
      <p:sp>
        <p:nvSpPr>
          <p:cNvPr name="TextBox 16" id="16"/>
          <p:cNvSpPr txBox="true"/>
          <p:nvPr/>
        </p:nvSpPr>
        <p:spPr>
          <a:xfrm rot="0">
            <a:off x="1051559" y="344178"/>
            <a:ext cx="4684584" cy="995271"/>
          </a:xfrm>
          <a:prstGeom prst="rect">
            <a:avLst/>
          </a:prstGeom>
        </p:spPr>
        <p:txBody>
          <a:bodyPr anchor="t" rtlCol="false" tIns="0" lIns="0" bIns="0" rIns="0">
            <a:spAutoFit/>
          </a:bodyPr>
          <a:lstStyle/>
          <a:p>
            <a:pPr algn="l">
              <a:lnSpc>
                <a:spcPts val="8142"/>
              </a:lnSpc>
            </a:pPr>
            <a:r>
              <a:rPr lang="en-US" sz="5816">
                <a:solidFill>
                  <a:srgbClr val="59524B"/>
                </a:solidFill>
                <a:latin typeface="Bebas Neue 1"/>
                <a:ea typeface="Bebas Neue 1"/>
                <a:cs typeface="Bebas Neue 1"/>
                <a:sym typeface="Bebas Neue 1"/>
              </a:rPr>
              <a:t>hasil penelitian</a:t>
            </a:r>
          </a:p>
        </p:txBody>
      </p:sp>
      <p:sp>
        <p:nvSpPr>
          <p:cNvPr name="TextBox 17" id="17"/>
          <p:cNvSpPr txBox="true"/>
          <p:nvPr/>
        </p:nvSpPr>
        <p:spPr>
          <a:xfrm rot="0">
            <a:off x="1241021" y="3039276"/>
            <a:ext cx="7264035" cy="409575"/>
          </a:xfrm>
          <a:prstGeom prst="rect">
            <a:avLst/>
          </a:prstGeom>
        </p:spPr>
        <p:txBody>
          <a:bodyPr anchor="t" rtlCol="false" tIns="0" lIns="0" bIns="0" rIns="0">
            <a:spAutoFit/>
          </a:bodyPr>
          <a:lstStyle/>
          <a:p>
            <a:pPr algn="just">
              <a:lnSpc>
                <a:spcPts val="3120"/>
              </a:lnSpc>
            </a:pPr>
            <a:r>
              <a:rPr lang="en-US" b="true" sz="2600">
                <a:solidFill>
                  <a:srgbClr val="E5C857"/>
                </a:solidFill>
                <a:latin typeface="Poppins Bold"/>
                <a:ea typeface="Poppins Bold"/>
                <a:cs typeface="Poppins Bold"/>
                <a:sym typeface="Poppins Bold"/>
              </a:rPr>
              <a:t>Model BLDC sebagai acuan tiga fasa</a:t>
            </a:r>
          </a:p>
        </p:txBody>
      </p:sp>
      <p:sp>
        <p:nvSpPr>
          <p:cNvPr name="TextBox 18" id="18"/>
          <p:cNvSpPr txBox="true"/>
          <p:nvPr/>
        </p:nvSpPr>
        <p:spPr>
          <a:xfrm rot="0">
            <a:off x="1028700" y="2248701"/>
            <a:ext cx="7993367" cy="523875"/>
          </a:xfrm>
          <a:prstGeom prst="rect">
            <a:avLst/>
          </a:prstGeom>
        </p:spPr>
        <p:txBody>
          <a:bodyPr anchor="t" rtlCol="false" tIns="0" lIns="0" bIns="0" rIns="0">
            <a:spAutoFit/>
          </a:bodyPr>
          <a:lstStyle/>
          <a:p>
            <a:pPr algn="l">
              <a:lnSpc>
                <a:spcPts val="3959"/>
              </a:lnSpc>
            </a:pPr>
            <a:r>
              <a:rPr lang="en-US" sz="3299" b="true">
                <a:solidFill>
                  <a:srgbClr val="59524B"/>
                </a:solidFill>
                <a:latin typeface="Poppins Bold"/>
                <a:ea typeface="Poppins Bold"/>
                <a:cs typeface="Poppins Bold"/>
                <a:sym typeface="Poppins Bold"/>
              </a:rPr>
              <a:t>Ob</a:t>
            </a:r>
            <a:r>
              <a:rPr lang="en-US" b="true" sz="3299">
                <a:solidFill>
                  <a:srgbClr val="59524B"/>
                </a:solidFill>
                <a:latin typeface="Poppins Bold"/>
                <a:ea typeface="Poppins Bold"/>
                <a:cs typeface="Poppins Bold"/>
                <a:sym typeface="Poppins Bold"/>
              </a:rPr>
              <a:t>servability Rank Test Model BLDC</a:t>
            </a:r>
          </a:p>
        </p:txBody>
      </p:sp>
      <p:sp>
        <p:nvSpPr>
          <p:cNvPr name="TextBox 19" id="19"/>
          <p:cNvSpPr txBox="true"/>
          <p:nvPr/>
        </p:nvSpPr>
        <p:spPr>
          <a:xfrm rot="0">
            <a:off x="1241021" y="6271253"/>
            <a:ext cx="16018279" cy="720725"/>
          </a:xfrm>
          <a:prstGeom prst="rect">
            <a:avLst/>
          </a:prstGeom>
        </p:spPr>
        <p:txBody>
          <a:bodyPr anchor="t" rtlCol="false" tIns="0" lIns="0" bIns="0" rIns="0">
            <a:spAutoFit/>
          </a:bodyPr>
          <a:lstStyle/>
          <a:p>
            <a:pPr algn="l">
              <a:lnSpc>
                <a:spcPts val="2800"/>
              </a:lnSpc>
            </a:pPr>
            <a:r>
              <a:rPr lang="en-US" sz="2000">
                <a:solidFill>
                  <a:srgbClr val="010101"/>
                </a:solidFill>
                <a:latin typeface="Poppins"/>
                <a:ea typeface="Poppins"/>
                <a:cs typeface="Poppins"/>
                <a:sym typeface="Poppins"/>
              </a:rPr>
              <a:t>matriks obs</a:t>
            </a:r>
            <a:r>
              <a:rPr lang="en-US" sz="2000">
                <a:solidFill>
                  <a:srgbClr val="010101"/>
                </a:solidFill>
                <a:latin typeface="Poppins"/>
                <a:ea typeface="Poppins"/>
                <a:cs typeface="Poppins"/>
                <a:sym typeface="Poppins"/>
              </a:rPr>
              <a:t>ervabilita</a:t>
            </a:r>
            <a:r>
              <a:rPr lang="en-US" sz="2000">
                <a:solidFill>
                  <a:srgbClr val="010101"/>
                </a:solidFill>
                <a:latin typeface="Poppins"/>
                <a:ea typeface="Poppins"/>
                <a:cs typeface="Poppins"/>
                <a:sym typeface="Poppins"/>
              </a:rPr>
              <a:t>s Q </a:t>
            </a:r>
            <a:r>
              <a:rPr lang="en-US" sz="2000">
                <a:solidFill>
                  <a:srgbClr val="010101"/>
                </a:solidFill>
                <a:latin typeface="Poppins"/>
                <a:ea typeface="Poppins"/>
                <a:cs typeface="Poppins"/>
                <a:sym typeface="Poppins"/>
              </a:rPr>
              <a:t>d</a:t>
            </a:r>
            <a:r>
              <a:rPr lang="en-US" sz="2000">
                <a:solidFill>
                  <a:srgbClr val="010101"/>
                </a:solidFill>
                <a:latin typeface="Poppins"/>
                <a:ea typeface="Poppins"/>
                <a:cs typeface="Poppins"/>
                <a:sym typeface="Poppins"/>
              </a:rPr>
              <a:t>i</a:t>
            </a:r>
            <a:r>
              <a:rPr lang="en-US" sz="2000">
                <a:solidFill>
                  <a:srgbClr val="010101"/>
                </a:solidFill>
                <a:latin typeface="Poppins"/>
                <a:ea typeface="Poppins"/>
                <a:cs typeface="Poppins"/>
                <a:sym typeface="Poppins"/>
              </a:rPr>
              <a:t>konstr</a:t>
            </a:r>
            <a:r>
              <a:rPr lang="en-US" sz="2000">
                <a:solidFill>
                  <a:srgbClr val="010101"/>
                </a:solidFill>
                <a:latin typeface="Poppins"/>
                <a:ea typeface="Poppins"/>
                <a:cs typeface="Poppins"/>
                <a:sym typeface="Poppins"/>
              </a:rPr>
              <a:t>uksi dari gradien 𝑑ℎ dan gradien Lie derivative pertama 𝑑𝐿𝑓ℎ. </a:t>
            </a:r>
          </a:p>
          <a:p>
            <a:pPr algn="l">
              <a:lnSpc>
                <a:spcPts val="2800"/>
              </a:lnSpc>
            </a:pPr>
            <a:r>
              <a:rPr lang="en-US" sz="2000">
                <a:solidFill>
                  <a:srgbClr val="010101"/>
                </a:solidFill>
                <a:latin typeface="Poppins"/>
                <a:ea typeface="Poppins"/>
                <a:cs typeface="Poppins"/>
                <a:sym typeface="Poppins"/>
              </a:rPr>
              <a:t>Gradien 𝑑ℎ diperoleh sebagai. </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5313" y="464654"/>
            <a:ext cx="4620127" cy="1523631"/>
            <a:chOff x="0" y="0"/>
            <a:chExt cx="1646395" cy="542950"/>
          </a:xfrm>
        </p:grpSpPr>
        <p:sp>
          <p:nvSpPr>
            <p:cNvPr name="Freeform 3" id="3"/>
            <p:cNvSpPr/>
            <p:nvPr/>
          </p:nvSpPr>
          <p:spPr>
            <a:xfrm flipH="false" flipV="false" rot="0">
              <a:off x="0" y="0"/>
              <a:ext cx="1646395" cy="542950"/>
            </a:xfrm>
            <a:custGeom>
              <a:avLst/>
              <a:gdLst/>
              <a:ahLst/>
              <a:cxnLst/>
              <a:rect r="r" b="b" t="t" l="l"/>
              <a:pathLst>
                <a:path h="542950" w="1646395">
                  <a:moveTo>
                    <a:pt x="1443195" y="0"/>
                  </a:moveTo>
                  <a:cubicBezTo>
                    <a:pt x="1555419" y="0"/>
                    <a:pt x="1646395" y="121543"/>
                    <a:pt x="1646395" y="271475"/>
                  </a:cubicBezTo>
                  <a:cubicBezTo>
                    <a:pt x="1646395" y="421406"/>
                    <a:pt x="1555419" y="542950"/>
                    <a:pt x="1443195" y="542950"/>
                  </a:cubicBezTo>
                  <a:lnTo>
                    <a:pt x="203200" y="542950"/>
                  </a:lnTo>
                  <a:cubicBezTo>
                    <a:pt x="90976" y="542950"/>
                    <a:pt x="0" y="421406"/>
                    <a:pt x="0" y="271475"/>
                  </a:cubicBezTo>
                  <a:cubicBezTo>
                    <a:pt x="0" y="121543"/>
                    <a:pt x="90976" y="0"/>
                    <a:pt x="203200" y="0"/>
                  </a:cubicBezTo>
                  <a:close/>
                </a:path>
              </a:pathLst>
            </a:custGeom>
            <a:solidFill>
              <a:srgbClr val="F2F2F2"/>
            </a:solidFill>
          </p:spPr>
        </p:sp>
        <p:sp>
          <p:nvSpPr>
            <p:cNvPr name="TextBox 4" id="4"/>
            <p:cNvSpPr txBox="true"/>
            <p:nvPr/>
          </p:nvSpPr>
          <p:spPr>
            <a:xfrm>
              <a:off x="0" y="-38100"/>
              <a:ext cx="1646395" cy="5810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038174" y="458478"/>
            <a:ext cx="4563040" cy="1140443"/>
            <a:chOff x="0" y="0"/>
            <a:chExt cx="6084053" cy="1520591"/>
          </a:xfrm>
        </p:grpSpPr>
        <p:grpSp>
          <p:nvGrpSpPr>
            <p:cNvPr name="Group 6" id="6"/>
            <p:cNvGrpSpPr/>
            <p:nvPr/>
          </p:nvGrpSpPr>
          <p:grpSpPr>
            <a:xfrm rot="0">
              <a:off x="0" y="0"/>
              <a:ext cx="6084053" cy="1520591"/>
              <a:chOff x="0" y="0"/>
              <a:chExt cx="1626052" cy="406400"/>
            </a:xfrm>
          </p:grpSpPr>
          <p:sp>
            <p:nvSpPr>
              <p:cNvPr name="Freeform 7" id="7"/>
              <p:cNvSpPr/>
              <p:nvPr/>
            </p:nvSpPr>
            <p:spPr>
              <a:xfrm flipH="false" flipV="false" rot="0">
                <a:off x="0" y="0"/>
                <a:ext cx="1626052" cy="406400"/>
              </a:xfrm>
              <a:custGeom>
                <a:avLst/>
                <a:gdLst/>
                <a:ahLst/>
                <a:cxnLst/>
                <a:rect r="r" b="b" t="t" l="l"/>
                <a:pathLst>
                  <a:path h="406400" w="1626052">
                    <a:moveTo>
                      <a:pt x="1422852" y="0"/>
                    </a:moveTo>
                    <a:cubicBezTo>
                      <a:pt x="1535076" y="0"/>
                      <a:pt x="1626052" y="90976"/>
                      <a:pt x="1626052" y="203200"/>
                    </a:cubicBezTo>
                    <a:cubicBezTo>
                      <a:pt x="1626052" y="315424"/>
                      <a:pt x="1535076" y="406400"/>
                      <a:pt x="1422852"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8" id="8"/>
              <p:cNvSpPr txBox="true"/>
              <p:nvPr/>
            </p:nvSpPr>
            <p:spPr>
              <a:xfrm>
                <a:off x="0" y="-38100"/>
                <a:ext cx="1626052" cy="44450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414535" y="124612"/>
              <a:ext cx="5254984" cy="1271367"/>
            </a:xfrm>
            <a:custGeom>
              <a:avLst/>
              <a:gdLst/>
              <a:ahLst/>
              <a:cxnLst/>
              <a:rect r="r" b="b" t="t" l="l"/>
              <a:pathLst>
                <a:path h="1271367" w="5254984">
                  <a:moveTo>
                    <a:pt x="0" y="0"/>
                  </a:moveTo>
                  <a:lnTo>
                    <a:pt x="5254983" y="0"/>
                  </a:lnTo>
                  <a:lnTo>
                    <a:pt x="5254983" y="1271367"/>
                  </a:lnTo>
                  <a:lnTo>
                    <a:pt x="0" y="1271367"/>
                  </a:lnTo>
                  <a:lnTo>
                    <a:pt x="0" y="0"/>
                  </a:lnTo>
                  <a:close/>
                </a:path>
              </a:pathLst>
            </a:custGeom>
            <a:blipFill>
              <a:blip r:embed="rId2"/>
              <a:stretch>
                <a:fillRect l="0" t="0" r="0" b="0"/>
              </a:stretch>
            </a:blipFill>
          </p:spPr>
        </p:sp>
      </p:grpSp>
      <p:sp>
        <p:nvSpPr>
          <p:cNvPr name="Freeform 10" id="10"/>
          <p:cNvSpPr/>
          <p:nvPr/>
        </p:nvSpPr>
        <p:spPr>
          <a:xfrm flipH="false" flipV="false" rot="0">
            <a:off x="1051559" y="3883826"/>
            <a:ext cx="6904397" cy="2323595"/>
          </a:xfrm>
          <a:custGeom>
            <a:avLst/>
            <a:gdLst/>
            <a:ahLst/>
            <a:cxnLst/>
            <a:rect r="r" b="b" t="t" l="l"/>
            <a:pathLst>
              <a:path h="2323595" w="6904397">
                <a:moveTo>
                  <a:pt x="0" y="0"/>
                </a:moveTo>
                <a:lnTo>
                  <a:pt x="6904397" y="0"/>
                </a:lnTo>
                <a:lnTo>
                  <a:pt x="6904397" y="2323595"/>
                </a:lnTo>
                <a:lnTo>
                  <a:pt x="0" y="2323595"/>
                </a:lnTo>
                <a:lnTo>
                  <a:pt x="0" y="0"/>
                </a:lnTo>
                <a:close/>
              </a:path>
            </a:pathLst>
          </a:custGeom>
          <a:blipFill>
            <a:blip r:embed="rId3"/>
            <a:stretch>
              <a:fillRect l="0" t="0" r="0" b="0"/>
            </a:stretch>
          </a:blipFill>
        </p:spPr>
      </p:sp>
      <p:sp>
        <p:nvSpPr>
          <p:cNvPr name="Freeform 11" id="11"/>
          <p:cNvSpPr/>
          <p:nvPr/>
        </p:nvSpPr>
        <p:spPr>
          <a:xfrm flipH="false" flipV="false" rot="0">
            <a:off x="2192181" y="7385346"/>
            <a:ext cx="4075067" cy="2854424"/>
          </a:xfrm>
          <a:custGeom>
            <a:avLst/>
            <a:gdLst/>
            <a:ahLst/>
            <a:cxnLst/>
            <a:rect r="r" b="b" t="t" l="l"/>
            <a:pathLst>
              <a:path h="2854424" w="4075067">
                <a:moveTo>
                  <a:pt x="0" y="0"/>
                </a:moveTo>
                <a:lnTo>
                  <a:pt x="4075066" y="0"/>
                </a:lnTo>
                <a:lnTo>
                  <a:pt x="4075066" y="2854424"/>
                </a:lnTo>
                <a:lnTo>
                  <a:pt x="0" y="2854424"/>
                </a:lnTo>
                <a:lnTo>
                  <a:pt x="0" y="0"/>
                </a:lnTo>
                <a:close/>
              </a:path>
            </a:pathLst>
          </a:custGeom>
          <a:blipFill>
            <a:blip r:embed="rId4"/>
            <a:stretch>
              <a:fillRect l="0" t="0" r="0" b="0"/>
            </a:stretch>
          </a:blipFill>
        </p:spPr>
      </p:sp>
      <p:sp>
        <p:nvSpPr>
          <p:cNvPr name="TextBox 12" id="12"/>
          <p:cNvSpPr txBox="true"/>
          <p:nvPr/>
        </p:nvSpPr>
        <p:spPr>
          <a:xfrm rot="0">
            <a:off x="1110116" y="1112169"/>
            <a:ext cx="8350650" cy="995271"/>
          </a:xfrm>
          <a:prstGeom prst="rect">
            <a:avLst/>
          </a:prstGeom>
        </p:spPr>
        <p:txBody>
          <a:bodyPr anchor="t" rtlCol="false" tIns="0" lIns="0" bIns="0" rIns="0">
            <a:spAutoFit/>
          </a:bodyPr>
          <a:lstStyle/>
          <a:p>
            <a:pPr algn="l">
              <a:lnSpc>
                <a:spcPts val="8142"/>
              </a:lnSpc>
            </a:pPr>
            <a:r>
              <a:rPr lang="en-US" sz="5816">
                <a:solidFill>
                  <a:srgbClr val="E5C857"/>
                </a:solidFill>
                <a:latin typeface="Bebas Neue 1"/>
                <a:ea typeface="Bebas Neue 1"/>
                <a:cs typeface="Bebas Neue 1"/>
                <a:sym typeface="Bebas Neue 1"/>
              </a:rPr>
              <a:t>analisis model</a:t>
            </a:r>
          </a:p>
        </p:txBody>
      </p:sp>
      <p:sp>
        <p:nvSpPr>
          <p:cNvPr name="TextBox 13" id="13"/>
          <p:cNvSpPr txBox="true"/>
          <p:nvPr/>
        </p:nvSpPr>
        <p:spPr>
          <a:xfrm rot="0">
            <a:off x="1051559" y="344178"/>
            <a:ext cx="4684584" cy="995271"/>
          </a:xfrm>
          <a:prstGeom prst="rect">
            <a:avLst/>
          </a:prstGeom>
        </p:spPr>
        <p:txBody>
          <a:bodyPr anchor="t" rtlCol="false" tIns="0" lIns="0" bIns="0" rIns="0">
            <a:spAutoFit/>
          </a:bodyPr>
          <a:lstStyle/>
          <a:p>
            <a:pPr algn="l">
              <a:lnSpc>
                <a:spcPts val="8142"/>
              </a:lnSpc>
            </a:pPr>
            <a:r>
              <a:rPr lang="en-US" sz="5816">
                <a:solidFill>
                  <a:srgbClr val="59524B"/>
                </a:solidFill>
                <a:latin typeface="Bebas Neue 1"/>
                <a:ea typeface="Bebas Neue 1"/>
                <a:cs typeface="Bebas Neue 1"/>
                <a:sym typeface="Bebas Neue 1"/>
              </a:rPr>
              <a:t>hasil penelitian</a:t>
            </a:r>
          </a:p>
        </p:txBody>
      </p:sp>
      <p:sp>
        <p:nvSpPr>
          <p:cNvPr name="TextBox 14" id="14"/>
          <p:cNvSpPr txBox="true"/>
          <p:nvPr/>
        </p:nvSpPr>
        <p:spPr>
          <a:xfrm rot="0">
            <a:off x="1028700" y="2248701"/>
            <a:ext cx="7993367" cy="523875"/>
          </a:xfrm>
          <a:prstGeom prst="rect">
            <a:avLst/>
          </a:prstGeom>
        </p:spPr>
        <p:txBody>
          <a:bodyPr anchor="t" rtlCol="false" tIns="0" lIns="0" bIns="0" rIns="0">
            <a:spAutoFit/>
          </a:bodyPr>
          <a:lstStyle/>
          <a:p>
            <a:pPr algn="l">
              <a:lnSpc>
                <a:spcPts val="3959"/>
              </a:lnSpc>
            </a:pPr>
            <a:r>
              <a:rPr lang="en-US" sz="3299" b="true">
                <a:solidFill>
                  <a:srgbClr val="59524B"/>
                </a:solidFill>
                <a:latin typeface="Poppins Bold"/>
                <a:ea typeface="Poppins Bold"/>
                <a:cs typeface="Poppins Bold"/>
                <a:sym typeface="Poppins Bold"/>
              </a:rPr>
              <a:t>Ob</a:t>
            </a:r>
            <a:r>
              <a:rPr lang="en-US" b="true" sz="3299">
                <a:solidFill>
                  <a:srgbClr val="59524B"/>
                </a:solidFill>
                <a:latin typeface="Poppins Bold"/>
                <a:ea typeface="Poppins Bold"/>
                <a:cs typeface="Poppins Bold"/>
                <a:sym typeface="Poppins Bold"/>
              </a:rPr>
              <a:t>servability Rank Test Model BLDC</a:t>
            </a:r>
          </a:p>
        </p:txBody>
      </p:sp>
      <p:sp>
        <p:nvSpPr>
          <p:cNvPr name="TextBox 15" id="15"/>
          <p:cNvSpPr txBox="true"/>
          <p:nvPr/>
        </p:nvSpPr>
        <p:spPr>
          <a:xfrm rot="0">
            <a:off x="1028700" y="2991651"/>
            <a:ext cx="16018279" cy="720725"/>
          </a:xfrm>
          <a:prstGeom prst="rect">
            <a:avLst/>
          </a:prstGeom>
        </p:spPr>
        <p:txBody>
          <a:bodyPr anchor="t" rtlCol="false" tIns="0" lIns="0" bIns="0" rIns="0">
            <a:spAutoFit/>
          </a:bodyPr>
          <a:lstStyle/>
          <a:p>
            <a:pPr algn="just">
              <a:lnSpc>
                <a:spcPts val="2800"/>
              </a:lnSpc>
            </a:pPr>
            <a:r>
              <a:rPr lang="en-US" sz="2000">
                <a:solidFill>
                  <a:srgbClr val="010101"/>
                </a:solidFill>
                <a:latin typeface="Poppins"/>
                <a:ea typeface="Poppins"/>
                <a:cs typeface="Poppins"/>
                <a:sym typeface="Poppins"/>
              </a:rPr>
              <a:t>yang menunjukkan bahwa obs</a:t>
            </a:r>
            <a:r>
              <a:rPr lang="en-US" sz="2000">
                <a:solidFill>
                  <a:srgbClr val="010101"/>
                </a:solidFill>
                <a:latin typeface="Poppins"/>
                <a:ea typeface="Poppins"/>
                <a:cs typeface="Poppins"/>
                <a:sym typeface="Poppins"/>
              </a:rPr>
              <a:t>erva</a:t>
            </a:r>
            <a:r>
              <a:rPr lang="en-US" sz="2000">
                <a:solidFill>
                  <a:srgbClr val="010101"/>
                </a:solidFill>
                <a:latin typeface="Poppins"/>
                <a:ea typeface="Poppins"/>
                <a:cs typeface="Poppins"/>
                <a:sym typeface="Poppins"/>
              </a:rPr>
              <a:t>si </a:t>
            </a:r>
            <a:r>
              <a:rPr lang="en-US" sz="2000">
                <a:solidFill>
                  <a:srgbClr val="010101"/>
                </a:solidFill>
                <a:latin typeface="Poppins"/>
                <a:ea typeface="Poppins"/>
                <a:cs typeface="Poppins"/>
                <a:sym typeface="Poppins"/>
              </a:rPr>
              <a:t>outp</a:t>
            </a:r>
            <a:r>
              <a:rPr lang="en-US" sz="2000">
                <a:solidFill>
                  <a:srgbClr val="010101"/>
                </a:solidFill>
                <a:latin typeface="Poppins"/>
                <a:ea typeface="Poppins"/>
                <a:cs typeface="Poppins"/>
                <a:sym typeface="Poppins"/>
              </a:rPr>
              <a:t>ut langsung tidak mengandung informasi tentang 𝜔𝑒 dan 𝜃𝑒 . </a:t>
            </a:r>
          </a:p>
          <a:p>
            <a:pPr algn="just">
              <a:lnSpc>
                <a:spcPts val="2800"/>
              </a:lnSpc>
            </a:pPr>
            <a:r>
              <a:rPr lang="en-US" sz="2000">
                <a:solidFill>
                  <a:srgbClr val="010101"/>
                </a:solidFill>
                <a:latin typeface="Poppins"/>
                <a:ea typeface="Poppins"/>
                <a:cs typeface="Poppins"/>
                <a:sym typeface="Poppins"/>
              </a:rPr>
              <a:t>Melalui komputasi Lie derivative 𝐿𝑓ℎ = 𝑑ℎ ⋅ 𝑓 dan diferensiasinya terhadap seluruh state, diperoleh.</a:t>
            </a:r>
          </a:p>
        </p:txBody>
      </p:sp>
      <p:sp>
        <p:nvSpPr>
          <p:cNvPr name="TextBox 16" id="16"/>
          <p:cNvSpPr txBox="true"/>
          <p:nvPr/>
        </p:nvSpPr>
        <p:spPr>
          <a:xfrm rot="0">
            <a:off x="1028700" y="6312196"/>
            <a:ext cx="16207741" cy="1073150"/>
          </a:xfrm>
          <a:prstGeom prst="rect">
            <a:avLst/>
          </a:prstGeom>
        </p:spPr>
        <p:txBody>
          <a:bodyPr anchor="t" rtlCol="false" tIns="0" lIns="0" bIns="0" rIns="0">
            <a:spAutoFit/>
          </a:bodyPr>
          <a:lstStyle/>
          <a:p>
            <a:pPr algn="just">
              <a:lnSpc>
                <a:spcPts val="2800"/>
              </a:lnSpc>
            </a:pPr>
            <a:r>
              <a:rPr lang="en-US" sz="2000">
                <a:solidFill>
                  <a:srgbClr val="010101"/>
                </a:solidFill>
                <a:latin typeface="Poppins"/>
                <a:ea typeface="Poppins"/>
                <a:cs typeface="Poppins"/>
                <a:sym typeface="Poppins"/>
              </a:rPr>
              <a:t>Matriks observabilitas Q = [dh; d𝐿𝑓ℎ] yang terbentuk berukuran 6 × 5. Karena Q bukan matriks sim</a:t>
            </a:r>
            <a:r>
              <a:rPr lang="en-US" sz="2000">
                <a:solidFill>
                  <a:srgbClr val="010101"/>
                </a:solidFill>
                <a:latin typeface="Poppins"/>
                <a:ea typeface="Poppins"/>
                <a:cs typeface="Poppins"/>
                <a:sym typeface="Poppins"/>
              </a:rPr>
              <a:t>etri</a:t>
            </a:r>
            <a:r>
              <a:rPr lang="en-US" sz="2000">
                <a:solidFill>
                  <a:srgbClr val="010101"/>
                </a:solidFill>
                <a:latin typeface="Poppins"/>
                <a:ea typeface="Poppins"/>
                <a:cs typeface="Poppins"/>
                <a:sym typeface="Poppins"/>
              </a:rPr>
              <a:t>s, uji rank dilak</a:t>
            </a:r>
            <a:r>
              <a:rPr lang="en-US" sz="2000">
                <a:solidFill>
                  <a:srgbClr val="010101"/>
                </a:solidFill>
                <a:latin typeface="Poppins"/>
                <a:ea typeface="Poppins"/>
                <a:cs typeface="Poppins"/>
                <a:sym typeface="Poppins"/>
              </a:rPr>
              <a:t>ukan secara bertahap. Tiga baris per</a:t>
            </a:r>
            <a:r>
              <a:rPr lang="en-US" sz="2000">
                <a:solidFill>
                  <a:srgbClr val="010101"/>
                </a:solidFill>
                <a:latin typeface="Poppins"/>
                <a:ea typeface="Poppins"/>
                <a:cs typeface="Poppins"/>
                <a:sym typeface="Poppins"/>
              </a:rPr>
              <a:t>tama yang berasal dari 𝑑ℎ membentuk basis vektor standar 𝑒1,𝑒2,𝑒3 sehingga rank awal adalah 3. Analisis kemudian difokuskan pada submatriks 𝑀 yang dibentuk dari kolom 4 dan 5 pada baris 4–6, yaitu. </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5313" y="464654"/>
            <a:ext cx="4620127" cy="1523631"/>
            <a:chOff x="0" y="0"/>
            <a:chExt cx="1646395" cy="542950"/>
          </a:xfrm>
        </p:grpSpPr>
        <p:sp>
          <p:nvSpPr>
            <p:cNvPr name="Freeform 3" id="3"/>
            <p:cNvSpPr/>
            <p:nvPr/>
          </p:nvSpPr>
          <p:spPr>
            <a:xfrm flipH="false" flipV="false" rot="0">
              <a:off x="0" y="0"/>
              <a:ext cx="1646395" cy="542950"/>
            </a:xfrm>
            <a:custGeom>
              <a:avLst/>
              <a:gdLst/>
              <a:ahLst/>
              <a:cxnLst/>
              <a:rect r="r" b="b" t="t" l="l"/>
              <a:pathLst>
                <a:path h="542950" w="1646395">
                  <a:moveTo>
                    <a:pt x="1443195" y="0"/>
                  </a:moveTo>
                  <a:cubicBezTo>
                    <a:pt x="1555419" y="0"/>
                    <a:pt x="1646395" y="121543"/>
                    <a:pt x="1646395" y="271475"/>
                  </a:cubicBezTo>
                  <a:cubicBezTo>
                    <a:pt x="1646395" y="421406"/>
                    <a:pt x="1555419" y="542950"/>
                    <a:pt x="1443195" y="542950"/>
                  </a:cubicBezTo>
                  <a:lnTo>
                    <a:pt x="203200" y="542950"/>
                  </a:lnTo>
                  <a:cubicBezTo>
                    <a:pt x="90976" y="542950"/>
                    <a:pt x="0" y="421406"/>
                    <a:pt x="0" y="271475"/>
                  </a:cubicBezTo>
                  <a:cubicBezTo>
                    <a:pt x="0" y="121543"/>
                    <a:pt x="90976" y="0"/>
                    <a:pt x="203200" y="0"/>
                  </a:cubicBezTo>
                  <a:close/>
                </a:path>
              </a:pathLst>
            </a:custGeom>
            <a:solidFill>
              <a:srgbClr val="F2F2F2"/>
            </a:solidFill>
          </p:spPr>
        </p:sp>
        <p:sp>
          <p:nvSpPr>
            <p:cNvPr name="TextBox 4" id="4"/>
            <p:cNvSpPr txBox="true"/>
            <p:nvPr/>
          </p:nvSpPr>
          <p:spPr>
            <a:xfrm>
              <a:off x="0" y="-38100"/>
              <a:ext cx="1646395" cy="5810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038174" y="458478"/>
            <a:ext cx="4563040" cy="1140443"/>
            <a:chOff x="0" y="0"/>
            <a:chExt cx="6084053" cy="1520591"/>
          </a:xfrm>
        </p:grpSpPr>
        <p:grpSp>
          <p:nvGrpSpPr>
            <p:cNvPr name="Group 6" id="6"/>
            <p:cNvGrpSpPr/>
            <p:nvPr/>
          </p:nvGrpSpPr>
          <p:grpSpPr>
            <a:xfrm rot="0">
              <a:off x="0" y="0"/>
              <a:ext cx="6084053" cy="1520591"/>
              <a:chOff x="0" y="0"/>
              <a:chExt cx="1626052" cy="406400"/>
            </a:xfrm>
          </p:grpSpPr>
          <p:sp>
            <p:nvSpPr>
              <p:cNvPr name="Freeform 7" id="7"/>
              <p:cNvSpPr/>
              <p:nvPr/>
            </p:nvSpPr>
            <p:spPr>
              <a:xfrm flipH="false" flipV="false" rot="0">
                <a:off x="0" y="0"/>
                <a:ext cx="1626052" cy="406400"/>
              </a:xfrm>
              <a:custGeom>
                <a:avLst/>
                <a:gdLst/>
                <a:ahLst/>
                <a:cxnLst/>
                <a:rect r="r" b="b" t="t" l="l"/>
                <a:pathLst>
                  <a:path h="406400" w="1626052">
                    <a:moveTo>
                      <a:pt x="1422852" y="0"/>
                    </a:moveTo>
                    <a:cubicBezTo>
                      <a:pt x="1535076" y="0"/>
                      <a:pt x="1626052" y="90976"/>
                      <a:pt x="1626052" y="203200"/>
                    </a:cubicBezTo>
                    <a:cubicBezTo>
                      <a:pt x="1626052" y="315424"/>
                      <a:pt x="1535076" y="406400"/>
                      <a:pt x="1422852"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8" id="8"/>
              <p:cNvSpPr txBox="true"/>
              <p:nvPr/>
            </p:nvSpPr>
            <p:spPr>
              <a:xfrm>
                <a:off x="0" y="-38100"/>
                <a:ext cx="1626052" cy="44450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414535" y="124612"/>
              <a:ext cx="5254984" cy="1271367"/>
            </a:xfrm>
            <a:custGeom>
              <a:avLst/>
              <a:gdLst/>
              <a:ahLst/>
              <a:cxnLst/>
              <a:rect r="r" b="b" t="t" l="l"/>
              <a:pathLst>
                <a:path h="1271367" w="5254984">
                  <a:moveTo>
                    <a:pt x="0" y="0"/>
                  </a:moveTo>
                  <a:lnTo>
                    <a:pt x="5254983" y="0"/>
                  </a:lnTo>
                  <a:lnTo>
                    <a:pt x="5254983" y="1271367"/>
                  </a:lnTo>
                  <a:lnTo>
                    <a:pt x="0" y="1271367"/>
                  </a:lnTo>
                  <a:lnTo>
                    <a:pt x="0" y="0"/>
                  </a:lnTo>
                  <a:close/>
                </a:path>
              </a:pathLst>
            </a:custGeom>
            <a:blipFill>
              <a:blip r:embed="rId2"/>
              <a:stretch>
                <a:fillRect l="0" t="0" r="0" b="0"/>
              </a:stretch>
            </a:blipFill>
          </p:spPr>
        </p:sp>
      </p:grpSp>
      <p:sp>
        <p:nvSpPr>
          <p:cNvPr name="Freeform 10" id="10"/>
          <p:cNvSpPr/>
          <p:nvPr/>
        </p:nvSpPr>
        <p:spPr>
          <a:xfrm flipH="false" flipV="false" rot="0">
            <a:off x="1632626" y="3531401"/>
            <a:ext cx="6464545" cy="1676683"/>
          </a:xfrm>
          <a:custGeom>
            <a:avLst/>
            <a:gdLst/>
            <a:ahLst/>
            <a:cxnLst/>
            <a:rect r="r" b="b" t="t" l="l"/>
            <a:pathLst>
              <a:path h="1676683" w="6464545">
                <a:moveTo>
                  <a:pt x="0" y="0"/>
                </a:moveTo>
                <a:lnTo>
                  <a:pt x="6464545" y="0"/>
                </a:lnTo>
                <a:lnTo>
                  <a:pt x="6464545" y="1676683"/>
                </a:lnTo>
                <a:lnTo>
                  <a:pt x="0" y="1676683"/>
                </a:lnTo>
                <a:lnTo>
                  <a:pt x="0" y="0"/>
                </a:lnTo>
                <a:close/>
              </a:path>
            </a:pathLst>
          </a:custGeom>
          <a:blipFill>
            <a:blip r:embed="rId3"/>
            <a:stretch>
              <a:fillRect l="0" t="0" r="0" b="0"/>
            </a:stretch>
          </a:blipFill>
        </p:spPr>
      </p:sp>
      <p:sp>
        <p:nvSpPr>
          <p:cNvPr name="Freeform 11" id="11"/>
          <p:cNvSpPr/>
          <p:nvPr/>
        </p:nvSpPr>
        <p:spPr>
          <a:xfrm flipH="false" flipV="false" rot="0">
            <a:off x="7141568" y="6433634"/>
            <a:ext cx="3760998" cy="537285"/>
          </a:xfrm>
          <a:custGeom>
            <a:avLst/>
            <a:gdLst/>
            <a:ahLst/>
            <a:cxnLst/>
            <a:rect r="r" b="b" t="t" l="l"/>
            <a:pathLst>
              <a:path h="537285" w="3760998">
                <a:moveTo>
                  <a:pt x="0" y="0"/>
                </a:moveTo>
                <a:lnTo>
                  <a:pt x="3760999" y="0"/>
                </a:lnTo>
                <a:lnTo>
                  <a:pt x="3760999" y="537285"/>
                </a:lnTo>
                <a:lnTo>
                  <a:pt x="0" y="537285"/>
                </a:lnTo>
                <a:lnTo>
                  <a:pt x="0" y="0"/>
                </a:lnTo>
                <a:close/>
              </a:path>
            </a:pathLst>
          </a:custGeom>
          <a:blipFill>
            <a:blip r:embed="rId4"/>
            <a:stretch>
              <a:fillRect l="0" t="0" r="0" b="0"/>
            </a:stretch>
          </a:blipFill>
        </p:spPr>
      </p:sp>
      <p:sp>
        <p:nvSpPr>
          <p:cNvPr name="TextBox 12" id="12"/>
          <p:cNvSpPr txBox="true"/>
          <p:nvPr/>
        </p:nvSpPr>
        <p:spPr>
          <a:xfrm rot="0">
            <a:off x="1110116" y="1112169"/>
            <a:ext cx="8350650" cy="995271"/>
          </a:xfrm>
          <a:prstGeom prst="rect">
            <a:avLst/>
          </a:prstGeom>
        </p:spPr>
        <p:txBody>
          <a:bodyPr anchor="t" rtlCol="false" tIns="0" lIns="0" bIns="0" rIns="0">
            <a:spAutoFit/>
          </a:bodyPr>
          <a:lstStyle/>
          <a:p>
            <a:pPr algn="l">
              <a:lnSpc>
                <a:spcPts val="8142"/>
              </a:lnSpc>
            </a:pPr>
            <a:r>
              <a:rPr lang="en-US" sz="5816">
                <a:solidFill>
                  <a:srgbClr val="E5C857"/>
                </a:solidFill>
                <a:latin typeface="Bebas Neue 1"/>
                <a:ea typeface="Bebas Neue 1"/>
                <a:cs typeface="Bebas Neue 1"/>
                <a:sym typeface="Bebas Neue 1"/>
              </a:rPr>
              <a:t>analisis model</a:t>
            </a:r>
          </a:p>
        </p:txBody>
      </p:sp>
      <p:sp>
        <p:nvSpPr>
          <p:cNvPr name="TextBox 13" id="13"/>
          <p:cNvSpPr txBox="true"/>
          <p:nvPr/>
        </p:nvSpPr>
        <p:spPr>
          <a:xfrm rot="0">
            <a:off x="1051559" y="344178"/>
            <a:ext cx="4684584" cy="995271"/>
          </a:xfrm>
          <a:prstGeom prst="rect">
            <a:avLst/>
          </a:prstGeom>
        </p:spPr>
        <p:txBody>
          <a:bodyPr anchor="t" rtlCol="false" tIns="0" lIns="0" bIns="0" rIns="0">
            <a:spAutoFit/>
          </a:bodyPr>
          <a:lstStyle/>
          <a:p>
            <a:pPr algn="l">
              <a:lnSpc>
                <a:spcPts val="8142"/>
              </a:lnSpc>
            </a:pPr>
            <a:r>
              <a:rPr lang="en-US" sz="5816">
                <a:solidFill>
                  <a:srgbClr val="59524B"/>
                </a:solidFill>
                <a:latin typeface="Bebas Neue 1"/>
                <a:ea typeface="Bebas Neue 1"/>
                <a:cs typeface="Bebas Neue 1"/>
                <a:sym typeface="Bebas Neue 1"/>
              </a:rPr>
              <a:t>hasil penelitian</a:t>
            </a:r>
          </a:p>
        </p:txBody>
      </p:sp>
      <p:sp>
        <p:nvSpPr>
          <p:cNvPr name="TextBox 14" id="14"/>
          <p:cNvSpPr txBox="true"/>
          <p:nvPr/>
        </p:nvSpPr>
        <p:spPr>
          <a:xfrm rot="0">
            <a:off x="1028700" y="2248701"/>
            <a:ext cx="7993367" cy="523875"/>
          </a:xfrm>
          <a:prstGeom prst="rect">
            <a:avLst/>
          </a:prstGeom>
        </p:spPr>
        <p:txBody>
          <a:bodyPr anchor="t" rtlCol="false" tIns="0" lIns="0" bIns="0" rIns="0">
            <a:spAutoFit/>
          </a:bodyPr>
          <a:lstStyle/>
          <a:p>
            <a:pPr algn="l">
              <a:lnSpc>
                <a:spcPts val="3959"/>
              </a:lnSpc>
            </a:pPr>
            <a:r>
              <a:rPr lang="en-US" sz="3299" b="true">
                <a:solidFill>
                  <a:srgbClr val="59524B"/>
                </a:solidFill>
                <a:latin typeface="Poppins Bold"/>
                <a:ea typeface="Poppins Bold"/>
                <a:cs typeface="Poppins Bold"/>
                <a:sym typeface="Poppins Bold"/>
              </a:rPr>
              <a:t>Ob</a:t>
            </a:r>
            <a:r>
              <a:rPr lang="en-US" b="true" sz="3299">
                <a:solidFill>
                  <a:srgbClr val="59524B"/>
                </a:solidFill>
                <a:latin typeface="Poppins Bold"/>
                <a:ea typeface="Poppins Bold"/>
                <a:cs typeface="Poppins Bold"/>
                <a:sym typeface="Poppins Bold"/>
              </a:rPr>
              <a:t>servability Rank Test Model BLDC</a:t>
            </a:r>
          </a:p>
        </p:txBody>
      </p:sp>
      <p:sp>
        <p:nvSpPr>
          <p:cNvPr name="TextBox 15" id="15"/>
          <p:cNvSpPr txBox="true"/>
          <p:nvPr/>
        </p:nvSpPr>
        <p:spPr>
          <a:xfrm rot="0">
            <a:off x="1028700" y="2991651"/>
            <a:ext cx="16018279" cy="368300"/>
          </a:xfrm>
          <a:prstGeom prst="rect">
            <a:avLst/>
          </a:prstGeom>
        </p:spPr>
        <p:txBody>
          <a:bodyPr anchor="t" rtlCol="false" tIns="0" lIns="0" bIns="0" rIns="0">
            <a:spAutoFit/>
          </a:bodyPr>
          <a:lstStyle/>
          <a:p>
            <a:pPr algn="l">
              <a:lnSpc>
                <a:spcPts val="2800"/>
              </a:lnSpc>
            </a:pPr>
            <a:r>
              <a:rPr lang="en-US" sz="2000">
                <a:solidFill>
                  <a:srgbClr val="010101"/>
                </a:solidFill>
                <a:latin typeface="Poppins"/>
                <a:ea typeface="Poppins"/>
                <a:cs typeface="Poppins"/>
                <a:sym typeface="Poppins"/>
              </a:rPr>
              <a:t>Det</a:t>
            </a:r>
            <a:r>
              <a:rPr lang="en-US" sz="2000">
                <a:solidFill>
                  <a:srgbClr val="010101"/>
                </a:solidFill>
                <a:latin typeface="Poppins"/>
                <a:ea typeface="Poppins"/>
                <a:cs typeface="Poppins"/>
                <a:sym typeface="Poppins"/>
              </a:rPr>
              <a:t>erm</a:t>
            </a:r>
            <a:r>
              <a:rPr lang="en-US" sz="2000">
                <a:solidFill>
                  <a:srgbClr val="010101"/>
                </a:solidFill>
                <a:latin typeface="Poppins"/>
                <a:ea typeface="Poppins"/>
                <a:cs typeface="Poppins"/>
                <a:sym typeface="Poppins"/>
              </a:rPr>
              <a:t>inan dari minor 2 × 2 pertama submatriks ini dihitung sebagai.</a:t>
            </a:r>
          </a:p>
        </p:txBody>
      </p:sp>
      <p:sp>
        <p:nvSpPr>
          <p:cNvPr name="TextBox 16" id="16"/>
          <p:cNvSpPr txBox="true"/>
          <p:nvPr/>
        </p:nvSpPr>
        <p:spPr>
          <a:xfrm rot="0">
            <a:off x="1051559" y="5427159"/>
            <a:ext cx="16018279" cy="720725"/>
          </a:xfrm>
          <a:prstGeom prst="rect">
            <a:avLst/>
          </a:prstGeom>
        </p:spPr>
        <p:txBody>
          <a:bodyPr anchor="t" rtlCol="false" tIns="0" lIns="0" bIns="0" rIns="0">
            <a:spAutoFit/>
          </a:bodyPr>
          <a:lstStyle/>
          <a:p>
            <a:pPr algn="l">
              <a:lnSpc>
                <a:spcPts val="2800"/>
              </a:lnSpc>
            </a:pPr>
            <a:r>
              <a:rPr lang="en-US" sz="2000">
                <a:solidFill>
                  <a:srgbClr val="010101"/>
                </a:solidFill>
                <a:latin typeface="Poppins"/>
                <a:ea typeface="Poppins"/>
                <a:cs typeface="Poppins"/>
                <a:sym typeface="Poppins"/>
              </a:rPr>
              <a:t>Hasil ini </a:t>
            </a:r>
            <a:r>
              <a:rPr lang="en-US" sz="2000">
                <a:solidFill>
                  <a:srgbClr val="010101"/>
                </a:solidFill>
                <a:latin typeface="Poppins"/>
                <a:ea typeface="Poppins"/>
                <a:cs typeface="Poppins"/>
                <a:sym typeface="Poppins"/>
              </a:rPr>
              <a:t>me</a:t>
            </a:r>
            <a:r>
              <a:rPr lang="en-US" sz="2000">
                <a:solidFill>
                  <a:srgbClr val="010101"/>
                </a:solidFill>
                <a:latin typeface="Poppins"/>
                <a:ea typeface="Poppins"/>
                <a:cs typeface="Poppins"/>
                <a:sym typeface="Poppins"/>
              </a:rPr>
              <a:t>nunjukkan bahwa det (𝑀12) ≠ 0 jika dan hanya jika 𝜔𝑒 ≠ 0, sehingga rank Q naik menjadi 5 hanya pada kondisi tersebut.</a:t>
            </a:r>
          </a:p>
        </p:txBody>
      </p:sp>
      <p:sp>
        <p:nvSpPr>
          <p:cNvPr name="TextBox 17" id="17"/>
          <p:cNvSpPr txBox="true"/>
          <p:nvPr/>
        </p:nvSpPr>
        <p:spPr>
          <a:xfrm rot="0">
            <a:off x="1051559" y="7357807"/>
            <a:ext cx="16018279" cy="368300"/>
          </a:xfrm>
          <a:prstGeom prst="rect">
            <a:avLst/>
          </a:prstGeom>
        </p:spPr>
        <p:txBody>
          <a:bodyPr anchor="t" rtlCol="false" tIns="0" lIns="0" bIns="0" rIns="0">
            <a:spAutoFit/>
          </a:bodyPr>
          <a:lstStyle/>
          <a:p>
            <a:pPr algn="l">
              <a:lnSpc>
                <a:spcPts val="2800"/>
              </a:lnSpc>
            </a:pPr>
            <a:r>
              <a:rPr lang="en-US" sz="2000">
                <a:solidFill>
                  <a:srgbClr val="010101"/>
                </a:solidFill>
                <a:latin typeface="Poppins"/>
                <a:ea typeface="Poppins"/>
                <a:cs typeface="Poppins"/>
                <a:sym typeface="Poppins"/>
              </a:rPr>
              <a:t>Model BLDC b</a:t>
            </a:r>
            <a:r>
              <a:rPr lang="en-US" sz="2000">
                <a:solidFill>
                  <a:srgbClr val="010101"/>
                </a:solidFill>
                <a:latin typeface="Poppins"/>
                <a:ea typeface="Poppins"/>
                <a:cs typeface="Poppins"/>
                <a:sym typeface="Poppins"/>
              </a:rPr>
              <a:t>ersifat loc</a:t>
            </a:r>
            <a:r>
              <a:rPr lang="en-US" sz="2000">
                <a:solidFill>
                  <a:srgbClr val="010101"/>
                </a:solidFill>
                <a:latin typeface="Poppins"/>
                <a:ea typeface="Poppins"/>
                <a:cs typeface="Poppins"/>
                <a:sym typeface="Poppins"/>
              </a:rPr>
              <a:t>ally observable jika dan hanya jika motor dalam kondisi berputar (𝜔𝑒 ≠ 0)</a:t>
            </a:r>
          </a:p>
        </p:txBody>
      </p:sp>
      <p:sp>
        <p:nvSpPr>
          <p:cNvPr name="TextBox 18" id="18"/>
          <p:cNvSpPr txBox="true"/>
          <p:nvPr/>
        </p:nvSpPr>
        <p:spPr>
          <a:xfrm rot="0">
            <a:off x="2717071" y="8239125"/>
            <a:ext cx="6376778" cy="1019175"/>
          </a:xfrm>
          <a:prstGeom prst="rect">
            <a:avLst/>
          </a:prstGeom>
        </p:spPr>
        <p:txBody>
          <a:bodyPr anchor="t" rtlCol="false" tIns="0" lIns="0" bIns="0" rIns="0">
            <a:spAutoFit/>
          </a:bodyPr>
          <a:lstStyle/>
          <a:p>
            <a:pPr algn="l">
              <a:lnSpc>
                <a:spcPts val="3959"/>
              </a:lnSpc>
            </a:pPr>
            <a:r>
              <a:rPr lang="en-US" sz="3299" b="true">
                <a:solidFill>
                  <a:srgbClr val="59524B"/>
                </a:solidFill>
                <a:latin typeface="Poppins Bold"/>
                <a:ea typeface="Poppins Bold"/>
                <a:cs typeface="Poppins Bold"/>
                <a:sym typeface="Poppins Bold"/>
              </a:rPr>
              <a:t>Menimbulkan masalah saat BLDC pada kondisi stand still</a:t>
            </a:r>
          </a:p>
        </p:txBody>
      </p:sp>
      <p:sp>
        <p:nvSpPr>
          <p:cNvPr name="AutoShape 19" id="19"/>
          <p:cNvSpPr/>
          <p:nvPr/>
        </p:nvSpPr>
        <p:spPr>
          <a:xfrm>
            <a:off x="9137733" y="8763000"/>
            <a:ext cx="422662" cy="0"/>
          </a:xfrm>
          <a:prstGeom prst="line">
            <a:avLst/>
          </a:prstGeom>
          <a:ln cap="flat" w="76200">
            <a:solidFill>
              <a:srgbClr val="59524B"/>
            </a:solidFill>
            <a:prstDash val="solid"/>
            <a:headEnd type="none" len="sm" w="sm"/>
            <a:tailEnd type="triangle" len="med" w="lg"/>
          </a:ln>
        </p:spPr>
      </p:sp>
      <p:sp>
        <p:nvSpPr>
          <p:cNvPr name="TextBox 20" id="20"/>
          <p:cNvSpPr txBox="true"/>
          <p:nvPr/>
        </p:nvSpPr>
        <p:spPr>
          <a:xfrm rot="0">
            <a:off x="9827682" y="8486775"/>
            <a:ext cx="6376778" cy="523875"/>
          </a:xfrm>
          <a:prstGeom prst="rect">
            <a:avLst/>
          </a:prstGeom>
        </p:spPr>
        <p:txBody>
          <a:bodyPr anchor="t" rtlCol="false" tIns="0" lIns="0" bIns="0" rIns="0">
            <a:spAutoFit/>
          </a:bodyPr>
          <a:lstStyle/>
          <a:p>
            <a:pPr algn="l">
              <a:lnSpc>
                <a:spcPts val="3959"/>
              </a:lnSpc>
            </a:pPr>
            <a:r>
              <a:rPr lang="en-US" sz="3299" b="true">
                <a:solidFill>
                  <a:srgbClr val="59524B"/>
                </a:solidFill>
                <a:latin typeface="Poppins Bold"/>
                <a:ea typeface="Poppins Bold"/>
                <a:cs typeface="Poppins Bold"/>
                <a:sym typeface="Poppins Bold"/>
              </a:rPr>
              <a:t>Unobservable</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5313" y="464654"/>
            <a:ext cx="4620127" cy="1523631"/>
            <a:chOff x="0" y="0"/>
            <a:chExt cx="1646395" cy="542950"/>
          </a:xfrm>
        </p:grpSpPr>
        <p:sp>
          <p:nvSpPr>
            <p:cNvPr name="Freeform 3" id="3"/>
            <p:cNvSpPr/>
            <p:nvPr/>
          </p:nvSpPr>
          <p:spPr>
            <a:xfrm flipH="false" flipV="false" rot="0">
              <a:off x="0" y="0"/>
              <a:ext cx="1646395" cy="542950"/>
            </a:xfrm>
            <a:custGeom>
              <a:avLst/>
              <a:gdLst/>
              <a:ahLst/>
              <a:cxnLst/>
              <a:rect r="r" b="b" t="t" l="l"/>
              <a:pathLst>
                <a:path h="542950" w="1646395">
                  <a:moveTo>
                    <a:pt x="1443195" y="0"/>
                  </a:moveTo>
                  <a:cubicBezTo>
                    <a:pt x="1555419" y="0"/>
                    <a:pt x="1646395" y="121543"/>
                    <a:pt x="1646395" y="271475"/>
                  </a:cubicBezTo>
                  <a:cubicBezTo>
                    <a:pt x="1646395" y="421406"/>
                    <a:pt x="1555419" y="542950"/>
                    <a:pt x="1443195" y="542950"/>
                  </a:cubicBezTo>
                  <a:lnTo>
                    <a:pt x="203200" y="542950"/>
                  </a:lnTo>
                  <a:cubicBezTo>
                    <a:pt x="90976" y="542950"/>
                    <a:pt x="0" y="421406"/>
                    <a:pt x="0" y="271475"/>
                  </a:cubicBezTo>
                  <a:cubicBezTo>
                    <a:pt x="0" y="121543"/>
                    <a:pt x="90976" y="0"/>
                    <a:pt x="203200" y="0"/>
                  </a:cubicBezTo>
                  <a:close/>
                </a:path>
              </a:pathLst>
            </a:custGeom>
            <a:solidFill>
              <a:srgbClr val="F2F2F2"/>
            </a:solidFill>
          </p:spPr>
        </p:sp>
        <p:sp>
          <p:nvSpPr>
            <p:cNvPr name="TextBox 4" id="4"/>
            <p:cNvSpPr txBox="true"/>
            <p:nvPr/>
          </p:nvSpPr>
          <p:spPr>
            <a:xfrm>
              <a:off x="0" y="-38100"/>
              <a:ext cx="1646395" cy="5810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038174" y="458478"/>
            <a:ext cx="4563040" cy="1140443"/>
            <a:chOff x="0" y="0"/>
            <a:chExt cx="6084053" cy="1520591"/>
          </a:xfrm>
        </p:grpSpPr>
        <p:grpSp>
          <p:nvGrpSpPr>
            <p:cNvPr name="Group 6" id="6"/>
            <p:cNvGrpSpPr/>
            <p:nvPr/>
          </p:nvGrpSpPr>
          <p:grpSpPr>
            <a:xfrm rot="0">
              <a:off x="0" y="0"/>
              <a:ext cx="6084053" cy="1520591"/>
              <a:chOff x="0" y="0"/>
              <a:chExt cx="1626052" cy="406400"/>
            </a:xfrm>
          </p:grpSpPr>
          <p:sp>
            <p:nvSpPr>
              <p:cNvPr name="Freeform 7" id="7"/>
              <p:cNvSpPr/>
              <p:nvPr/>
            </p:nvSpPr>
            <p:spPr>
              <a:xfrm flipH="false" flipV="false" rot="0">
                <a:off x="0" y="0"/>
                <a:ext cx="1626052" cy="406400"/>
              </a:xfrm>
              <a:custGeom>
                <a:avLst/>
                <a:gdLst/>
                <a:ahLst/>
                <a:cxnLst/>
                <a:rect r="r" b="b" t="t" l="l"/>
                <a:pathLst>
                  <a:path h="406400" w="1626052">
                    <a:moveTo>
                      <a:pt x="1422852" y="0"/>
                    </a:moveTo>
                    <a:cubicBezTo>
                      <a:pt x="1535076" y="0"/>
                      <a:pt x="1626052" y="90976"/>
                      <a:pt x="1626052" y="203200"/>
                    </a:cubicBezTo>
                    <a:cubicBezTo>
                      <a:pt x="1626052" y="315424"/>
                      <a:pt x="1535076" y="406400"/>
                      <a:pt x="1422852"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8" id="8"/>
              <p:cNvSpPr txBox="true"/>
              <p:nvPr/>
            </p:nvSpPr>
            <p:spPr>
              <a:xfrm>
                <a:off x="0" y="-38100"/>
                <a:ext cx="1626052" cy="44450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414535" y="124612"/>
              <a:ext cx="5254984" cy="1271367"/>
            </a:xfrm>
            <a:custGeom>
              <a:avLst/>
              <a:gdLst/>
              <a:ahLst/>
              <a:cxnLst/>
              <a:rect r="r" b="b" t="t" l="l"/>
              <a:pathLst>
                <a:path h="1271367" w="5254984">
                  <a:moveTo>
                    <a:pt x="0" y="0"/>
                  </a:moveTo>
                  <a:lnTo>
                    <a:pt x="5254983" y="0"/>
                  </a:lnTo>
                  <a:lnTo>
                    <a:pt x="5254983" y="1271367"/>
                  </a:lnTo>
                  <a:lnTo>
                    <a:pt x="0" y="1271367"/>
                  </a:lnTo>
                  <a:lnTo>
                    <a:pt x="0" y="0"/>
                  </a:lnTo>
                  <a:close/>
                </a:path>
              </a:pathLst>
            </a:custGeom>
            <a:blipFill>
              <a:blip r:embed="rId2"/>
              <a:stretch>
                <a:fillRect l="0" t="0" r="0" b="0"/>
              </a:stretch>
            </a:blipFill>
          </p:spPr>
        </p:sp>
      </p:grpSp>
      <p:sp>
        <p:nvSpPr>
          <p:cNvPr name="AutoShape 10" id="10"/>
          <p:cNvSpPr/>
          <p:nvPr/>
        </p:nvSpPr>
        <p:spPr>
          <a:xfrm>
            <a:off x="8633030" y="4100913"/>
            <a:ext cx="856069" cy="0"/>
          </a:xfrm>
          <a:prstGeom prst="line">
            <a:avLst/>
          </a:prstGeom>
          <a:ln cap="flat" w="76200">
            <a:solidFill>
              <a:srgbClr val="E5C857"/>
            </a:solidFill>
            <a:prstDash val="solid"/>
            <a:headEnd type="none" len="sm" w="sm"/>
            <a:tailEnd type="triangle" len="med" w="lg"/>
          </a:ln>
        </p:spPr>
      </p:sp>
      <p:grpSp>
        <p:nvGrpSpPr>
          <p:cNvPr name="Group 11" id="11"/>
          <p:cNvGrpSpPr/>
          <p:nvPr/>
        </p:nvGrpSpPr>
        <p:grpSpPr>
          <a:xfrm rot="0">
            <a:off x="5364960" y="3058326"/>
            <a:ext cx="3086100" cy="2085174"/>
            <a:chOff x="0" y="0"/>
            <a:chExt cx="812800" cy="549182"/>
          </a:xfrm>
        </p:grpSpPr>
        <p:sp>
          <p:nvSpPr>
            <p:cNvPr name="Freeform 12" id="12"/>
            <p:cNvSpPr/>
            <p:nvPr/>
          </p:nvSpPr>
          <p:spPr>
            <a:xfrm flipH="false" flipV="false" rot="0">
              <a:off x="0" y="0"/>
              <a:ext cx="812800" cy="549182"/>
            </a:xfrm>
            <a:custGeom>
              <a:avLst/>
              <a:gdLst/>
              <a:ahLst/>
              <a:cxnLst/>
              <a:rect r="r" b="b" t="t" l="l"/>
              <a:pathLst>
                <a:path h="549182" w="812800">
                  <a:moveTo>
                    <a:pt x="0" y="0"/>
                  </a:moveTo>
                  <a:lnTo>
                    <a:pt x="812800" y="0"/>
                  </a:lnTo>
                  <a:lnTo>
                    <a:pt x="812800" y="549182"/>
                  </a:lnTo>
                  <a:lnTo>
                    <a:pt x="0" y="549182"/>
                  </a:lnTo>
                  <a:close/>
                </a:path>
              </a:pathLst>
            </a:custGeom>
            <a:solidFill>
              <a:srgbClr val="59524B"/>
            </a:solidFill>
          </p:spPr>
        </p:sp>
        <p:sp>
          <p:nvSpPr>
            <p:cNvPr name="TextBox 13" id="13"/>
            <p:cNvSpPr txBox="true"/>
            <p:nvPr/>
          </p:nvSpPr>
          <p:spPr>
            <a:xfrm>
              <a:off x="0" y="-38100"/>
              <a:ext cx="812800" cy="587282"/>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9743986" y="3058326"/>
            <a:ext cx="3812586" cy="2085174"/>
            <a:chOff x="0" y="0"/>
            <a:chExt cx="1004138" cy="549182"/>
          </a:xfrm>
        </p:grpSpPr>
        <p:sp>
          <p:nvSpPr>
            <p:cNvPr name="Freeform 15" id="15"/>
            <p:cNvSpPr/>
            <p:nvPr/>
          </p:nvSpPr>
          <p:spPr>
            <a:xfrm flipH="false" flipV="false" rot="0">
              <a:off x="0" y="0"/>
              <a:ext cx="1004138" cy="549182"/>
            </a:xfrm>
            <a:custGeom>
              <a:avLst/>
              <a:gdLst/>
              <a:ahLst/>
              <a:cxnLst/>
              <a:rect r="r" b="b" t="t" l="l"/>
              <a:pathLst>
                <a:path h="549182" w="1004138">
                  <a:moveTo>
                    <a:pt x="0" y="0"/>
                  </a:moveTo>
                  <a:lnTo>
                    <a:pt x="1004138" y="0"/>
                  </a:lnTo>
                  <a:lnTo>
                    <a:pt x="1004138" y="549182"/>
                  </a:lnTo>
                  <a:lnTo>
                    <a:pt x="0" y="549182"/>
                  </a:lnTo>
                  <a:close/>
                </a:path>
              </a:pathLst>
            </a:custGeom>
            <a:solidFill>
              <a:srgbClr val="59524B"/>
            </a:solidFill>
          </p:spPr>
        </p:sp>
        <p:sp>
          <p:nvSpPr>
            <p:cNvPr name="TextBox 16" id="16"/>
            <p:cNvSpPr txBox="true"/>
            <p:nvPr/>
          </p:nvSpPr>
          <p:spPr>
            <a:xfrm>
              <a:off x="0" y="-38100"/>
              <a:ext cx="1004138" cy="587282"/>
            </a:xfrm>
            <a:prstGeom prst="rect">
              <a:avLst/>
            </a:prstGeom>
          </p:spPr>
          <p:txBody>
            <a:bodyPr anchor="ctr" rtlCol="false" tIns="50800" lIns="50800" bIns="50800" rIns="50800"/>
            <a:lstStyle/>
            <a:p>
              <a:pPr algn="ctr">
                <a:lnSpc>
                  <a:spcPts val="2659"/>
                </a:lnSpc>
              </a:pPr>
            </a:p>
          </p:txBody>
        </p:sp>
      </p:grpSp>
      <p:sp>
        <p:nvSpPr>
          <p:cNvPr name="Freeform 17" id="17"/>
          <p:cNvSpPr/>
          <p:nvPr/>
        </p:nvSpPr>
        <p:spPr>
          <a:xfrm flipH="false" flipV="false" rot="0">
            <a:off x="2033392" y="6791325"/>
            <a:ext cx="5983983" cy="1522110"/>
          </a:xfrm>
          <a:custGeom>
            <a:avLst/>
            <a:gdLst/>
            <a:ahLst/>
            <a:cxnLst/>
            <a:rect r="r" b="b" t="t" l="l"/>
            <a:pathLst>
              <a:path h="1522110" w="5983983">
                <a:moveTo>
                  <a:pt x="0" y="0"/>
                </a:moveTo>
                <a:lnTo>
                  <a:pt x="5983983" y="0"/>
                </a:lnTo>
                <a:lnTo>
                  <a:pt x="5983983" y="1522110"/>
                </a:lnTo>
                <a:lnTo>
                  <a:pt x="0" y="1522110"/>
                </a:lnTo>
                <a:lnTo>
                  <a:pt x="0" y="0"/>
                </a:lnTo>
                <a:close/>
              </a:path>
            </a:pathLst>
          </a:custGeom>
          <a:blipFill>
            <a:blip r:embed="rId3"/>
            <a:stretch>
              <a:fillRect l="0" t="0" r="0" b="0"/>
            </a:stretch>
          </a:blipFill>
        </p:spPr>
      </p:sp>
      <p:sp>
        <p:nvSpPr>
          <p:cNvPr name="TextBox 18" id="18"/>
          <p:cNvSpPr txBox="true"/>
          <p:nvPr/>
        </p:nvSpPr>
        <p:spPr>
          <a:xfrm rot="0">
            <a:off x="1110116" y="1112169"/>
            <a:ext cx="8350650" cy="995271"/>
          </a:xfrm>
          <a:prstGeom prst="rect">
            <a:avLst/>
          </a:prstGeom>
        </p:spPr>
        <p:txBody>
          <a:bodyPr anchor="t" rtlCol="false" tIns="0" lIns="0" bIns="0" rIns="0">
            <a:spAutoFit/>
          </a:bodyPr>
          <a:lstStyle/>
          <a:p>
            <a:pPr algn="l">
              <a:lnSpc>
                <a:spcPts val="8142"/>
              </a:lnSpc>
            </a:pPr>
            <a:r>
              <a:rPr lang="en-US" sz="5816">
                <a:solidFill>
                  <a:srgbClr val="E5C857"/>
                </a:solidFill>
                <a:latin typeface="Bebas Neue 1"/>
                <a:ea typeface="Bebas Neue 1"/>
                <a:cs typeface="Bebas Neue 1"/>
                <a:sym typeface="Bebas Neue 1"/>
              </a:rPr>
              <a:t>analisis model</a:t>
            </a:r>
          </a:p>
        </p:txBody>
      </p:sp>
      <p:sp>
        <p:nvSpPr>
          <p:cNvPr name="TextBox 19" id="19"/>
          <p:cNvSpPr txBox="true"/>
          <p:nvPr/>
        </p:nvSpPr>
        <p:spPr>
          <a:xfrm rot="0">
            <a:off x="1051559" y="344178"/>
            <a:ext cx="4684584" cy="995271"/>
          </a:xfrm>
          <a:prstGeom prst="rect">
            <a:avLst/>
          </a:prstGeom>
        </p:spPr>
        <p:txBody>
          <a:bodyPr anchor="t" rtlCol="false" tIns="0" lIns="0" bIns="0" rIns="0">
            <a:spAutoFit/>
          </a:bodyPr>
          <a:lstStyle/>
          <a:p>
            <a:pPr algn="l">
              <a:lnSpc>
                <a:spcPts val="8142"/>
              </a:lnSpc>
            </a:pPr>
            <a:r>
              <a:rPr lang="en-US" sz="5816">
                <a:solidFill>
                  <a:srgbClr val="59524B"/>
                </a:solidFill>
                <a:latin typeface="Bebas Neue 1"/>
                <a:ea typeface="Bebas Neue 1"/>
                <a:cs typeface="Bebas Neue 1"/>
                <a:sym typeface="Bebas Neue 1"/>
              </a:rPr>
              <a:t>hasil penelitian</a:t>
            </a:r>
          </a:p>
        </p:txBody>
      </p:sp>
      <p:sp>
        <p:nvSpPr>
          <p:cNvPr name="TextBox 20" id="20"/>
          <p:cNvSpPr txBox="true"/>
          <p:nvPr/>
        </p:nvSpPr>
        <p:spPr>
          <a:xfrm rot="0">
            <a:off x="1028700" y="2248701"/>
            <a:ext cx="7993367" cy="523875"/>
          </a:xfrm>
          <a:prstGeom prst="rect">
            <a:avLst/>
          </a:prstGeom>
        </p:spPr>
        <p:txBody>
          <a:bodyPr anchor="t" rtlCol="false" tIns="0" lIns="0" bIns="0" rIns="0">
            <a:spAutoFit/>
          </a:bodyPr>
          <a:lstStyle/>
          <a:p>
            <a:pPr algn="l">
              <a:lnSpc>
                <a:spcPts val="3959"/>
              </a:lnSpc>
            </a:pPr>
            <a:r>
              <a:rPr lang="en-US" sz="3299" b="true">
                <a:solidFill>
                  <a:srgbClr val="59524B"/>
                </a:solidFill>
                <a:latin typeface="Poppins Bold"/>
                <a:ea typeface="Poppins Bold"/>
                <a:cs typeface="Poppins Bold"/>
                <a:sym typeface="Poppins Bold"/>
              </a:rPr>
              <a:t>Mengatasi kondisi unobservable</a:t>
            </a:r>
          </a:p>
        </p:txBody>
      </p:sp>
      <p:sp>
        <p:nvSpPr>
          <p:cNvPr name="TextBox 21" id="21"/>
          <p:cNvSpPr txBox="true"/>
          <p:nvPr/>
        </p:nvSpPr>
        <p:spPr>
          <a:xfrm rot="0">
            <a:off x="5697127" y="3338120"/>
            <a:ext cx="2412651" cy="523875"/>
          </a:xfrm>
          <a:prstGeom prst="rect">
            <a:avLst/>
          </a:prstGeom>
        </p:spPr>
        <p:txBody>
          <a:bodyPr anchor="t" rtlCol="false" tIns="0" lIns="0" bIns="0" rIns="0">
            <a:spAutoFit/>
          </a:bodyPr>
          <a:lstStyle/>
          <a:p>
            <a:pPr algn="l">
              <a:lnSpc>
                <a:spcPts val="3959"/>
              </a:lnSpc>
            </a:pPr>
            <a:r>
              <a:rPr lang="en-US" b="true" sz="3299">
                <a:solidFill>
                  <a:srgbClr val="E5C857"/>
                </a:solidFill>
                <a:latin typeface="Poppins Bold"/>
                <a:ea typeface="Poppins Bold"/>
                <a:cs typeface="Poppins Bold"/>
                <a:sym typeface="Poppins Bold"/>
              </a:rPr>
              <a:t>OPEN LOOP</a:t>
            </a:r>
          </a:p>
        </p:txBody>
      </p:sp>
      <p:sp>
        <p:nvSpPr>
          <p:cNvPr name="TextBox 22" id="22"/>
          <p:cNvSpPr txBox="true"/>
          <p:nvPr/>
        </p:nvSpPr>
        <p:spPr>
          <a:xfrm rot="0">
            <a:off x="10169978" y="3338120"/>
            <a:ext cx="2960602" cy="523875"/>
          </a:xfrm>
          <a:prstGeom prst="rect">
            <a:avLst/>
          </a:prstGeom>
        </p:spPr>
        <p:txBody>
          <a:bodyPr anchor="t" rtlCol="false" tIns="0" lIns="0" bIns="0" rIns="0">
            <a:spAutoFit/>
          </a:bodyPr>
          <a:lstStyle/>
          <a:p>
            <a:pPr algn="l">
              <a:lnSpc>
                <a:spcPts val="3959"/>
              </a:lnSpc>
            </a:pPr>
            <a:r>
              <a:rPr lang="en-US" b="true" sz="3299">
                <a:solidFill>
                  <a:srgbClr val="E5C857"/>
                </a:solidFill>
                <a:latin typeface="Poppins Bold"/>
                <a:ea typeface="Poppins Bold"/>
                <a:cs typeface="Poppins Bold"/>
                <a:sym typeface="Poppins Bold"/>
              </a:rPr>
              <a:t>CLOSED LOOP</a:t>
            </a:r>
          </a:p>
        </p:txBody>
      </p:sp>
      <p:sp>
        <p:nvSpPr>
          <p:cNvPr name="TextBox 23" id="23"/>
          <p:cNvSpPr txBox="true"/>
          <p:nvPr/>
        </p:nvSpPr>
        <p:spPr>
          <a:xfrm rot="0">
            <a:off x="1012928" y="8537575"/>
            <a:ext cx="16018279" cy="720725"/>
          </a:xfrm>
          <a:prstGeom prst="rect">
            <a:avLst/>
          </a:prstGeom>
        </p:spPr>
        <p:txBody>
          <a:bodyPr anchor="t" rtlCol="false" tIns="0" lIns="0" bIns="0" rIns="0">
            <a:spAutoFit/>
          </a:bodyPr>
          <a:lstStyle/>
          <a:p>
            <a:pPr algn="l">
              <a:lnSpc>
                <a:spcPts val="2800"/>
              </a:lnSpc>
            </a:pPr>
            <a:r>
              <a:rPr lang="en-US" sz="2000" b="true">
                <a:solidFill>
                  <a:srgbClr val="010101"/>
                </a:solidFill>
                <a:latin typeface="Poppins Bold"/>
                <a:ea typeface="Poppins Bold"/>
                <a:cs typeface="Poppins Bold"/>
                <a:sym typeface="Poppins Bold"/>
              </a:rPr>
              <a:t>Strategi ramp-up Open Loop ke Closed Loop merupakan solusi langsung terhadap keterbatasan teoretis yang ditemukan pada analisis observabilitas.</a:t>
            </a:r>
          </a:p>
        </p:txBody>
      </p:sp>
      <p:sp>
        <p:nvSpPr>
          <p:cNvPr name="TextBox 24" id="24"/>
          <p:cNvSpPr txBox="true"/>
          <p:nvPr/>
        </p:nvSpPr>
        <p:spPr>
          <a:xfrm rot="0">
            <a:off x="6458061" y="3883425"/>
            <a:ext cx="953901" cy="368300"/>
          </a:xfrm>
          <a:prstGeom prst="rect">
            <a:avLst/>
          </a:prstGeom>
        </p:spPr>
        <p:txBody>
          <a:bodyPr anchor="t" rtlCol="false" tIns="0" lIns="0" bIns="0" rIns="0">
            <a:spAutoFit/>
          </a:bodyPr>
          <a:lstStyle/>
          <a:p>
            <a:pPr algn="l">
              <a:lnSpc>
                <a:spcPts val="2800"/>
              </a:lnSpc>
            </a:pPr>
            <a:r>
              <a:rPr lang="en-US" sz="2000" b="true">
                <a:solidFill>
                  <a:srgbClr val="FFFFFF"/>
                </a:solidFill>
                <a:latin typeface="Poppins Bold"/>
                <a:ea typeface="Poppins Bold"/>
                <a:cs typeface="Poppins Bold"/>
                <a:sym typeface="Poppins Bold"/>
              </a:rPr>
              <a:t>ωe = 0 </a:t>
            </a:r>
          </a:p>
        </p:txBody>
      </p:sp>
      <p:sp>
        <p:nvSpPr>
          <p:cNvPr name="TextBox 25" id="25"/>
          <p:cNvSpPr txBox="true"/>
          <p:nvPr/>
        </p:nvSpPr>
        <p:spPr>
          <a:xfrm rot="0">
            <a:off x="5760244" y="4185050"/>
            <a:ext cx="2349534" cy="368300"/>
          </a:xfrm>
          <a:prstGeom prst="rect">
            <a:avLst/>
          </a:prstGeom>
        </p:spPr>
        <p:txBody>
          <a:bodyPr anchor="t" rtlCol="false" tIns="0" lIns="0" bIns="0" rIns="0">
            <a:spAutoFit/>
          </a:bodyPr>
          <a:lstStyle/>
          <a:p>
            <a:pPr algn="l">
              <a:lnSpc>
                <a:spcPts val="2800"/>
              </a:lnSpc>
            </a:pPr>
            <a:r>
              <a:rPr lang="en-US" sz="2000" b="true">
                <a:solidFill>
                  <a:srgbClr val="FFFFFF"/>
                </a:solidFill>
                <a:latin typeface="Poppins Bold"/>
                <a:ea typeface="Poppins Bold"/>
                <a:cs typeface="Poppins Bold"/>
                <a:sym typeface="Poppins Bold"/>
              </a:rPr>
              <a:t>Komutasi</a:t>
            </a:r>
            <a:r>
              <a:rPr lang="en-US" sz="2000" b="true">
                <a:solidFill>
                  <a:srgbClr val="FFFFFF"/>
                </a:solidFill>
                <a:latin typeface="Poppins Bold"/>
                <a:ea typeface="Poppins Bold"/>
                <a:cs typeface="Poppins Bold"/>
                <a:sym typeface="Poppins Bold"/>
              </a:rPr>
              <a:t> paksa</a:t>
            </a:r>
          </a:p>
        </p:txBody>
      </p:sp>
      <p:sp>
        <p:nvSpPr>
          <p:cNvPr name="TextBox 26" id="26"/>
          <p:cNvSpPr txBox="true"/>
          <p:nvPr/>
        </p:nvSpPr>
        <p:spPr>
          <a:xfrm rot="0">
            <a:off x="5589603" y="4572400"/>
            <a:ext cx="2690815" cy="368300"/>
          </a:xfrm>
          <a:prstGeom prst="rect">
            <a:avLst/>
          </a:prstGeom>
        </p:spPr>
        <p:txBody>
          <a:bodyPr anchor="t" rtlCol="false" tIns="0" lIns="0" bIns="0" rIns="0">
            <a:spAutoFit/>
          </a:bodyPr>
          <a:lstStyle/>
          <a:p>
            <a:pPr algn="l">
              <a:lnSpc>
                <a:spcPts val="2800"/>
              </a:lnSpc>
            </a:pPr>
            <a:r>
              <a:rPr lang="en-US" sz="2000" b="true">
                <a:solidFill>
                  <a:srgbClr val="FFFFFF"/>
                </a:solidFill>
                <a:latin typeface="Poppins Bold"/>
                <a:ea typeface="Poppins Bold"/>
                <a:cs typeface="Poppins Bold"/>
                <a:sym typeface="Poppins Bold"/>
              </a:rPr>
              <a:t>EKF</a:t>
            </a:r>
            <a:r>
              <a:rPr lang="en-US" sz="2000" b="true">
                <a:solidFill>
                  <a:srgbClr val="FFFFFF"/>
                </a:solidFill>
                <a:latin typeface="Poppins Bold"/>
                <a:ea typeface="Poppins Bold"/>
                <a:cs typeface="Poppins Bold"/>
                <a:sym typeface="Poppins Bold"/>
              </a:rPr>
              <a:t> hanya tracking</a:t>
            </a:r>
          </a:p>
        </p:txBody>
      </p:sp>
      <p:sp>
        <p:nvSpPr>
          <p:cNvPr name="TextBox 27" id="27"/>
          <p:cNvSpPr txBox="true"/>
          <p:nvPr/>
        </p:nvSpPr>
        <p:spPr>
          <a:xfrm rot="0">
            <a:off x="11173329" y="3883425"/>
            <a:ext cx="953901" cy="368300"/>
          </a:xfrm>
          <a:prstGeom prst="rect">
            <a:avLst/>
          </a:prstGeom>
        </p:spPr>
        <p:txBody>
          <a:bodyPr anchor="t" rtlCol="false" tIns="0" lIns="0" bIns="0" rIns="0">
            <a:spAutoFit/>
          </a:bodyPr>
          <a:lstStyle/>
          <a:p>
            <a:pPr algn="l">
              <a:lnSpc>
                <a:spcPts val="2800"/>
              </a:lnSpc>
            </a:pPr>
            <a:r>
              <a:rPr lang="en-US" sz="2000" b="true">
                <a:solidFill>
                  <a:srgbClr val="FFFFFF"/>
                </a:solidFill>
                <a:latin typeface="Poppins Bold"/>
                <a:ea typeface="Poppins Bold"/>
                <a:cs typeface="Poppins Bold"/>
                <a:sym typeface="Poppins Bold"/>
              </a:rPr>
              <a:t>ωe ≠ 0</a:t>
            </a:r>
          </a:p>
        </p:txBody>
      </p:sp>
      <p:sp>
        <p:nvSpPr>
          <p:cNvPr name="TextBox 28" id="28"/>
          <p:cNvSpPr txBox="true"/>
          <p:nvPr/>
        </p:nvSpPr>
        <p:spPr>
          <a:xfrm rot="0">
            <a:off x="9889677" y="4219975"/>
            <a:ext cx="3521205" cy="720725"/>
          </a:xfrm>
          <a:prstGeom prst="rect">
            <a:avLst/>
          </a:prstGeom>
        </p:spPr>
        <p:txBody>
          <a:bodyPr anchor="t" rtlCol="false" tIns="0" lIns="0" bIns="0" rIns="0">
            <a:spAutoFit/>
          </a:bodyPr>
          <a:lstStyle/>
          <a:p>
            <a:pPr algn="ctr">
              <a:lnSpc>
                <a:spcPts val="2800"/>
              </a:lnSpc>
            </a:pPr>
            <a:r>
              <a:rPr lang="en-US" sz="2000" b="true">
                <a:solidFill>
                  <a:srgbClr val="FFFFFF"/>
                </a:solidFill>
                <a:latin typeface="Poppins Bold"/>
                <a:ea typeface="Poppins Bold"/>
                <a:cs typeface="Poppins Bold"/>
                <a:sym typeface="Poppins Bold"/>
              </a:rPr>
              <a:t>EKF θe &amp; ωe mengestimasi secara beb</a:t>
            </a:r>
            <a:r>
              <a:rPr lang="en-US" b="true" sz="2000">
                <a:solidFill>
                  <a:srgbClr val="FFFFFF"/>
                </a:solidFill>
                <a:latin typeface="Poppins Bold"/>
                <a:ea typeface="Poppins Bold"/>
                <a:cs typeface="Poppins Bold"/>
                <a:sym typeface="Poppins Bold"/>
              </a:rPr>
              <a:t>as</a:t>
            </a:r>
          </a:p>
        </p:txBody>
      </p:sp>
      <p:sp>
        <p:nvSpPr>
          <p:cNvPr name="TextBox 29" id="29"/>
          <p:cNvSpPr txBox="true"/>
          <p:nvPr/>
        </p:nvSpPr>
        <p:spPr>
          <a:xfrm rot="0">
            <a:off x="1028700" y="6181725"/>
            <a:ext cx="7993367" cy="523875"/>
          </a:xfrm>
          <a:prstGeom prst="rect">
            <a:avLst/>
          </a:prstGeom>
        </p:spPr>
        <p:txBody>
          <a:bodyPr anchor="t" rtlCol="false" tIns="0" lIns="0" bIns="0" rIns="0">
            <a:spAutoFit/>
          </a:bodyPr>
          <a:lstStyle/>
          <a:p>
            <a:pPr algn="l">
              <a:lnSpc>
                <a:spcPts val="3959"/>
              </a:lnSpc>
            </a:pPr>
            <a:r>
              <a:rPr lang="en-US" sz="3299" b="true">
                <a:solidFill>
                  <a:srgbClr val="59524B"/>
                </a:solidFill>
                <a:latin typeface="Poppins Bold"/>
                <a:ea typeface="Poppins Bold"/>
                <a:cs typeface="Poppins Bold"/>
                <a:sym typeface="Poppins Bold"/>
              </a:rPr>
              <a:t>Kondisi switching</a:t>
            </a:r>
          </a:p>
        </p:txBody>
      </p:sp>
      <p:sp>
        <p:nvSpPr>
          <p:cNvPr name="TextBox 30" id="30"/>
          <p:cNvSpPr txBox="true"/>
          <p:nvPr/>
        </p:nvSpPr>
        <p:spPr>
          <a:xfrm rot="0">
            <a:off x="8633030" y="6838950"/>
            <a:ext cx="8383959" cy="720725"/>
          </a:xfrm>
          <a:prstGeom prst="rect">
            <a:avLst/>
          </a:prstGeom>
        </p:spPr>
        <p:txBody>
          <a:bodyPr anchor="t" rtlCol="false" tIns="0" lIns="0" bIns="0" rIns="0">
            <a:spAutoFit/>
          </a:bodyPr>
          <a:lstStyle/>
          <a:p>
            <a:pPr algn="l">
              <a:lnSpc>
                <a:spcPts val="2800"/>
              </a:lnSpc>
            </a:pPr>
            <a:r>
              <a:rPr lang="en-US" sz="2000" b="true">
                <a:solidFill>
                  <a:srgbClr val="010101"/>
                </a:solidFill>
                <a:latin typeface="Poppins Bold"/>
                <a:ea typeface="Poppins Bold"/>
                <a:cs typeface="Poppins Bold"/>
                <a:sym typeface="Poppins Bold"/>
              </a:rPr>
              <a:t>P</a:t>
            </a:r>
            <a:r>
              <a:rPr lang="en-US" sz="2000" b="true">
                <a:solidFill>
                  <a:srgbClr val="010101"/>
                </a:solidFill>
                <a:latin typeface="Poppins Bold"/>
                <a:ea typeface="Poppins Bold"/>
                <a:cs typeface="Poppins Bold"/>
                <a:sym typeface="Poppins Bold"/>
              </a:rPr>
              <a:t>k</a:t>
            </a:r>
            <a:r>
              <a:rPr lang="en-US" sz="2000" b="true">
                <a:solidFill>
                  <a:srgbClr val="010101"/>
                </a:solidFill>
                <a:latin typeface="Poppins Bold"/>
                <a:ea typeface="Poppins Bold"/>
                <a:cs typeface="Poppins Bold"/>
                <a:sym typeface="Poppins Bold"/>
              </a:rPr>
              <a:t>,</a:t>
            </a:r>
            <a:r>
              <a:rPr lang="en-US" sz="2000" b="true">
                <a:solidFill>
                  <a:srgbClr val="010101"/>
                </a:solidFill>
                <a:latin typeface="Poppins Bold"/>
                <a:ea typeface="Poppins Bold"/>
                <a:cs typeface="Poppins Bold"/>
                <a:sym typeface="Poppins Bold"/>
              </a:rPr>
              <a:t>θ</a:t>
            </a:r>
            <a:r>
              <a:rPr lang="en-US" sz="2000" b="true">
                <a:solidFill>
                  <a:srgbClr val="010101"/>
                </a:solidFill>
                <a:latin typeface="Poppins Bold"/>
                <a:ea typeface="Poppins Bold"/>
                <a:cs typeface="Poppins Bold"/>
                <a:sym typeface="Poppins Bold"/>
              </a:rPr>
              <a:t> </a:t>
            </a:r>
            <a:r>
              <a:rPr lang="en-US" sz="2000" b="true">
                <a:solidFill>
                  <a:srgbClr val="010101"/>
                </a:solidFill>
                <a:latin typeface="Poppins Bold"/>
                <a:ea typeface="Poppins Bold"/>
                <a:cs typeface="Poppins Bold"/>
                <a:sym typeface="Poppins Bold"/>
              </a:rPr>
              <a:t>merepresentasikan seberapa yakin (atau tidak yakin) estimator terhadap estimasi θ^e​ yang dihasilkan estimator</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5313" y="464654"/>
            <a:ext cx="4620127" cy="1523631"/>
            <a:chOff x="0" y="0"/>
            <a:chExt cx="1646395" cy="542950"/>
          </a:xfrm>
        </p:grpSpPr>
        <p:sp>
          <p:nvSpPr>
            <p:cNvPr name="Freeform 3" id="3"/>
            <p:cNvSpPr/>
            <p:nvPr/>
          </p:nvSpPr>
          <p:spPr>
            <a:xfrm flipH="false" flipV="false" rot="0">
              <a:off x="0" y="0"/>
              <a:ext cx="1646395" cy="542950"/>
            </a:xfrm>
            <a:custGeom>
              <a:avLst/>
              <a:gdLst/>
              <a:ahLst/>
              <a:cxnLst/>
              <a:rect r="r" b="b" t="t" l="l"/>
              <a:pathLst>
                <a:path h="542950" w="1646395">
                  <a:moveTo>
                    <a:pt x="1443195" y="0"/>
                  </a:moveTo>
                  <a:cubicBezTo>
                    <a:pt x="1555419" y="0"/>
                    <a:pt x="1646395" y="121543"/>
                    <a:pt x="1646395" y="271475"/>
                  </a:cubicBezTo>
                  <a:cubicBezTo>
                    <a:pt x="1646395" y="421406"/>
                    <a:pt x="1555419" y="542950"/>
                    <a:pt x="1443195" y="542950"/>
                  </a:cubicBezTo>
                  <a:lnTo>
                    <a:pt x="203200" y="542950"/>
                  </a:lnTo>
                  <a:cubicBezTo>
                    <a:pt x="90976" y="542950"/>
                    <a:pt x="0" y="421406"/>
                    <a:pt x="0" y="271475"/>
                  </a:cubicBezTo>
                  <a:cubicBezTo>
                    <a:pt x="0" y="121543"/>
                    <a:pt x="90976" y="0"/>
                    <a:pt x="203200" y="0"/>
                  </a:cubicBezTo>
                  <a:close/>
                </a:path>
              </a:pathLst>
            </a:custGeom>
            <a:solidFill>
              <a:srgbClr val="F2F2F2"/>
            </a:solidFill>
          </p:spPr>
        </p:sp>
        <p:sp>
          <p:nvSpPr>
            <p:cNvPr name="TextBox 4" id="4"/>
            <p:cNvSpPr txBox="true"/>
            <p:nvPr/>
          </p:nvSpPr>
          <p:spPr>
            <a:xfrm>
              <a:off x="0" y="-38100"/>
              <a:ext cx="1646395" cy="5810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038174" y="458478"/>
            <a:ext cx="4563040" cy="1140443"/>
            <a:chOff x="0" y="0"/>
            <a:chExt cx="6084053" cy="1520591"/>
          </a:xfrm>
        </p:grpSpPr>
        <p:grpSp>
          <p:nvGrpSpPr>
            <p:cNvPr name="Group 6" id="6"/>
            <p:cNvGrpSpPr/>
            <p:nvPr/>
          </p:nvGrpSpPr>
          <p:grpSpPr>
            <a:xfrm rot="0">
              <a:off x="0" y="0"/>
              <a:ext cx="6084053" cy="1520591"/>
              <a:chOff x="0" y="0"/>
              <a:chExt cx="1626052" cy="406400"/>
            </a:xfrm>
          </p:grpSpPr>
          <p:sp>
            <p:nvSpPr>
              <p:cNvPr name="Freeform 7" id="7"/>
              <p:cNvSpPr/>
              <p:nvPr/>
            </p:nvSpPr>
            <p:spPr>
              <a:xfrm flipH="false" flipV="false" rot="0">
                <a:off x="0" y="0"/>
                <a:ext cx="1626052" cy="406400"/>
              </a:xfrm>
              <a:custGeom>
                <a:avLst/>
                <a:gdLst/>
                <a:ahLst/>
                <a:cxnLst/>
                <a:rect r="r" b="b" t="t" l="l"/>
                <a:pathLst>
                  <a:path h="406400" w="1626052">
                    <a:moveTo>
                      <a:pt x="1422852" y="0"/>
                    </a:moveTo>
                    <a:cubicBezTo>
                      <a:pt x="1535076" y="0"/>
                      <a:pt x="1626052" y="90976"/>
                      <a:pt x="1626052" y="203200"/>
                    </a:cubicBezTo>
                    <a:cubicBezTo>
                      <a:pt x="1626052" y="315424"/>
                      <a:pt x="1535076" y="406400"/>
                      <a:pt x="1422852"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8" id="8"/>
              <p:cNvSpPr txBox="true"/>
              <p:nvPr/>
            </p:nvSpPr>
            <p:spPr>
              <a:xfrm>
                <a:off x="0" y="-38100"/>
                <a:ext cx="1626052" cy="44450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414535" y="124612"/>
              <a:ext cx="5254984" cy="1271367"/>
            </a:xfrm>
            <a:custGeom>
              <a:avLst/>
              <a:gdLst/>
              <a:ahLst/>
              <a:cxnLst/>
              <a:rect r="r" b="b" t="t" l="l"/>
              <a:pathLst>
                <a:path h="1271367" w="5254984">
                  <a:moveTo>
                    <a:pt x="0" y="0"/>
                  </a:moveTo>
                  <a:lnTo>
                    <a:pt x="5254983" y="0"/>
                  </a:lnTo>
                  <a:lnTo>
                    <a:pt x="5254983" y="1271367"/>
                  </a:lnTo>
                  <a:lnTo>
                    <a:pt x="0" y="1271367"/>
                  </a:lnTo>
                  <a:lnTo>
                    <a:pt x="0" y="0"/>
                  </a:lnTo>
                  <a:close/>
                </a:path>
              </a:pathLst>
            </a:custGeom>
            <a:blipFill>
              <a:blip r:embed="rId2"/>
              <a:stretch>
                <a:fillRect l="0" t="0" r="0" b="0"/>
              </a:stretch>
            </a:blipFill>
          </p:spPr>
        </p:sp>
      </p:grpSp>
      <p:sp>
        <p:nvSpPr>
          <p:cNvPr name="Freeform 10" id="10"/>
          <p:cNvSpPr/>
          <p:nvPr/>
        </p:nvSpPr>
        <p:spPr>
          <a:xfrm flipH="false" flipV="false" rot="0">
            <a:off x="3059398" y="3645701"/>
            <a:ext cx="12169204" cy="1701072"/>
          </a:xfrm>
          <a:custGeom>
            <a:avLst/>
            <a:gdLst/>
            <a:ahLst/>
            <a:cxnLst/>
            <a:rect r="r" b="b" t="t" l="l"/>
            <a:pathLst>
              <a:path h="1701072" w="12169204">
                <a:moveTo>
                  <a:pt x="0" y="0"/>
                </a:moveTo>
                <a:lnTo>
                  <a:pt x="12169204" y="0"/>
                </a:lnTo>
                <a:lnTo>
                  <a:pt x="12169204" y="1701071"/>
                </a:lnTo>
                <a:lnTo>
                  <a:pt x="0" y="1701071"/>
                </a:lnTo>
                <a:lnTo>
                  <a:pt x="0" y="0"/>
                </a:lnTo>
                <a:close/>
              </a:path>
            </a:pathLst>
          </a:custGeom>
          <a:blipFill>
            <a:blip r:embed="rId3"/>
            <a:stretch>
              <a:fillRect l="0" t="0" r="0" b="0"/>
            </a:stretch>
          </a:blipFill>
        </p:spPr>
      </p:sp>
      <p:sp>
        <p:nvSpPr>
          <p:cNvPr name="Freeform 11" id="11"/>
          <p:cNvSpPr/>
          <p:nvPr/>
        </p:nvSpPr>
        <p:spPr>
          <a:xfrm flipH="false" flipV="false" rot="0">
            <a:off x="1028700" y="6685330"/>
            <a:ext cx="8601071" cy="2572970"/>
          </a:xfrm>
          <a:custGeom>
            <a:avLst/>
            <a:gdLst/>
            <a:ahLst/>
            <a:cxnLst/>
            <a:rect r="r" b="b" t="t" l="l"/>
            <a:pathLst>
              <a:path h="2572970" w="8601071">
                <a:moveTo>
                  <a:pt x="0" y="0"/>
                </a:moveTo>
                <a:lnTo>
                  <a:pt x="8601071" y="0"/>
                </a:lnTo>
                <a:lnTo>
                  <a:pt x="8601071" y="2572970"/>
                </a:lnTo>
                <a:lnTo>
                  <a:pt x="0" y="2572970"/>
                </a:lnTo>
                <a:lnTo>
                  <a:pt x="0" y="0"/>
                </a:lnTo>
                <a:close/>
              </a:path>
            </a:pathLst>
          </a:custGeom>
          <a:blipFill>
            <a:blip r:embed="rId4"/>
            <a:stretch>
              <a:fillRect l="0" t="0" r="0" b="0"/>
            </a:stretch>
          </a:blipFill>
        </p:spPr>
      </p:sp>
      <p:sp>
        <p:nvSpPr>
          <p:cNvPr name="TextBox 12" id="12"/>
          <p:cNvSpPr txBox="true"/>
          <p:nvPr/>
        </p:nvSpPr>
        <p:spPr>
          <a:xfrm rot="0">
            <a:off x="1110116" y="1112169"/>
            <a:ext cx="8350650" cy="995271"/>
          </a:xfrm>
          <a:prstGeom prst="rect">
            <a:avLst/>
          </a:prstGeom>
        </p:spPr>
        <p:txBody>
          <a:bodyPr anchor="t" rtlCol="false" tIns="0" lIns="0" bIns="0" rIns="0">
            <a:spAutoFit/>
          </a:bodyPr>
          <a:lstStyle/>
          <a:p>
            <a:pPr algn="l">
              <a:lnSpc>
                <a:spcPts val="8142"/>
              </a:lnSpc>
            </a:pPr>
            <a:r>
              <a:rPr lang="en-US" sz="5816">
                <a:solidFill>
                  <a:srgbClr val="E5C857"/>
                </a:solidFill>
                <a:latin typeface="Bebas Neue 1"/>
                <a:ea typeface="Bebas Neue 1"/>
                <a:cs typeface="Bebas Neue 1"/>
                <a:sym typeface="Bebas Neue 1"/>
              </a:rPr>
              <a:t>analisis model</a:t>
            </a:r>
          </a:p>
        </p:txBody>
      </p:sp>
      <p:sp>
        <p:nvSpPr>
          <p:cNvPr name="TextBox 13" id="13"/>
          <p:cNvSpPr txBox="true"/>
          <p:nvPr/>
        </p:nvSpPr>
        <p:spPr>
          <a:xfrm rot="0">
            <a:off x="1051559" y="344178"/>
            <a:ext cx="4684584" cy="995271"/>
          </a:xfrm>
          <a:prstGeom prst="rect">
            <a:avLst/>
          </a:prstGeom>
        </p:spPr>
        <p:txBody>
          <a:bodyPr anchor="t" rtlCol="false" tIns="0" lIns="0" bIns="0" rIns="0">
            <a:spAutoFit/>
          </a:bodyPr>
          <a:lstStyle/>
          <a:p>
            <a:pPr algn="l">
              <a:lnSpc>
                <a:spcPts val="8142"/>
              </a:lnSpc>
            </a:pPr>
            <a:r>
              <a:rPr lang="en-US" sz="5816">
                <a:solidFill>
                  <a:srgbClr val="59524B"/>
                </a:solidFill>
                <a:latin typeface="Bebas Neue 1"/>
                <a:ea typeface="Bebas Neue 1"/>
                <a:cs typeface="Bebas Neue 1"/>
                <a:sym typeface="Bebas Neue 1"/>
              </a:rPr>
              <a:t>hasil penelitian</a:t>
            </a:r>
          </a:p>
        </p:txBody>
      </p:sp>
      <p:sp>
        <p:nvSpPr>
          <p:cNvPr name="TextBox 14" id="14"/>
          <p:cNvSpPr txBox="true"/>
          <p:nvPr/>
        </p:nvSpPr>
        <p:spPr>
          <a:xfrm rot="0">
            <a:off x="1028700" y="2248701"/>
            <a:ext cx="8707231" cy="523875"/>
          </a:xfrm>
          <a:prstGeom prst="rect">
            <a:avLst/>
          </a:prstGeom>
        </p:spPr>
        <p:txBody>
          <a:bodyPr anchor="t" rtlCol="false" tIns="0" lIns="0" bIns="0" rIns="0">
            <a:spAutoFit/>
          </a:bodyPr>
          <a:lstStyle/>
          <a:p>
            <a:pPr algn="l">
              <a:lnSpc>
                <a:spcPts val="3959"/>
              </a:lnSpc>
            </a:pPr>
            <a:r>
              <a:rPr lang="en-US" sz="3299" b="true">
                <a:solidFill>
                  <a:srgbClr val="59524B"/>
                </a:solidFill>
                <a:latin typeface="Poppins Bold"/>
                <a:ea typeface="Poppins Bold"/>
                <a:cs typeface="Poppins Bold"/>
                <a:sym typeface="Poppins Bold"/>
              </a:rPr>
              <a:t>Ha</a:t>
            </a:r>
            <a:r>
              <a:rPr lang="en-US" b="true" sz="3299">
                <a:solidFill>
                  <a:srgbClr val="59524B"/>
                </a:solidFill>
                <a:latin typeface="Poppins Bold"/>
                <a:ea typeface="Poppins Bold"/>
                <a:cs typeface="Poppins Bold"/>
                <a:sym typeface="Poppins Bold"/>
              </a:rPr>
              <a:t>sil Identifikasi Parameter Model BLDC</a:t>
            </a:r>
          </a:p>
        </p:txBody>
      </p:sp>
      <p:sp>
        <p:nvSpPr>
          <p:cNvPr name="TextBox 15" id="15"/>
          <p:cNvSpPr txBox="true"/>
          <p:nvPr/>
        </p:nvSpPr>
        <p:spPr>
          <a:xfrm rot="0">
            <a:off x="1028700" y="2991651"/>
            <a:ext cx="16018279" cy="368300"/>
          </a:xfrm>
          <a:prstGeom prst="rect">
            <a:avLst/>
          </a:prstGeom>
        </p:spPr>
        <p:txBody>
          <a:bodyPr anchor="t" rtlCol="false" tIns="0" lIns="0" bIns="0" rIns="0">
            <a:spAutoFit/>
          </a:bodyPr>
          <a:lstStyle/>
          <a:p>
            <a:pPr algn="l">
              <a:lnSpc>
                <a:spcPts val="2800"/>
              </a:lnSpc>
            </a:pPr>
            <a:r>
              <a:rPr lang="en-US" sz="2000" b="true">
                <a:solidFill>
                  <a:srgbClr val="010101"/>
                </a:solidFill>
                <a:latin typeface="Poppins Bold"/>
                <a:ea typeface="Poppins Bold"/>
                <a:cs typeface="Poppins Bold"/>
                <a:sym typeface="Poppins Bold"/>
              </a:rPr>
              <a:t>Data hardware didapatkan pada kondisi open loop velocity control dengan parameter input </a:t>
            </a:r>
          </a:p>
        </p:txBody>
      </p:sp>
      <p:sp>
        <p:nvSpPr>
          <p:cNvPr name="TextBox 16" id="16"/>
          <p:cNvSpPr txBox="true"/>
          <p:nvPr/>
        </p:nvSpPr>
        <p:spPr>
          <a:xfrm rot="0">
            <a:off x="9931088" y="7524140"/>
            <a:ext cx="7853143" cy="447675"/>
          </a:xfrm>
          <a:prstGeom prst="rect">
            <a:avLst/>
          </a:prstGeom>
        </p:spPr>
        <p:txBody>
          <a:bodyPr anchor="t" rtlCol="false" tIns="0" lIns="0" bIns="0" rIns="0">
            <a:spAutoFit/>
          </a:bodyPr>
          <a:lstStyle/>
          <a:p>
            <a:pPr algn="just">
              <a:lnSpc>
                <a:spcPts val="3360"/>
              </a:lnSpc>
            </a:pPr>
            <a:r>
              <a:rPr lang="en-US" b="true" sz="2800">
                <a:solidFill>
                  <a:srgbClr val="E5C857"/>
                </a:solidFill>
                <a:latin typeface="Poppins Bold"/>
                <a:ea typeface="Poppins Bold"/>
                <a:cs typeface="Poppins Bold"/>
                <a:sym typeface="Poppins Bold"/>
              </a:rPr>
              <a:t>Nilai Ke = 0.008565 ± 0.000026V.s/rad</a:t>
            </a:r>
          </a:p>
        </p:txBody>
      </p:sp>
      <p:sp>
        <p:nvSpPr>
          <p:cNvPr name="TextBox 17" id="17"/>
          <p:cNvSpPr txBox="true"/>
          <p:nvPr/>
        </p:nvSpPr>
        <p:spPr>
          <a:xfrm rot="0">
            <a:off x="1134861" y="5879939"/>
            <a:ext cx="16018279" cy="368300"/>
          </a:xfrm>
          <a:prstGeom prst="rect">
            <a:avLst/>
          </a:prstGeom>
        </p:spPr>
        <p:txBody>
          <a:bodyPr anchor="t" rtlCol="false" tIns="0" lIns="0" bIns="0" rIns="0">
            <a:spAutoFit/>
          </a:bodyPr>
          <a:lstStyle/>
          <a:p>
            <a:pPr algn="l">
              <a:lnSpc>
                <a:spcPts val="2800"/>
              </a:lnSpc>
            </a:pPr>
            <a:r>
              <a:rPr lang="en-US" sz="2000" b="true">
                <a:solidFill>
                  <a:srgbClr val="010101"/>
                </a:solidFill>
                <a:latin typeface="Poppins Bold"/>
                <a:ea typeface="Poppins Bold"/>
                <a:cs typeface="Poppins Bold"/>
                <a:sym typeface="Poppins Bold"/>
              </a:rPr>
              <a:t>Didapatkan hasil dari program MATLAB</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5313" y="464654"/>
            <a:ext cx="4620127" cy="1523631"/>
            <a:chOff x="0" y="0"/>
            <a:chExt cx="1646395" cy="542950"/>
          </a:xfrm>
        </p:grpSpPr>
        <p:sp>
          <p:nvSpPr>
            <p:cNvPr name="Freeform 3" id="3"/>
            <p:cNvSpPr/>
            <p:nvPr/>
          </p:nvSpPr>
          <p:spPr>
            <a:xfrm flipH="false" flipV="false" rot="0">
              <a:off x="0" y="0"/>
              <a:ext cx="1646395" cy="542950"/>
            </a:xfrm>
            <a:custGeom>
              <a:avLst/>
              <a:gdLst/>
              <a:ahLst/>
              <a:cxnLst/>
              <a:rect r="r" b="b" t="t" l="l"/>
              <a:pathLst>
                <a:path h="542950" w="1646395">
                  <a:moveTo>
                    <a:pt x="1443195" y="0"/>
                  </a:moveTo>
                  <a:cubicBezTo>
                    <a:pt x="1555419" y="0"/>
                    <a:pt x="1646395" y="121543"/>
                    <a:pt x="1646395" y="271475"/>
                  </a:cubicBezTo>
                  <a:cubicBezTo>
                    <a:pt x="1646395" y="421406"/>
                    <a:pt x="1555419" y="542950"/>
                    <a:pt x="1443195" y="542950"/>
                  </a:cubicBezTo>
                  <a:lnTo>
                    <a:pt x="203200" y="542950"/>
                  </a:lnTo>
                  <a:cubicBezTo>
                    <a:pt x="90976" y="542950"/>
                    <a:pt x="0" y="421406"/>
                    <a:pt x="0" y="271475"/>
                  </a:cubicBezTo>
                  <a:cubicBezTo>
                    <a:pt x="0" y="121543"/>
                    <a:pt x="90976" y="0"/>
                    <a:pt x="203200" y="0"/>
                  </a:cubicBezTo>
                  <a:close/>
                </a:path>
              </a:pathLst>
            </a:custGeom>
            <a:solidFill>
              <a:srgbClr val="F2F2F2"/>
            </a:solidFill>
          </p:spPr>
        </p:sp>
        <p:sp>
          <p:nvSpPr>
            <p:cNvPr name="TextBox 4" id="4"/>
            <p:cNvSpPr txBox="true"/>
            <p:nvPr/>
          </p:nvSpPr>
          <p:spPr>
            <a:xfrm>
              <a:off x="0" y="-38100"/>
              <a:ext cx="1646395" cy="5810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038174" y="458478"/>
            <a:ext cx="4563040" cy="1140443"/>
            <a:chOff x="0" y="0"/>
            <a:chExt cx="6084053" cy="1520591"/>
          </a:xfrm>
        </p:grpSpPr>
        <p:grpSp>
          <p:nvGrpSpPr>
            <p:cNvPr name="Group 6" id="6"/>
            <p:cNvGrpSpPr/>
            <p:nvPr/>
          </p:nvGrpSpPr>
          <p:grpSpPr>
            <a:xfrm rot="0">
              <a:off x="0" y="0"/>
              <a:ext cx="6084053" cy="1520591"/>
              <a:chOff x="0" y="0"/>
              <a:chExt cx="1626052" cy="406400"/>
            </a:xfrm>
          </p:grpSpPr>
          <p:sp>
            <p:nvSpPr>
              <p:cNvPr name="Freeform 7" id="7"/>
              <p:cNvSpPr/>
              <p:nvPr/>
            </p:nvSpPr>
            <p:spPr>
              <a:xfrm flipH="false" flipV="false" rot="0">
                <a:off x="0" y="0"/>
                <a:ext cx="1626052" cy="406400"/>
              </a:xfrm>
              <a:custGeom>
                <a:avLst/>
                <a:gdLst/>
                <a:ahLst/>
                <a:cxnLst/>
                <a:rect r="r" b="b" t="t" l="l"/>
                <a:pathLst>
                  <a:path h="406400" w="1626052">
                    <a:moveTo>
                      <a:pt x="1422852" y="0"/>
                    </a:moveTo>
                    <a:cubicBezTo>
                      <a:pt x="1535076" y="0"/>
                      <a:pt x="1626052" y="90976"/>
                      <a:pt x="1626052" y="203200"/>
                    </a:cubicBezTo>
                    <a:cubicBezTo>
                      <a:pt x="1626052" y="315424"/>
                      <a:pt x="1535076" y="406400"/>
                      <a:pt x="1422852"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8" id="8"/>
              <p:cNvSpPr txBox="true"/>
              <p:nvPr/>
            </p:nvSpPr>
            <p:spPr>
              <a:xfrm>
                <a:off x="0" y="-38100"/>
                <a:ext cx="1626052" cy="44450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414535" y="124612"/>
              <a:ext cx="5254984" cy="1271367"/>
            </a:xfrm>
            <a:custGeom>
              <a:avLst/>
              <a:gdLst/>
              <a:ahLst/>
              <a:cxnLst/>
              <a:rect r="r" b="b" t="t" l="l"/>
              <a:pathLst>
                <a:path h="1271367" w="5254984">
                  <a:moveTo>
                    <a:pt x="0" y="0"/>
                  </a:moveTo>
                  <a:lnTo>
                    <a:pt x="5254983" y="0"/>
                  </a:lnTo>
                  <a:lnTo>
                    <a:pt x="5254983" y="1271367"/>
                  </a:lnTo>
                  <a:lnTo>
                    <a:pt x="0" y="1271367"/>
                  </a:lnTo>
                  <a:lnTo>
                    <a:pt x="0" y="0"/>
                  </a:lnTo>
                  <a:close/>
                </a:path>
              </a:pathLst>
            </a:custGeom>
            <a:blipFill>
              <a:blip r:embed="rId2"/>
              <a:stretch>
                <a:fillRect l="0" t="0" r="0" b="0"/>
              </a:stretch>
            </a:blipFill>
          </p:spPr>
        </p:sp>
      </p:grpSp>
      <p:sp>
        <p:nvSpPr>
          <p:cNvPr name="Freeform 10" id="10"/>
          <p:cNvSpPr/>
          <p:nvPr/>
        </p:nvSpPr>
        <p:spPr>
          <a:xfrm flipH="false" flipV="false" rot="0">
            <a:off x="1028700" y="3058326"/>
            <a:ext cx="7892765" cy="5593997"/>
          </a:xfrm>
          <a:custGeom>
            <a:avLst/>
            <a:gdLst/>
            <a:ahLst/>
            <a:cxnLst/>
            <a:rect r="r" b="b" t="t" l="l"/>
            <a:pathLst>
              <a:path h="5593997" w="7892765">
                <a:moveTo>
                  <a:pt x="0" y="0"/>
                </a:moveTo>
                <a:lnTo>
                  <a:pt x="7892765" y="0"/>
                </a:lnTo>
                <a:lnTo>
                  <a:pt x="7892765" y="5593997"/>
                </a:lnTo>
                <a:lnTo>
                  <a:pt x="0" y="5593997"/>
                </a:lnTo>
                <a:lnTo>
                  <a:pt x="0" y="0"/>
                </a:lnTo>
                <a:close/>
              </a:path>
            </a:pathLst>
          </a:custGeom>
          <a:blipFill>
            <a:blip r:embed="rId3"/>
            <a:stretch>
              <a:fillRect l="0" t="0" r="0" b="0"/>
            </a:stretch>
          </a:blipFill>
        </p:spPr>
      </p:sp>
      <p:sp>
        <p:nvSpPr>
          <p:cNvPr name="Freeform 11" id="11"/>
          <p:cNvSpPr/>
          <p:nvPr/>
        </p:nvSpPr>
        <p:spPr>
          <a:xfrm flipH="false" flipV="false" rot="0">
            <a:off x="9460766" y="3058326"/>
            <a:ext cx="7892765" cy="5593997"/>
          </a:xfrm>
          <a:custGeom>
            <a:avLst/>
            <a:gdLst/>
            <a:ahLst/>
            <a:cxnLst/>
            <a:rect r="r" b="b" t="t" l="l"/>
            <a:pathLst>
              <a:path h="5593997" w="7892765">
                <a:moveTo>
                  <a:pt x="0" y="0"/>
                </a:moveTo>
                <a:lnTo>
                  <a:pt x="7892765" y="0"/>
                </a:lnTo>
                <a:lnTo>
                  <a:pt x="7892765" y="5593997"/>
                </a:lnTo>
                <a:lnTo>
                  <a:pt x="0" y="5593997"/>
                </a:lnTo>
                <a:lnTo>
                  <a:pt x="0" y="0"/>
                </a:lnTo>
                <a:close/>
              </a:path>
            </a:pathLst>
          </a:custGeom>
          <a:blipFill>
            <a:blip r:embed="rId4"/>
            <a:stretch>
              <a:fillRect l="0" t="0" r="0" b="0"/>
            </a:stretch>
          </a:blipFill>
        </p:spPr>
      </p:sp>
      <p:sp>
        <p:nvSpPr>
          <p:cNvPr name="TextBox 12" id="12"/>
          <p:cNvSpPr txBox="true"/>
          <p:nvPr/>
        </p:nvSpPr>
        <p:spPr>
          <a:xfrm rot="0">
            <a:off x="1110116" y="1112169"/>
            <a:ext cx="8350650" cy="995271"/>
          </a:xfrm>
          <a:prstGeom prst="rect">
            <a:avLst/>
          </a:prstGeom>
        </p:spPr>
        <p:txBody>
          <a:bodyPr anchor="t" rtlCol="false" tIns="0" lIns="0" bIns="0" rIns="0">
            <a:spAutoFit/>
          </a:bodyPr>
          <a:lstStyle/>
          <a:p>
            <a:pPr algn="l">
              <a:lnSpc>
                <a:spcPts val="8142"/>
              </a:lnSpc>
            </a:pPr>
            <a:r>
              <a:rPr lang="en-US" sz="5816">
                <a:solidFill>
                  <a:srgbClr val="E5C857"/>
                </a:solidFill>
                <a:latin typeface="Bebas Neue 1"/>
                <a:ea typeface="Bebas Neue 1"/>
                <a:cs typeface="Bebas Neue 1"/>
                <a:sym typeface="Bebas Neue 1"/>
              </a:rPr>
              <a:t>analisis model</a:t>
            </a:r>
          </a:p>
        </p:txBody>
      </p:sp>
      <p:sp>
        <p:nvSpPr>
          <p:cNvPr name="TextBox 13" id="13"/>
          <p:cNvSpPr txBox="true"/>
          <p:nvPr/>
        </p:nvSpPr>
        <p:spPr>
          <a:xfrm rot="0">
            <a:off x="1051559" y="344178"/>
            <a:ext cx="4684584" cy="995271"/>
          </a:xfrm>
          <a:prstGeom prst="rect">
            <a:avLst/>
          </a:prstGeom>
        </p:spPr>
        <p:txBody>
          <a:bodyPr anchor="t" rtlCol="false" tIns="0" lIns="0" bIns="0" rIns="0">
            <a:spAutoFit/>
          </a:bodyPr>
          <a:lstStyle/>
          <a:p>
            <a:pPr algn="l">
              <a:lnSpc>
                <a:spcPts val="8142"/>
              </a:lnSpc>
            </a:pPr>
            <a:r>
              <a:rPr lang="en-US" sz="5816">
                <a:solidFill>
                  <a:srgbClr val="59524B"/>
                </a:solidFill>
                <a:latin typeface="Bebas Neue 1"/>
                <a:ea typeface="Bebas Neue 1"/>
                <a:cs typeface="Bebas Neue 1"/>
                <a:sym typeface="Bebas Neue 1"/>
              </a:rPr>
              <a:t>hasil penelitian</a:t>
            </a:r>
          </a:p>
        </p:txBody>
      </p:sp>
      <p:sp>
        <p:nvSpPr>
          <p:cNvPr name="TextBox 14" id="14"/>
          <p:cNvSpPr txBox="true"/>
          <p:nvPr/>
        </p:nvSpPr>
        <p:spPr>
          <a:xfrm rot="0">
            <a:off x="1028700" y="2248701"/>
            <a:ext cx="8707231" cy="523875"/>
          </a:xfrm>
          <a:prstGeom prst="rect">
            <a:avLst/>
          </a:prstGeom>
        </p:spPr>
        <p:txBody>
          <a:bodyPr anchor="t" rtlCol="false" tIns="0" lIns="0" bIns="0" rIns="0">
            <a:spAutoFit/>
          </a:bodyPr>
          <a:lstStyle/>
          <a:p>
            <a:pPr algn="l">
              <a:lnSpc>
                <a:spcPts val="3959"/>
              </a:lnSpc>
            </a:pPr>
            <a:r>
              <a:rPr lang="en-US" sz="3299" b="true">
                <a:solidFill>
                  <a:srgbClr val="59524B"/>
                </a:solidFill>
                <a:latin typeface="Poppins Bold"/>
                <a:ea typeface="Poppins Bold"/>
                <a:cs typeface="Poppins Bold"/>
                <a:sym typeface="Poppins Bold"/>
              </a:rPr>
              <a:t>Ha</a:t>
            </a:r>
            <a:r>
              <a:rPr lang="en-US" b="true" sz="3299">
                <a:solidFill>
                  <a:srgbClr val="59524B"/>
                </a:solidFill>
                <a:latin typeface="Poppins Bold"/>
                <a:ea typeface="Poppins Bold"/>
                <a:cs typeface="Poppins Bold"/>
                <a:sym typeface="Poppins Bold"/>
              </a:rPr>
              <a:t>sil Identifikasi Parameter Model BLDC</a:t>
            </a:r>
          </a:p>
        </p:txBody>
      </p:sp>
      <p:sp>
        <p:nvSpPr>
          <p:cNvPr name="TextBox 15" id="15"/>
          <p:cNvSpPr txBox="true"/>
          <p:nvPr/>
        </p:nvSpPr>
        <p:spPr>
          <a:xfrm rot="0">
            <a:off x="1361186" y="8724900"/>
            <a:ext cx="7848509" cy="533400"/>
          </a:xfrm>
          <a:prstGeom prst="rect">
            <a:avLst/>
          </a:prstGeom>
        </p:spPr>
        <p:txBody>
          <a:bodyPr anchor="t" rtlCol="false" tIns="0" lIns="0" bIns="0" rIns="0">
            <a:spAutoFit/>
          </a:bodyPr>
          <a:lstStyle/>
          <a:p>
            <a:pPr algn="ctr">
              <a:lnSpc>
                <a:spcPts val="4200"/>
              </a:lnSpc>
            </a:pPr>
            <a:r>
              <a:rPr lang="en-US" sz="3000">
                <a:solidFill>
                  <a:srgbClr val="59524B"/>
                </a:solidFill>
                <a:latin typeface="Bebas Neue 1"/>
                <a:ea typeface="Bebas Neue 1"/>
                <a:cs typeface="Bebas Neue 1"/>
                <a:sym typeface="Bebas Neue 1"/>
              </a:rPr>
              <a:t>Komparasi Arus 𝛼 − 𝛽 hardware dan prediksi model</a:t>
            </a:r>
          </a:p>
        </p:txBody>
      </p:sp>
      <p:sp>
        <p:nvSpPr>
          <p:cNvPr name="TextBox 16" id="16"/>
          <p:cNvSpPr txBox="true"/>
          <p:nvPr/>
        </p:nvSpPr>
        <p:spPr>
          <a:xfrm rot="0">
            <a:off x="9735931" y="8724900"/>
            <a:ext cx="7848509" cy="533400"/>
          </a:xfrm>
          <a:prstGeom prst="rect">
            <a:avLst/>
          </a:prstGeom>
        </p:spPr>
        <p:txBody>
          <a:bodyPr anchor="t" rtlCol="false" tIns="0" lIns="0" bIns="0" rIns="0">
            <a:spAutoFit/>
          </a:bodyPr>
          <a:lstStyle/>
          <a:p>
            <a:pPr algn="ctr">
              <a:lnSpc>
                <a:spcPts val="4200"/>
              </a:lnSpc>
            </a:pPr>
            <a:r>
              <a:rPr lang="en-US" sz="3000">
                <a:solidFill>
                  <a:srgbClr val="59524B"/>
                </a:solidFill>
                <a:latin typeface="Bebas Neue 1"/>
                <a:ea typeface="Bebas Neue 1"/>
                <a:cs typeface="Bebas Neue 1"/>
                <a:sym typeface="Bebas Neue 1"/>
              </a:rPr>
              <a:t> Hasil Komparasi Simulasi dengan Perbedaan konstanta BEMF</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5313" y="464654"/>
            <a:ext cx="4620127" cy="1523631"/>
            <a:chOff x="0" y="0"/>
            <a:chExt cx="1646395" cy="542950"/>
          </a:xfrm>
        </p:grpSpPr>
        <p:sp>
          <p:nvSpPr>
            <p:cNvPr name="Freeform 3" id="3"/>
            <p:cNvSpPr/>
            <p:nvPr/>
          </p:nvSpPr>
          <p:spPr>
            <a:xfrm flipH="false" flipV="false" rot="0">
              <a:off x="0" y="0"/>
              <a:ext cx="1646395" cy="542950"/>
            </a:xfrm>
            <a:custGeom>
              <a:avLst/>
              <a:gdLst/>
              <a:ahLst/>
              <a:cxnLst/>
              <a:rect r="r" b="b" t="t" l="l"/>
              <a:pathLst>
                <a:path h="542950" w="1646395">
                  <a:moveTo>
                    <a:pt x="1443195" y="0"/>
                  </a:moveTo>
                  <a:cubicBezTo>
                    <a:pt x="1555419" y="0"/>
                    <a:pt x="1646395" y="121543"/>
                    <a:pt x="1646395" y="271475"/>
                  </a:cubicBezTo>
                  <a:cubicBezTo>
                    <a:pt x="1646395" y="421406"/>
                    <a:pt x="1555419" y="542950"/>
                    <a:pt x="1443195" y="542950"/>
                  </a:cubicBezTo>
                  <a:lnTo>
                    <a:pt x="203200" y="542950"/>
                  </a:lnTo>
                  <a:cubicBezTo>
                    <a:pt x="90976" y="542950"/>
                    <a:pt x="0" y="421406"/>
                    <a:pt x="0" y="271475"/>
                  </a:cubicBezTo>
                  <a:cubicBezTo>
                    <a:pt x="0" y="121543"/>
                    <a:pt x="90976" y="0"/>
                    <a:pt x="203200" y="0"/>
                  </a:cubicBezTo>
                  <a:close/>
                </a:path>
              </a:pathLst>
            </a:custGeom>
            <a:solidFill>
              <a:srgbClr val="F2F2F2"/>
            </a:solidFill>
          </p:spPr>
        </p:sp>
        <p:sp>
          <p:nvSpPr>
            <p:cNvPr name="TextBox 4" id="4"/>
            <p:cNvSpPr txBox="true"/>
            <p:nvPr/>
          </p:nvSpPr>
          <p:spPr>
            <a:xfrm>
              <a:off x="0" y="-38100"/>
              <a:ext cx="1646395" cy="5810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038174" y="458478"/>
            <a:ext cx="4563040" cy="1140443"/>
            <a:chOff x="0" y="0"/>
            <a:chExt cx="6084053" cy="1520591"/>
          </a:xfrm>
        </p:grpSpPr>
        <p:grpSp>
          <p:nvGrpSpPr>
            <p:cNvPr name="Group 6" id="6"/>
            <p:cNvGrpSpPr/>
            <p:nvPr/>
          </p:nvGrpSpPr>
          <p:grpSpPr>
            <a:xfrm rot="0">
              <a:off x="0" y="0"/>
              <a:ext cx="6084053" cy="1520591"/>
              <a:chOff x="0" y="0"/>
              <a:chExt cx="1626052" cy="406400"/>
            </a:xfrm>
          </p:grpSpPr>
          <p:sp>
            <p:nvSpPr>
              <p:cNvPr name="Freeform 7" id="7"/>
              <p:cNvSpPr/>
              <p:nvPr/>
            </p:nvSpPr>
            <p:spPr>
              <a:xfrm flipH="false" flipV="false" rot="0">
                <a:off x="0" y="0"/>
                <a:ext cx="1626052" cy="406400"/>
              </a:xfrm>
              <a:custGeom>
                <a:avLst/>
                <a:gdLst/>
                <a:ahLst/>
                <a:cxnLst/>
                <a:rect r="r" b="b" t="t" l="l"/>
                <a:pathLst>
                  <a:path h="406400" w="1626052">
                    <a:moveTo>
                      <a:pt x="1422852" y="0"/>
                    </a:moveTo>
                    <a:cubicBezTo>
                      <a:pt x="1535076" y="0"/>
                      <a:pt x="1626052" y="90976"/>
                      <a:pt x="1626052" y="203200"/>
                    </a:cubicBezTo>
                    <a:cubicBezTo>
                      <a:pt x="1626052" y="315424"/>
                      <a:pt x="1535076" y="406400"/>
                      <a:pt x="1422852"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8" id="8"/>
              <p:cNvSpPr txBox="true"/>
              <p:nvPr/>
            </p:nvSpPr>
            <p:spPr>
              <a:xfrm>
                <a:off x="0" y="-38100"/>
                <a:ext cx="1626052" cy="44450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414535" y="124612"/>
              <a:ext cx="5254984" cy="1271367"/>
            </a:xfrm>
            <a:custGeom>
              <a:avLst/>
              <a:gdLst/>
              <a:ahLst/>
              <a:cxnLst/>
              <a:rect r="r" b="b" t="t" l="l"/>
              <a:pathLst>
                <a:path h="1271367" w="5254984">
                  <a:moveTo>
                    <a:pt x="0" y="0"/>
                  </a:moveTo>
                  <a:lnTo>
                    <a:pt x="5254983" y="0"/>
                  </a:lnTo>
                  <a:lnTo>
                    <a:pt x="5254983" y="1271367"/>
                  </a:lnTo>
                  <a:lnTo>
                    <a:pt x="0" y="1271367"/>
                  </a:lnTo>
                  <a:lnTo>
                    <a:pt x="0" y="0"/>
                  </a:lnTo>
                  <a:close/>
                </a:path>
              </a:pathLst>
            </a:custGeom>
            <a:blipFill>
              <a:blip r:embed="rId2"/>
              <a:stretch>
                <a:fillRect l="0" t="0" r="0" b="0"/>
              </a:stretch>
            </a:blipFill>
          </p:spPr>
        </p:sp>
      </p:grpSp>
      <p:sp>
        <p:nvSpPr>
          <p:cNvPr name="Freeform 10" id="10"/>
          <p:cNvSpPr/>
          <p:nvPr/>
        </p:nvSpPr>
        <p:spPr>
          <a:xfrm flipH="false" flipV="false" rot="0">
            <a:off x="1028700" y="2273276"/>
            <a:ext cx="7892765" cy="5593997"/>
          </a:xfrm>
          <a:custGeom>
            <a:avLst/>
            <a:gdLst/>
            <a:ahLst/>
            <a:cxnLst/>
            <a:rect r="r" b="b" t="t" l="l"/>
            <a:pathLst>
              <a:path h="5593997" w="7892765">
                <a:moveTo>
                  <a:pt x="0" y="0"/>
                </a:moveTo>
                <a:lnTo>
                  <a:pt x="7892765" y="0"/>
                </a:lnTo>
                <a:lnTo>
                  <a:pt x="7892765" y="5593997"/>
                </a:lnTo>
                <a:lnTo>
                  <a:pt x="0" y="5593997"/>
                </a:lnTo>
                <a:lnTo>
                  <a:pt x="0" y="0"/>
                </a:lnTo>
                <a:close/>
              </a:path>
            </a:pathLst>
          </a:custGeom>
          <a:blipFill>
            <a:blip r:embed="rId3"/>
            <a:stretch>
              <a:fillRect l="0" t="0" r="0" b="0"/>
            </a:stretch>
          </a:blipFill>
        </p:spPr>
      </p:sp>
      <p:sp>
        <p:nvSpPr>
          <p:cNvPr name="Freeform 11" id="11"/>
          <p:cNvSpPr/>
          <p:nvPr/>
        </p:nvSpPr>
        <p:spPr>
          <a:xfrm flipH="false" flipV="false" rot="0">
            <a:off x="9366535" y="2273276"/>
            <a:ext cx="7892765" cy="5593997"/>
          </a:xfrm>
          <a:custGeom>
            <a:avLst/>
            <a:gdLst/>
            <a:ahLst/>
            <a:cxnLst/>
            <a:rect r="r" b="b" t="t" l="l"/>
            <a:pathLst>
              <a:path h="5593997" w="7892765">
                <a:moveTo>
                  <a:pt x="0" y="0"/>
                </a:moveTo>
                <a:lnTo>
                  <a:pt x="7892765" y="0"/>
                </a:lnTo>
                <a:lnTo>
                  <a:pt x="7892765" y="5593997"/>
                </a:lnTo>
                <a:lnTo>
                  <a:pt x="0" y="5593997"/>
                </a:lnTo>
                <a:lnTo>
                  <a:pt x="0" y="0"/>
                </a:lnTo>
                <a:close/>
              </a:path>
            </a:pathLst>
          </a:custGeom>
          <a:blipFill>
            <a:blip r:embed="rId4"/>
            <a:stretch>
              <a:fillRect l="0" t="0" r="0" b="0"/>
            </a:stretch>
          </a:blipFill>
        </p:spPr>
      </p:sp>
      <p:sp>
        <p:nvSpPr>
          <p:cNvPr name="Freeform 12" id="12"/>
          <p:cNvSpPr/>
          <p:nvPr/>
        </p:nvSpPr>
        <p:spPr>
          <a:xfrm flipH="false" flipV="false" rot="0">
            <a:off x="3198213" y="8610223"/>
            <a:ext cx="11891573" cy="1135911"/>
          </a:xfrm>
          <a:custGeom>
            <a:avLst/>
            <a:gdLst/>
            <a:ahLst/>
            <a:cxnLst/>
            <a:rect r="r" b="b" t="t" l="l"/>
            <a:pathLst>
              <a:path h="1135911" w="11891573">
                <a:moveTo>
                  <a:pt x="0" y="0"/>
                </a:moveTo>
                <a:lnTo>
                  <a:pt x="11891574" y="0"/>
                </a:lnTo>
                <a:lnTo>
                  <a:pt x="11891574" y="1135912"/>
                </a:lnTo>
                <a:lnTo>
                  <a:pt x="0" y="1135912"/>
                </a:lnTo>
                <a:lnTo>
                  <a:pt x="0" y="0"/>
                </a:lnTo>
                <a:close/>
              </a:path>
            </a:pathLst>
          </a:custGeom>
          <a:blipFill>
            <a:blip r:embed="rId5"/>
            <a:stretch>
              <a:fillRect l="0" t="0" r="0" b="0"/>
            </a:stretch>
          </a:blipFill>
        </p:spPr>
      </p:sp>
      <p:sp>
        <p:nvSpPr>
          <p:cNvPr name="TextBox 13" id="13"/>
          <p:cNvSpPr txBox="true"/>
          <p:nvPr/>
        </p:nvSpPr>
        <p:spPr>
          <a:xfrm rot="0">
            <a:off x="1110116" y="1112169"/>
            <a:ext cx="8350650" cy="995271"/>
          </a:xfrm>
          <a:prstGeom prst="rect">
            <a:avLst/>
          </a:prstGeom>
        </p:spPr>
        <p:txBody>
          <a:bodyPr anchor="t" rtlCol="false" tIns="0" lIns="0" bIns="0" rIns="0">
            <a:spAutoFit/>
          </a:bodyPr>
          <a:lstStyle/>
          <a:p>
            <a:pPr algn="l">
              <a:lnSpc>
                <a:spcPts val="8142"/>
              </a:lnSpc>
            </a:pPr>
            <a:r>
              <a:rPr lang="en-US" sz="5816">
                <a:solidFill>
                  <a:srgbClr val="E5C857"/>
                </a:solidFill>
                <a:latin typeface="Bebas Neue 1"/>
                <a:ea typeface="Bebas Neue 1"/>
                <a:cs typeface="Bebas Neue 1"/>
                <a:sym typeface="Bebas Neue 1"/>
              </a:rPr>
              <a:t>Hasil Open Loop</a:t>
            </a:r>
          </a:p>
        </p:txBody>
      </p:sp>
      <p:sp>
        <p:nvSpPr>
          <p:cNvPr name="TextBox 14" id="14"/>
          <p:cNvSpPr txBox="true"/>
          <p:nvPr/>
        </p:nvSpPr>
        <p:spPr>
          <a:xfrm rot="0">
            <a:off x="1051559" y="344178"/>
            <a:ext cx="4684584" cy="995271"/>
          </a:xfrm>
          <a:prstGeom prst="rect">
            <a:avLst/>
          </a:prstGeom>
        </p:spPr>
        <p:txBody>
          <a:bodyPr anchor="t" rtlCol="false" tIns="0" lIns="0" bIns="0" rIns="0">
            <a:spAutoFit/>
          </a:bodyPr>
          <a:lstStyle/>
          <a:p>
            <a:pPr algn="l">
              <a:lnSpc>
                <a:spcPts val="8142"/>
              </a:lnSpc>
            </a:pPr>
            <a:r>
              <a:rPr lang="en-US" sz="5816">
                <a:solidFill>
                  <a:srgbClr val="59524B"/>
                </a:solidFill>
                <a:latin typeface="Bebas Neue 1"/>
                <a:ea typeface="Bebas Neue 1"/>
                <a:cs typeface="Bebas Neue 1"/>
                <a:sym typeface="Bebas Neue 1"/>
              </a:rPr>
              <a:t>hasil penelitian</a:t>
            </a:r>
          </a:p>
        </p:txBody>
      </p:sp>
      <p:sp>
        <p:nvSpPr>
          <p:cNvPr name="TextBox 15" id="15"/>
          <p:cNvSpPr txBox="true"/>
          <p:nvPr/>
        </p:nvSpPr>
        <p:spPr>
          <a:xfrm rot="0">
            <a:off x="1361186" y="7791073"/>
            <a:ext cx="7848509" cy="533400"/>
          </a:xfrm>
          <a:prstGeom prst="rect">
            <a:avLst/>
          </a:prstGeom>
        </p:spPr>
        <p:txBody>
          <a:bodyPr anchor="t" rtlCol="false" tIns="0" lIns="0" bIns="0" rIns="0">
            <a:spAutoFit/>
          </a:bodyPr>
          <a:lstStyle/>
          <a:p>
            <a:pPr algn="ctr">
              <a:lnSpc>
                <a:spcPts val="4200"/>
              </a:lnSpc>
            </a:pPr>
            <a:r>
              <a:rPr lang="en-US" sz="3000">
                <a:solidFill>
                  <a:srgbClr val="59524B"/>
                </a:solidFill>
                <a:latin typeface="Bebas Neue 1"/>
                <a:ea typeface="Bebas Neue 1"/>
                <a:cs typeface="Bebas Neue 1"/>
                <a:sym typeface="Bebas Neue 1"/>
              </a:rPr>
              <a:t>Hasil open loop kecepatan sudut</a:t>
            </a:r>
          </a:p>
        </p:txBody>
      </p:sp>
      <p:sp>
        <p:nvSpPr>
          <p:cNvPr name="TextBox 16" id="16"/>
          <p:cNvSpPr txBox="true"/>
          <p:nvPr/>
        </p:nvSpPr>
        <p:spPr>
          <a:xfrm rot="0">
            <a:off x="9752705" y="7791073"/>
            <a:ext cx="7848509" cy="533400"/>
          </a:xfrm>
          <a:prstGeom prst="rect">
            <a:avLst/>
          </a:prstGeom>
        </p:spPr>
        <p:txBody>
          <a:bodyPr anchor="t" rtlCol="false" tIns="0" lIns="0" bIns="0" rIns="0">
            <a:spAutoFit/>
          </a:bodyPr>
          <a:lstStyle/>
          <a:p>
            <a:pPr algn="ctr">
              <a:lnSpc>
                <a:spcPts val="4200"/>
              </a:lnSpc>
            </a:pPr>
            <a:r>
              <a:rPr lang="en-US" sz="3000">
                <a:solidFill>
                  <a:srgbClr val="59524B"/>
                </a:solidFill>
                <a:latin typeface="Bebas Neue 1"/>
                <a:ea typeface="Bebas Neue 1"/>
                <a:cs typeface="Bebas Neue 1"/>
                <a:sym typeface="Bebas Neue 1"/>
              </a:rPr>
              <a:t>hasil open loop posisi sudut</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5313" y="464654"/>
            <a:ext cx="4620127" cy="1523631"/>
            <a:chOff x="0" y="0"/>
            <a:chExt cx="1646395" cy="542950"/>
          </a:xfrm>
        </p:grpSpPr>
        <p:sp>
          <p:nvSpPr>
            <p:cNvPr name="Freeform 3" id="3"/>
            <p:cNvSpPr/>
            <p:nvPr/>
          </p:nvSpPr>
          <p:spPr>
            <a:xfrm flipH="false" flipV="false" rot="0">
              <a:off x="0" y="0"/>
              <a:ext cx="1646395" cy="542950"/>
            </a:xfrm>
            <a:custGeom>
              <a:avLst/>
              <a:gdLst/>
              <a:ahLst/>
              <a:cxnLst/>
              <a:rect r="r" b="b" t="t" l="l"/>
              <a:pathLst>
                <a:path h="542950" w="1646395">
                  <a:moveTo>
                    <a:pt x="1443195" y="0"/>
                  </a:moveTo>
                  <a:cubicBezTo>
                    <a:pt x="1555419" y="0"/>
                    <a:pt x="1646395" y="121543"/>
                    <a:pt x="1646395" y="271475"/>
                  </a:cubicBezTo>
                  <a:cubicBezTo>
                    <a:pt x="1646395" y="421406"/>
                    <a:pt x="1555419" y="542950"/>
                    <a:pt x="1443195" y="542950"/>
                  </a:cubicBezTo>
                  <a:lnTo>
                    <a:pt x="203200" y="542950"/>
                  </a:lnTo>
                  <a:cubicBezTo>
                    <a:pt x="90976" y="542950"/>
                    <a:pt x="0" y="421406"/>
                    <a:pt x="0" y="271475"/>
                  </a:cubicBezTo>
                  <a:cubicBezTo>
                    <a:pt x="0" y="121543"/>
                    <a:pt x="90976" y="0"/>
                    <a:pt x="203200" y="0"/>
                  </a:cubicBezTo>
                  <a:close/>
                </a:path>
              </a:pathLst>
            </a:custGeom>
            <a:solidFill>
              <a:srgbClr val="F2F2F2"/>
            </a:solidFill>
          </p:spPr>
        </p:sp>
        <p:sp>
          <p:nvSpPr>
            <p:cNvPr name="TextBox 4" id="4"/>
            <p:cNvSpPr txBox="true"/>
            <p:nvPr/>
          </p:nvSpPr>
          <p:spPr>
            <a:xfrm>
              <a:off x="0" y="-38100"/>
              <a:ext cx="1646395" cy="5810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038174" y="458478"/>
            <a:ext cx="4563040" cy="1140443"/>
            <a:chOff x="0" y="0"/>
            <a:chExt cx="6084053" cy="1520591"/>
          </a:xfrm>
        </p:grpSpPr>
        <p:grpSp>
          <p:nvGrpSpPr>
            <p:cNvPr name="Group 6" id="6"/>
            <p:cNvGrpSpPr/>
            <p:nvPr/>
          </p:nvGrpSpPr>
          <p:grpSpPr>
            <a:xfrm rot="0">
              <a:off x="0" y="0"/>
              <a:ext cx="6084053" cy="1520591"/>
              <a:chOff x="0" y="0"/>
              <a:chExt cx="1626052" cy="406400"/>
            </a:xfrm>
          </p:grpSpPr>
          <p:sp>
            <p:nvSpPr>
              <p:cNvPr name="Freeform 7" id="7"/>
              <p:cNvSpPr/>
              <p:nvPr/>
            </p:nvSpPr>
            <p:spPr>
              <a:xfrm flipH="false" flipV="false" rot="0">
                <a:off x="0" y="0"/>
                <a:ext cx="1626052" cy="406400"/>
              </a:xfrm>
              <a:custGeom>
                <a:avLst/>
                <a:gdLst/>
                <a:ahLst/>
                <a:cxnLst/>
                <a:rect r="r" b="b" t="t" l="l"/>
                <a:pathLst>
                  <a:path h="406400" w="1626052">
                    <a:moveTo>
                      <a:pt x="1422852" y="0"/>
                    </a:moveTo>
                    <a:cubicBezTo>
                      <a:pt x="1535076" y="0"/>
                      <a:pt x="1626052" y="90976"/>
                      <a:pt x="1626052" y="203200"/>
                    </a:cubicBezTo>
                    <a:cubicBezTo>
                      <a:pt x="1626052" y="315424"/>
                      <a:pt x="1535076" y="406400"/>
                      <a:pt x="1422852"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8" id="8"/>
              <p:cNvSpPr txBox="true"/>
              <p:nvPr/>
            </p:nvSpPr>
            <p:spPr>
              <a:xfrm>
                <a:off x="0" y="-38100"/>
                <a:ext cx="1626052" cy="44450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414535" y="124612"/>
              <a:ext cx="5254984" cy="1271367"/>
            </a:xfrm>
            <a:custGeom>
              <a:avLst/>
              <a:gdLst/>
              <a:ahLst/>
              <a:cxnLst/>
              <a:rect r="r" b="b" t="t" l="l"/>
              <a:pathLst>
                <a:path h="1271367" w="5254984">
                  <a:moveTo>
                    <a:pt x="0" y="0"/>
                  </a:moveTo>
                  <a:lnTo>
                    <a:pt x="5254983" y="0"/>
                  </a:lnTo>
                  <a:lnTo>
                    <a:pt x="5254983" y="1271367"/>
                  </a:lnTo>
                  <a:lnTo>
                    <a:pt x="0" y="1271367"/>
                  </a:lnTo>
                  <a:lnTo>
                    <a:pt x="0" y="0"/>
                  </a:lnTo>
                  <a:close/>
                </a:path>
              </a:pathLst>
            </a:custGeom>
            <a:blipFill>
              <a:blip r:embed="rId2"/>
              <a:stretch>
                <a:fillRect l="0" t="0" r="0" b="0"/>
              </a:stretch>
            </a:blipFill>
          </p:spPr>
        </p:sp>
      </p:grpSp>
      <p:sp>
        <p:nvSpPr>
          <p:cNvPr name="Freeform 10" id="10"/>
          <p:cNvSpPr/>
          <p:nvPr/>
        </p:nvSpPr>
        <p:spPr>
          <a:xfrm flipH="false" flipV="false" rot="0">
            <a:off x="1110116" y="2986373"/>
            <a:ext cx="7902545" cy="5600929"/>
          </a:xfrm>
          <a:custGeom>
            <a:avLst/>
            <a:gdLst/>
            <a:ahLst/>
            <a:cxnLst/>
            <a:rect r="r" b="b" t="t" l="l"/>
            <a:pathLst>
              <a:path h="5600929" w="7902545">
                <a:moveTo>
                  <a:pt x="0" y="0"/>
                </a:moveTo>
                <a:lnTo>
                  <a:pt x="7902544" y="0"/>
                </a:lnTo>
                <a:lnTo>
                  <a:pt x="7902544" y="5600929"/>
                </a:lnTo>
                <a:lnTo>
                  <a:pt x="0" y="5600929"/>
                </a:lnTo>
                <a:lnTo>
                  <a:pt x="0" y="0"/>
                </a:lnTo>
                <a:close/>
              </a:path>
            </a:pathLst>
          </a:custGeom>
          <a:blipFill>
            <a:blip r:embed="rId3"/>
            <a:stretch>
              <a:fillRect l="0" t="0" r="0" b="0"/>
            </a:stretch>
          </a:blipFill>
        </p:spPr>
      </p:sp>
      <p:sp>
        <p:nvSpPr>
          <p:cNvPr name="Freeform 11" id="11"/>
          <p:cNvSpPr/>
          <p:nvPr/>
        </p:nvSpPr>
        <p:spPr>
          <a:xfrm flipH="false" flipV="false" rot="0">
            <a:off x="9356755" y="2986373"/>
            <a:ext cx="7902545" cy="5600929"/>
          </a:xfrm>
          <a:custGeom>
            <a:avLst/>
            <a:gdLst/>
            <a:ahLst/>
            <a:cxnLst/>
            <a:rect r="r" b="b" t="t" l="l"/>
            <a:pathLst>
              <a:path h="5600929" w="7902545">
                <a:moveTo>
                  <a:pt x="0" y="0"/>
                </a:moveTo>
                <a:lnTo>
                  <a:pt x="7902545" y="0"/>
                </a:lnTo>
                <a:lnTo>
                  <a:pt x="7902545" y="5600929"/>
                </a:lnTo>
                <a:lnTo>
                  <a:pt x="0" y="5600929"/>
                </a:lnTo>
                <a:lnTo>
                  <a:pt x="0" y="0"/>
                </a:lnTo>
                <a:close/>
              </a:path>
            </a:pathLst>
          </a:custGeom>
          <a:blipFill>
            <a:blip r:embed="rId4"/>
            <a:stretch>
              <a:fillRect l="0" t="0" r="0" b="0"/>
            </a:stretch>
          </a:blipFill>
        </p:spPr>
      </p:sp>
      <p:sp>
        <p:nvSpPr>
          <p:cNvPr name="TextBox 12" id="12"/>
          <p:cNvSpPr txBox="true"/>
          <p:nvPr/>
        </p:nvSpPr>
        <p:spPr>
          <a:xfrm rot="0">
            <a:off x="1110116" y="1112169"/>
            <a:ext cx="8350650" cy="995271"/>
          </a:xfrm>
          <a:prstGeom prst="rect">
            <a:avLst/>
          </a:prstGeom>
        </p:spPr>
        <p:txBody>
          <a:bodyPr anchor="t" rtlCol="false" tIns="0" lIns="0" bIns="0" rIns="0">
            <a:spAutoFit/>
          </a:bodyPr>
          <a:lstStyle/>
          <a:p>
            <a:pPr algn="l">
              <a:lnSpc>
                <a:spcPts val="8142"/>
              </a:lnSpc>
            </a:pPr>
            <a:r>
              <a:rPr lang="en-US" sz="5816">
                <a:solidFill>
                  <a:srgbClr val="E5C857"/>
                </a:solidFill>
                <a:latin typeface="Bebas Neue 1"/>
                <a:ea typeface="Bebas Neue 1"/>
                <a:cs typeface="Bebas Neue 1"/>
                <a:sym typeface="Bebas Neue 1"/>
              </a:rPr>
              <a:t>hasil open loop</a:t>
            </a:r>
          </a:p>
        </p:txBody>
      </p:sp>
      <p:sp>
        <p:nvSpPr>
          <p:cNvPr name="TextBox 13" id="13"/>
          <p:cNvSpPr txBox="true"/>
          <p:nvPr/>
        </p:nvSpPr>
        <p:spPr>
          <a:xfrm rot="0">
            <a:off x="1051559" y="344178"/>
            <a:ext cx="4684584" cy="995271"/>
          </a:xfrm>
          <a:prstGeom prst="rect">
            <a:avLst/>
          </a:prstGeom>
        </p:spPr>
        <p:txBody>
          <a:bodyPr anchor="t" rtlCol="false" tIns="0" lIns="0" bIns="0" rIns="0">
            <a:spAutoFit/>
          </a:bodyPr>
          <a:lstStyle/>
          <a:p>
            <a:pPr algn="l">
              <a:lnSpc>
                <a:spcPts val="8142"/>
              </a:lnSpc>
            </a:pPr>
            <a:r>
              <a:rPr lang="en-US" sz="5816">
                <a:solidFill>
                  <a:srgbClr val="59524B"/>
                </a:solidFill>
                <a:latin typeface="Bebas Neue 1"/>
                <a:ea typeface="Bebas Neue 1"/>
                <a:cs typeface="Bebas Neue 1"/>
                <a:sym typeface="Bebas Neue 1"/>
              </a:rPr>
              <a:t>hasil penelitian</a:t>
            </a:r>
          </a:p>
        </p:txBody>
      </p:sp>
      <p:sp>
        <p:nvSpPr>
          <p:cNvPr name="TextBox 14" id="14"/>
          <p:cNvSpPr txBox="true"/>
          <p:nvPr/>
        </p:nvSpPr>
        <p:spPr>
          <a:xfrm rot="0">
            <a:off x="1028700" y="2248701"/>
            <a:ext cx="8707231" cy="523875"/>
          </a:xfrm>
          <a:prstGeom prst="rect">
            <a:avLst/>
          </a:prstGeom>
        </p:spPr>
        <p:txBody>
          <a:bodyPr anchor="t" rtlCol="false" tIns="0" lIns="0" bIns="0" rIns="0">
            <a:spAutoFit/>
          </a:bodyPr>
          <a:lstStyle/>
          <a:p>
            <a:pPr algn="l">
              <a:lnSpc>
                <a:spcPts val="3959"/>
              </a:lnSpc>
            </a:pPr>
            <a:r>
              <a:rPr lang="en-US" sz="3299" b="true">
                <a:solidFill>
                  <a:srgbClr val="59524B"/>
                </a:solidFill>
                <a:latin typeface="Poppins Bold"/>
                <a:ea typeface="Poppins Bold"/>
                <a:cs typeface="Poppins Bold"/>
                <a:sym typeface="Poppins Bold"/>
              </a:rPr>
              <a:t>Va</a:t>
            </a:r>
            <a:r>
              <a:rPr lang="en-US" b="true" sz="3299">
                <a:solidFill>
                  <a:srgbClr val="59524B"/>
                </a:solidFill>
                <a:latin typeface="Poppins Bold"/>
                <a:ea typeface="Poppins Bold"/>
                <a:cs typeface="Poppins Bold"/>
                <a:sym typeface="Poppins Bold"/>
              </a:rPr>
              <a:t>lidasi Model Motor BLDC</a:t>
            </a:r>
          </a:p>
        </p:txBody>
      </p:sp>
      <p:sp>
        <p:nvSpPr>
          <p:cNvPr name="TextBox 15" id="15"/>
          <p:cNvSpPr txBox="true"/>
          <p:nvPr/>
        </p:nvSpPr>
        <p:spPr>
          <a:xfrm rot="0">
            <a:off x="1137134" y="8682552"/>
            <a:ext cx="7848509" cy="533400"/>
          </a:xfrm>
          <a:prstGeom prst="rect">
            <a:avLst/>
          </a:prstGeom>
        </p:spPr>
        <p:txBody>
          <a:bodyPr anchor="t" rtlCol="false" tIns="0" lIns="0" bIns="0" rIns="0">
            <a:spAutoFit/>
          </a:bodyPr>
          <a:lstStyle/>
          <a:p>
            <a:pPr algn="ctr">
              <a:lnSpc>
                <a:spcPts val="4200"/>
              </a:lnSpc>
            </a:pPr>
            <a:r>
              <a:rPr lang="en-US" sz="3000">
                <a:solidFill>
                  <a:srgbClr val="59524B"/>
                </a:solidFill>
                <a:latin typeface="Bebas Neue 1"/>
                <a:ea typeface="Bebas Neue 1"/>
                <a:cs typeface="Bebas Neue 1"/>
                <a:sym typeface="Bebas Neue 1"/>
              </a:rPr>
              <a:t> Komparasi Hasil Simulasi dan Hardware Arus Tiga Fasa</a:t>
            </a:r>
          </a:p>
        </p:txBody>
      </p:sp>
      <p:sp>
        <p:nvSpPr>
          <p:cNvPr name="TextBox 16" id="16"/>
          <p:cNvSpPr txBox="true"/>
          <p:nvPr/>
        </p:nvSpPr>
        <p:spPr>
          <a:xfrm rot="0">
            <a:off x="9735931" y="8682552"/>
            <a:ext cx="7848509" cy="533400"/>
          </a:xfrm>
          <a:prstGeom prst="rect">
            <a:avLst/>
          </a:prstGeom>
        </p:spPr>
        <p:txBody>
          <a:bodyPr anchor="t" rtlCol="false" tIns="0" lIns="0" bIns="0" rIns="0">
            <a:spAutoFit/>
          </a:bodyPr>
          <a:lstStyle/>
          <a:p>
            <a:pPr algn="ctr">
              <a:lnSpc>
                <a:spcPts val="4200"/>
              </a:lnSpc>
            </a:pPr>
            <a:r>
              <a:rPr lang="en-US" sz="3000">
                <a:solidFill>
                  <a:srgbClr val="59524B"/>
                </a:solidFill>
                <a:latin typeface="Bebas Neue 1"/>
                <a:ea typeface="Bebas Neue 1"/>
                <a:cs typeface="Bebas Neue 1"/>
                <a:sym typeface="Bebas Neue 1"/>
              </a:rPr>
              <a:t>Komparasi Hasil Simulasi dan Hardware Posisi Sudut</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5313" y="464654"/>
            <a:ext cx="4620127" cy="1523631"/>
            <a:chOff x="0" y="0"/>
            <a:chExt cx="1646395" cy="542950"/>
          </a:xfrm>
        </p:grpSpPr>
        <p:sp>
          <p:nvSpPr>
            <p:cNvPr name="Freeform 3" id="3"/>
            <p:cNvSpPr/>
            <p:nvPr/>
          </p:nvSpPr>
          <p:spPr>
            <a:xfrm flipH="false" flipV="false" rot="0">
              <a:off x="0" y="0"/>
              <a:ext cx="1646395" cy="542950"/>
            </a:xfrm>
            <a:custGeom>
              <a:avLst/>
              <a:gdLst/>
              <a:ahLst/>
              <a:cxnLst/>
              <a:rect r="r" b="b" t="t" l="l"/>
              <a:pathLst>
                <a:path h="542950" w="1646395">
                  <a:moveTo>
                    <a:pt x="1443195" y="0"/>
                  </a:moveTo>
                  <a:cubicBezTo>
                    <a:pt x="1555419" y="0"/>
                    <a:pt x="1646395" y="121543"/>
                    <a:pt x="1646395" y="271475"/>
                  </a:cubicBezTo>
                  <a:cubicBezTo>
                    <a:pt x="1646395" y="421406"/>
                    <a:pt x="1555419" y="542950"/>
                    <a:pt x="1443195" y="542950"/>
                  </a:cubicBezTo>
                  <a:lnTo>
                    <a:pt x="203200" y="542950"/>
                  </a:lnTo>
                  <a:cubicBezTo>
                    <a:pt x="90976" y="542950"/>
                    <a:pt x="0" y="421406"/>
                    <a:pt x="0" y="271475"/>
                  </a:cubicBezTo>
                  <a:cubicBezTo>
                    <a:pt x="0" y="121543"/>
                    <a:pt x="90976" y="0"/>
                    <a:pt x="203200" y="0"/>
                  </a:cubicBezTo>
                  <a:close/>
                </a:path>
              </a:pathLst>
            </a:custGeom>
            <a:solidFill>
              <a:srgbClr val="F2F2F2"/>
            </a:solidFill>
          </p:spPr>
        </p:sp>
        <p:sp>
          <p:nvSpPr>
            <p:cNvPr name="TextBox 4" id="4"/>
            <p:cNvSpPr txBox="true"/>
            <p:nvPr/>
          </p:nvSpPr>
          <p:spPr>
            <a:xfrm>
              <a:off x="0" y="-38100"/>
              <a:ext cx="1646395" cy="5810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038174" y="458478"/>
            <a:ext cx="4563040" cy="1140443"/>
            <a:chOff x="0" y="0"/>
            <a:chExt cx="6084053" cy="1520591"/>
          </a:xfrm>
        </p:grpSpPr>
        <p:grpSp>
          <p:nvGrpSpPr>
            <p:cNvPr name="Group 6" id="6"/>
            <p:cNvGrpSpPr/>
            <p:nvPr/>
          </p:nvGrpSpPr>
          <p:grpSpPr>
            <a:xfrm rot="0">
              <a:off x="0" y="0"/>
              <a:ext cx="6084053" cy="1520591"/>
              <a:chOff x="0" y="0"/>
              <a:chExt cx="1626052" cy="406400"/>
            </a:xfrm>
          </p:grpSpPr>
          <p:sp>
            <p:nvSpPr>
              <p:cNvPr name="Freeform 7" id="7"/>
              <p:cNvSpPr/>
              <p:nvPr/>
            </p:nvSpPr>
            <p:spPr>
              <a:xfrm flipH="false" flipV="false" rot="0">
                <a:off x="0" y="0"/>
                <a:ext cx="1626052" cy="406400"/>
              </a:xfrm>
              <a:custGeom>
                <a:avLst/>
                <a:gdLst/>
                <a:ahLst/>
                <a:cxnLst/>
                <a:rect r="r" b="b" t="t" l="l"/>
                <a:pathLst>
                  <a:path h="406400" w="1626052">
                    <a:moveTo>
                      <a:pt x="1422852" y="0"/>
                    </a:moveTo>
                    <a:cubicBezTo>
                      <a:pt x="1535076" y="0"/>
                      <a:pt x="1626052" y="90976"/>
                      <a:pt x="1626052" y="203200"/>
                    </a:cubicBezTo>
                    <a:cubicBezTo>
                      <a:pt x="1626052" y="315424"/>
                      <a:pt x="1535076" y="406400"/>
                      <a:pt x="1422852"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8" id="8"/>
              <p:cNvSpPr txBox="true"/>
              <p:nvPr/>
            </p:nvSpPr>
            <p:spPr>
              <a:xfrm>
                <a:off x="0" y="-38100"/>
                <a:ext cx="1626052" cy="44450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414535" y="124612"/>
              <a:ext cx="5254984" cy="1271367"/>
            </a:xfrm>
            <a:custGeom>
              <a:avLst/>
              <a:gdLst/>
              <a:ahLst/>
              <a:cxnLst/>
              <a:rect r="r" b="b" t="t" l="l"/>
              <a:pathLst>
                <a:path h="1271367" w="5254984">
                  <a:moveTo>
                    <a:pt x="0" y="0"/>
                  </a:moveTo>
                  <a:lnTo>
                    <a:pt x="5254983" y="0"/>
                  </a:lnTo>
                  <a:lnTo>
                    <a:pt x="5254983" y="1271367"/>
                  </a:lnTo>
                  <a:lnTo>
                    <a:pt x="0" y="1271367"/>
                  </a:lnTo>
                  <a:lnTo>
                    <a:pt x="0" y="0"/>
                  </a:lnTo>
                  <a:close/>
                </a:path>
              </a:pathLst>
            </a:custGeom>
            <a:blipFill>
              <a:blip r:embed="rId2"/>
              <a:stretch>
                <a:fillRect l="0" t="0" r="0" b="0"/>
              </a:stretch>
            </a:blipFill>
          </p:spPr>
        </p:sp>
      </p:grpSp>
      <p:sp>
        <p:nvSpPr>
          <p:cNvPr name="Freeform 10" id="10"/>
          <p:cNvSpPr/>
          <p:nvPr/>
        </p:nvSpPr>
        <p:spPr>
          <a:xfrm flipH="false" flipV="false" rot="0">
            <a:off x="2518702" y="4382301"/>
            <a:ext cx="13884128" cy="2967463"/>
          </a:xfrm>
          <a:custGeom>
            <a:avLst/>
            <a:gdLst/>
            <a:ahLst/>
            <a:cxnLst/>
            <a:rect r="r" b="b" t="t" l="l"/>
            <a:pathLst>
              <a:path h="2967463" w="13884128">
                <a:moveTo>
                  <a:pt x="0" y="0"/>
                </a:moveTo>
                <a:lnTo>
                  <a:pt x="13884128" y="0"/>
                </a:lnTo>
                <a:lnTo>
                  <a:pt x="13884128" y="2967462"/>
                </a:lnTo>
                <a:lnTo>
                  <a:pt x="0" y="2967462"/>
                </a:lnTo>
                <a:lnTo>
                  <a:pt x="0" y="0"/>
                </a:lnTo>
                <a:close/>
              </a:path>
            </a:pathLst>
          </a:custGeom>
          <a:blipFill>
            <a:blip r:embed="rId3"/>
            <a:stretch>
              <a:fillRect l="0" t="0" r="0" b="0"/>
            </a:stretch>
          </a:blipFill>
        </p:spPr>
      </p:sp>
      <p:sp>
        <p:nvSpPr>
          <p:cNvPr name="TextBox 11" id="11"/>
          <p:cNvSpPr txBox="true"/>
          <p:nvPr/>
        </p:nvSpPr>
        <p:spPr>
          <a:xfrm rot="0">
            <a:off x="1110116" y="1112169"/>
            <a:ext cx="8350650" cy="995271"/>
          </a:xfrm>
          <a:prstGeom prst="rect">
            <a:avLst/>
          </a:prstGeom>
        </p:spPr>
        <p:txBody>
          <a:bodyPr anchor="t" rtlCol="false" tIns="0" lIns="0" bIns="0" rIns="0">
            <a:spAutoFit/>
          </a:bodyPr>
          <a:lstStyle/>
          <a:p>
            <a:pPr algn="l">
              <a:lnSpc>
                <a:spcPts val="8142"/>
              </a:lnSpc>
            </a:pPr>
            <a:r>
              <a:rPr lang="en-US" sz="5816">
                <a:solidFill>
                  <a:srgbClr val="E5C857"/>
                </a:solidFill>
                <a:latin typeface="Bebas Neue 1"/>
                <a:ea typeface="Bebas Neue 1"/>
                <a:cs typeface="Bebas Neue 1"/>
                <a:sym typeface="Bebas Neue 1"/>
              </a:rPr>
              <a:t>hasil open loop</a:t>
            </a:r>
          </a:p>
        </p:txBody>
      </p:sp>
      <p:sp>
        <p:nvSpPr>
          <p:cNvPr name="TextBox 12" id="12"/>
          <p:cNvSpPr txBox="true"/>
          <p:nvPr/>
        </p:nvSpPr>
        <p:spPr>
          <a:xfrm rot="0">
            <a:off x="1051559" y="344178"/>
            <a:ext cx="4684584" cy="995271"/>
          </a:xfrm>
          <a:prstGeom prst="rect">
            <a:avLst/>
          </a:prstGeom>
        </p:spPr>
        <p:txBody>
          <a:bodyPr anchor="t" rtlCol="false" tIns="0" lIns="0" bIns="0" rIns="0">
            <a:spAutoFit/>
          </a:bodyPr>
          <a:lstStyle/>
          <a:p>
            <a:pPr algn="l">
              <a:lnSpc>
                <a:spcPts val="8142"/>
              </a:lnSpc>
            </a:pPr>
            <a:r>
              <a:rPr lang="en-US" sz="5816">
                <a:solidFill>
                  <a:srgbClr val="59524B"/>
                </a:solidFill>
                <a:latin typeface="Bebas Neue 1"/>
                <a:ea typeface="Bebas Neue 1"/>
                <a:cs typeface="Bebas Neue 1"/>
                <a:sym typeface="Bebas Neue 1"/>
              </a:rPr>
              <a:t>hasil penelitian</a:t>
            </a:r>
          </a:p>
        </p:txBody>
      </p:sp>
      <p:sp>
        <p:nvSpPr>
          <p:cNvPr name="TextBox 13" id="13"/>
          <p:cNvSpPr txBox="true"/>
          <p:nvPr/>
        </p:nvSpPr>
        <p:spPr>
          <a:xfrm rot="0">
            <a:off x="1028700" y="2248701"/>
            <a:ext cx="8707231" cy="523875"/>
          </a:xfrm>
          <a:prstGeom prst="rect">
            <a:avLst/>
          </a:prstGeom>
        </p:spPr>
        <p:txBody>
          <a:bodyPr anchor="t" rtlCol="false" tIns="0" lIns="0" bIns="0" rIns="0">
            <a:spAutoFit/>
          </a:bodyPr>
          <a:lstStyle/>
          <a:p>
            <a:pPr algn="l">
              <a:lnSpc>
                <a:spcPts val="3959"/>
              </a:lnSpc>
            </a:pPr>
            <a:r>
              <a:rPr lang="en-US" sz="3299" b="true">
                <a:solidFill>
                  <a:srgbClr val="59524B"/>
                </a:solidFill>
                <a:latin typeface="Poppins Bold"/>
                <a:ea typeface="Poppins Bold"/>
                <a:cs typeface="Poppins Bold"/>
                <a:sym typeface="Poppins Bold"/>
              </a:rPr>
              <a:t>Va</a:t>
            </a:r>
            <a:r>
              <a:rPr lang="en-US" b="true" sz="3299">
                <a:solidFill>
                  <a:srgbClr val="59524B"/>
                </a:solidFill>
                <a:latin typeface="Poppins Bold"/>
                <a:ea typeface="Poppins Bold"/>
                <a:cs typeface="Poppins Bold"/>
                <a:sym typeface="Poppins Bold"/>
              </a:rPr>
              <a:t>lidasi Model Motor BLDC</a:t>
            </a:r>
          </a:p>
        </p:txBody>
      </p:sp>
      <p:sp>
        <p:nvSpPr>
          <p:cNvPr name="TextBox 14" id="14"/>
          <p:cNvSpPr txBox="true"/>
          <p:nvPr/>
        </p:nvSpPr>
        <p:spPr>
          <a:xfrm rot="0">
            <a:off x="1028700" y="7454538"/>
            <a:ext cx="16018279" cy="368300"/>
          </a:xfrm>
          <a:prstGeom prst="rect">
            <a:avLst/>
          </a:prstGeom>
        </p:spPr>
        <p:txBody>
          <a:bodyPr anchor="t" rtlCol="false" tIns="0" lIns="0" bIns="0" rIns="0">
            <a:spAutoFit/>
          </a:bodyPr>
          <a:lstStyle/>
          <a:p>
            <a:pPr algn="l">
              <a:lnSpc>
                <a:spcPts val="2800"/>
              </a:lnSpc>
            </a:pPr>
            <a:r>
              <a:rPr lang="en-US" sz="2000" b="true">
                <a:solidFill>
                  <a:srgbClr val="010101"/>
                </a:solidFill>
                <a:latin typeface="Poppins Bold"/>
                <a:ea typeface="Poppins Bold"/>
                <a:cs typeface="Poppins Bold"/>
                <a:sym typeface="Poppins Bold"/>
              </a:rPr>
              <a:t>Nilai error yang didapatkan berada di bawah ambang batas keberterimaan &lt;10% yang harapkan untuk sebuah model</a:t>
            </a:r>
          </a:p>
        </p:txBody>
      </p:sp>
      <p:sp>
        <p:nvSpPr>
          <p:cNvPr name="TextBox 15" id="15"/>
          <p:cNvSpPr txBox="true"/>
          <p:nvPr/>
        </p:nvSpPr>
        <p:spPr>
          <a:xfrm rot="0">
            <a:off x="1051559" y="3858426"/>
            <a:ext cx="8707231" cy="523875"/>
          </a:xfrm>
          <a:prstGeom prst="rect">
            <a:avLst/>
          </a:prstGeom>
        </p:spPr>
        <p:txBody>
          <a:bodyPr anchor="t" rtlCol="false" tIns="0" lIns="0" bIns="0" rIns="0">
            <a:spAutoFit/>
          </a:bodyPr>
          <a:lstStyle/>
          <a:p>
            <a:pPr algn="l">
              <a:lnSpc>
                <a:spcPts val="3959"/>
              </a:lnSpc>
            </a:pPr>
            <a:r>
              <a:rPr lang="en-US" sz="3299" b="true">
                <a:solidFill>
                  <a:srgbClr val="59524B"/>
                </a:solidFill>
                <a:latin typeface="Poppins Bold"/>
                <a:ea typeface="Poppins Bold"/>
                <a:cs typeface="Poppins Bold"/>
                <a:sym typeface="Poppins Bold"/>
              </a:rPr>
              <a:t>Metr</a:t>
            </a:r>
            <a:r>
              <a:rPr lang="en-US" b="true" sz="3299">
                <a:solidFill>
                  <a:srgbClr val="59524B"/>
                </a:solidFill>
                <a:latin typeface="Poppins Bold"/>
                <a:ea typeface="Poppins Bold"/>
                <a:cs typeface="Poppins Bold"/>
                <a:sym typeface="Poppins Bold"/>
              </a:rPr>
              <a:t>ik Kebersamaan Model Motor BLDC</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5313" y="464654"/>
            <a:ext cx="5425406" cy="1523631"/>
            <a:chOff x="0" y="0"/>
            <a:chExt cx="1933358" cy="542950"/>
          </a:xfrm>
        </p:grpSpPr>
        <p:sp>
          <p:nvSpPr>
            <p:cNvPr name="Freeform 3" id="3"/>
            <p:cNvSpPr/>
            <p:nvPr/>
          </p:nvSpPr>
          <p:spPr>
            <a:xfrm flipH="false" flipV="false" rot="0">
              <a:off x="0" y="0"/>
              <a:ext cx="1933358" cy="542950"/>
            </a:xfrm>
            <a:custGeom>
              <a:avLst/>
              <a:gdLst/>
              <a:ahLst/>
              <a:cxnLst/>
              <a:rect r="r" b="b" t="t" l="l"/>
              <a:pathLst>
                <a:path h="542950" w="1933358">
                  <a:moveTo>
                    <a:pt x="1730158" y="0"/>
                  </a:moveTo>
                  <a:cubicBezTo>
                    <a:pt x="1842383" y="0"/>
                    <a:pt x="1933358" y="121543"/>
                    <a:pt x="1933358" y="271475"/>
                  </a:cubicBezTo>
                  <a:cubicBezTo>
                    <a:pt x="1933358" y="421406"/>
                    <a:pt x="1842383" y="542950"/>
                    <a:pt x="1730158" y="542950"/>
                  </a:cubicBezTo>
                  <a:lnTo>
                    <a:pt x="203200" y="542950"/>
                  </a:lnTo>
                  <a:cubicBezTo>
                    <a:pt x="90976" y="542950"/>
                    <a:pt x="0" y="421406"/>
                    <a:pt x="0" y="271475"/>
                  </a:cubicBezTo>
                  <a:cubicBezTo>
                    <a:pt x="0" y="121543"/>
                    <a:pt x="90976" y="0"/>
                    <a:pt x="203200" y="0"/>
                  </a:cubicBezTo>
                  <a:close/>
                </a:path>
              </a:pathLst>
            </a:custGeom>
            <a:solidFill>
              <a:srgbClr val="F2F2F2"/>
            </a:solidFill>
          </p:spPr>
        </p:sp>
        <p:sp>
          <p:nvSpPr>
            <p:cNvPr name="TextBox 4" id="4"/>
            <p:cNvSpPr txBox="true"/>
            <p:nvPr/>
          </p:nvSpPr>
          <p:spPr>
            <a:xfrm>
              <a:off x="0" y="-38100"/>
              <a:ext cx="1933358" cy="5810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038174" y="458478"/>
            <a:ext cx="4563040" cy="1140443"/>
            <a:chOff x="0" y="0"/>
            <a:chExt cx="6084053" cy="1520591"/>
          </a:xfrm>
        </p:grpSpPr>
        <p:grpSp>
          <p:nvGrpSpPr>
            <p:cNvPr name="Group 6" id="6"/>
            <p:cNvGrpSpPr/>
            <p:nvPr/>
          </p:nvGrpSpPr>
          <p:grpSpPr>
            <a:xfrm rot="0">
              <a:off x="0" y="0"/>
              <a:ext cx="6084053" cy="1520591"/>
              <a:chOff x="0" y="0"/>
              <a:chExt cx="1626052" cy="406400"/>
            </a:xfrm>
          </p:grpSpPr>
          <p:sp>
            <p:nvSpPr>
              <p:cNvPr name="Freeform 7" id="7"/>
              <p:cNvSpPr/>
              <p:nvPr/>
            </p:nvSpPr>
            <p:spPr>
              <a:xfrm flipH="false" flipV="false" rot="0">
                <a:off x="0" y="0"/>
                <a:ext cx="1626052" cy="406400"/>
              </a:xfrm>
              <a:custGeom>
                <a:avLst/>
                <a:gdLst/>
                <a:ahLst/>
                <a:cxnLst/>
                <a:rect r="r" b="b" t="t" l="l"/>
                <a:pathLst>
                  <a:path h="406400" w="1626052">
                    <a:moveTo>
                      <a:pt x="1422852" y="0"/>
                    </a:moveTo>
                    <a:cubicBezTo>
                      <a:pt x="1535076" y="0"/>
                      <a:pt x="1626052" y="90976"/>
                      <a:pt x="1626052" y="203200"/>
                    </a:cubicBezTo>
                    <a:cubicBezTo>
                      <a:pt x="1626052" y="315424"/>
                      <a:pt x="1535076" y="406400"/>
                      <a:pt x="1422852"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8" id="8"/>
              <p:cNvSpPr txBox="true"/>
              <p:nvPr/>
            </p:nvSpPr>
            <p:spPr>
              <a:xfrm>
                <a:off x="0" y="-38100"/>
                <a:ext cx="1626052" cy="44450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414535" y="124612"/>
              <a:ext cx="5254984" cy="1271367"/>
            </a:xfrm>
            <a:custGeom>
              <a:avLst/>
              <a:gdLst/>
              <a:ahLst/>
              <a:cxnLst/>
              <a:rect r="r" b="b" t="t" l="l"/>
              <a:pathLst>
                <a:path h="1271367" w="5254984">
                  <a:moveTo>
                    <a:pt x="0" y="0"/>
                  </a:moveTo>
                  <a:lnTo>
                    <a:pt x="5254983" y="0"/>
                  </a:lnTo>
                  <a:lnTo>
                    <a:pt x="5254983" y="1271367"/>
                  </a:lnTo>
                  <a:lnTo>
                    <a:pt x="0" y="1271367"/>
                  </a:lnTo>
                  <a:lnTo>
                    <a:pt x="0" y="0"/>
                  </a:lnTo>
                  <a:close/>
                </a:path>
              </a:pathLst>
            </a:custGeom>
            <a:blipFill>
              <a:blip r:embed="rId2"/>
              <a:stretch>
                <a:fillRect l="0" t="0" r="0" b="0"/>
              </a:stretch>
            </a:blipFill>
          </p:spPr>
        </p:sp>
      </p:grpSp>
      <p:sp>
        <p:nvSpPr>
          <p:cNvPr name="Freeform 10" id="10"/>
          <p:cNvSpPr/>
          <p:nvPr/>
        </p:nvSpPr>
        <p:spPr>
          <a:xfrm flipH="false" flipV="false" rot="0">
            <a:off x="1028700" y="2657271"/>
            <a:ext cx="7892765" cy="5593997"/>
          </a:xfrm>
          <a:custGeom>
            <a:avLst/>
            <a:gdLst/>
            <a:ahLst/>
            <a:cxnLst/>
            <a:rect r="r" b="b" t="t" l="l"/>
            <a:pathLst>
              <a:path h="5593997" w="7892765">
                <a:moveTo>
                  <a:pt x="0" y="0"/>
                </a:moveTo>
                <a:lnTo>
                  <a:pt x="7892765" y="0"/>
                </a:lnTo>
                <a:lnTo>
                  <a:pt x="7892765" y="5593998"/>
                </a:lnTo>
                <a:lnTo>
                  <a:pt x="0" y="5593998"/>
                </a:lnTo>
                <a:lnTo>
                  <a:pt x="0" y="0"/>
                </a:lnTo>
                <a:close/>
              </a:path>
            </a:pathLst>
          </a:custGeom>
          <a:blipFill>
            <a:blip r:embed="rId3"/>
            <a:stretch>
              <a:fillRect l="0" t="0" r="0" b="0"/>
            </a:stretch>
          </a:blipFill>
        </p:spPr>
      </p:sp>
      <p:sp>
        <p:nvSpPr>
          <p:cNvPr name="Freeform 11" id="11"/>
          <p:cNvSpPr/>
          <p:nvPr/>
        </p:nvSpPr>
        <p:spPr>
          <a:xfrm flipH="false" flipV="false" rot="0">
            <a:off x="9288932" y="2657271"/>
            <a:ext cx="7892765" cy="5593997"/>
          </a:xfrm>
          <a:custGeom>
            <a:avLst/>
            <a:gdLst/>
            <a:ahLst/>
            <a:cxnLst/>
            <a:rect r="r" b="b" t="t" l="l"/>
            <a:pathLst>
              <a:path h="5593997" w="7892765">
                <a:moveTo>
                  <a:pt x="0" y="0"/>
                </a:moveTo>
                <a:lnTo>
                  <a:pt x="7892765" y="0"/>
                </a:lnTo>
                <a:lnTo>
                  <a:pt x="7892765" y="5593998"/>
                </a:lnTo>
                <a:lnTo>
                  <a:pt x="0" y="5593998"/>
                </a:lnTo>
                <a:lnTo>
                  <a:pt x="0" y="0"/>
                </a:lnTo>
                <a:close/>
              </a:path>
            </a:pathLst>
          </a:custGeom>
          <a:blipFill>
            <a:blip r:embed="rId4"/>
            <a:stretch>
              <a:fillRect l="0" t="0" r="0" b="0"/>
            </a:stretch>
          </a:blipFill>
        </p:spPr>
      </p:sp>
      <p:sp>
        <p:nvSpPr>
          <p:cNvPr name="TextBox 12" id="12"/>
          <p:cNvSpPr txBox="true"/>
          <p:nvPr/>
        </p:nvSpPr>
        <p:spPr>
          <a:xfrm rot="0">
            <a:off x="1110116" y="1112169"/>
            <a:ext cx="6001921" cy="995271"/>
          </a:xfrm>
          <a:prstGeom prst="rect">
            <a:avLst/>
          </a:prstGeom>
        </p:spPr>
        <p:txBody>
          <a:bodyPr anchor="t" rtlCol="false" tIns="0" lIns="0" bIns="0" rIns="0">
            <a:spAutoFit/>
          </a:bodyPr>
          <a:lstStyle/>
          <a:p>
            <a:pPr algn="l">
              <a:lnSpc>
                <a:spcPts val="8142"/>
              </a:lnSpc>
            </a:pPr>
            <a:r>
              <a:rPr lang="en-US" sz="5816">
                <a:solidFill>
                  <a:srgbClr val="E5C857"/>
                </a:solidFill>
                <a:latin typeface="Bebas Neue 1"/>
                <a:ea typeface="Bebas Neue 1"/>
                <a:cs typeface="Bebas Neue 1"/>
                <a:sym typeface="Bebas Neue 1"/>
              </a:rPr>
              <a:t>hasil FOC sensored</a:t>
            </a:r>
          </a:p>
        </p:txBody>
      </p:sp>
      <p:sp>
        <p:nvSpPr>
          <p:cNvPr name="TextBox 13" id="13"/>
          <p:cNvSpPr txBox="true"/>
          <p:nvPr/>
        </p:nvSpPr>
        <p:spPr>
          <a:xfrm rot="0">
            <a:off x="1051559" y="344178"/>
            <a:ext cx="4684584" cy="995271"/>
          </a:xfrm>
          <a:prstGeom prst="rect">
            <a:avLst/>
          </a:prstGeom>
        </p:spPr>
        <p:txBody>
          <a:bodyPr anchor="t" rtlCol="false" tIns="0" lIns="0" bIns="0" rIns="0">
            <a:spAutoFit/>
          </a:bodyPr>
          <a:lstStyle/>
          <a:p>
            <a:pPr algn="l">
              <a:lnSpc>
                <a:spcPts val="8142"/>
              </a:lnSpc>
            </a:pPr>
            <a:r>
              <a:rPr lang="en-US" sz="5816">
                <a:solidFill>
                  <a:srgbClr val="59524B"/>
                </a:solidFill>
                <a:latin typeface="Bebas Neue 1"/>
                <a:ea typeface="Bebas Neue 1"/>
                <a:cs typeface="Bebas Neue 1"/>
                <a:sym typeface="Bebas Neue 1"/>
              </a:rPr>
              <a:t>hasil penelitian</a:t>
            </a:r>
          </a:p>
        </p:txBody>
      </p:sp>
      <p:sp>
        <p:nvSpPr>
          <p:cNvPr name="TextBox 14" id="14"/>
          <p:cNvSpPr txBox="true"/>
          <p:nvPr/>
        </p:nvSpPr>
        <p:spPr>
          <a:xfrm rot="0">
            <a:off x="1162095" y="8175069"/>
            <a:ext cx="7625974" cy="533400"/>
          </a:xfrm>
          <a:prstGeom prst="rect">
            <a:avLst/>
          </a:prstGeom>
        </p:spPr>
        <p:txBody>
          <a:bodyPr anchor="t" rtlCol="false" tIns="0" lIns="0" bIns="0" rIns="0">
            <a:spAutoFit/>
          </a:bodyPr>
          <a:lstStyle/>
          <a:p>
            <a:pPr algn="ctr">
              <a:lnSpc>
                <a:spcPts val="4200"/>
              </a:lnSpc>
            </a:pPr>
            <a:r>
              <a:rPr lang="en-US" sz="3000">
                <a:solidFill>
                  <a:srgbClr val="59524B"/>
                </a:solidFill>
                <a:latin typeface="Bebas Neue 1"/>
                <a:ea typeface="Bebas Neue 1"/>
                <a:cs typeface="Bebas Neue 1"/>
                <a:sym typeface="Bebas Neue 1"/>
              </a:rPr>
              <a:t>Hasil closed loop simulasi kecepatan sudut</a:t>
            </a:r>
          </a:p>
        </p:txBody>
      </p:sp>
      <p:sp>
        <p:nvSpPr>
          <p:cNvPr name="TextBox 15" id="15"/>
          <p:cNvSpPr txBox="true"/>
          <p:nvPr/>
        </p:nvSpPr>
        <p:spPr>
          <a:xfrm rot="0">
            <a:off x="9422328" y="8175069"/>
            <a:ext cx="7625974" cy="533400"/>
          </a:xfrm>
          <a:prstGeom prst="rect">
            <a:avLst/>
          </a:prstGeom>
        </p:spPr>
        <p:txBody>
          <a:bodyPr anchor="t" rtlCol="false" tIns="0" lIns="0" bIns="0" rIns="0">
            <a:spAutoFit/>
          </a:bodyPr>
          <a:lstStyle/>
          <a:p>
            <a:pPr algn="ctr">
              <a:lnSpc>
                <a:spcPts val="4200"/>
              </a:lnSpc>
            </a:pPr>
            <a:r>
              <a:rPr lang="en-US" sz="3000">
                <a:solidFill>
                  <a:srgbClr val="59524B"/>
                </a:solidFill>
                <a:latin typeface="Bebas Neue 1"/>
                <a:ea typeface="Bebas Neue 1"/>
                <a:cs typeface="Bebas Neue 1"/>
                <a:sym typeface="Bebas Neue 1"/>
              </a:rPr>
              <a:t>Hasil closed loop hardware kecepatan sudut</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5313" y="464654"/>
            <a:ext cx="5425406" cy="1523631"/>
            <a:chOff x="0" y="0"/>
            <a:chExt cx="1933358" cy="542950"/>
          </a:xfrm>
        </p:grpSpPr>
        <p:sp>
          <p:nvSpPr>
            <p:cNvPr name="Freeform 3" id="3"/>
            <p:cNvSpPr/>
            <p:nvPr/>
          </p:nvSpPr>
          <p:spPr>
            <a:xfrm flipH="false" flipV="false" rot="0">
              <a:off x="0" y="0"/>
              <a:ext cx="1933358" cy="542950"/>
            </a:xfrm>
            <a:custGeom>
              <a:avLst/>
              <a:gdLst/>
              <a:ahLst/>
              <a:cxnLst/>
              <a:rect r="r" b="b" t="t" l="l"/>
              <a:pathLst>
                <a:path h="542950" w="1933358">
                  <a:moveTo>
                    <a:pt x="1730158" y="0"/>
                  </a:moveTo>
                  <a:cubicBezTo>
                    <a:pt x="1842383" y="0"/>
                    <a:pt x="1933358" y="121543"/>
                    <a:pt x="1933358" y="271475"/>
                  </a:cubicBezTo>
                  <a:cubicBezTo>
                    <a:pt x="1933358" y="421406"/>
                    <a:pt x="1842383" y="542950"/>
                    <a:pt x="1730158" y="542950"/>
                  </a:cubicBezTo>
                  <a:lnTo>
                    <a:pt x="203200" y="542950"/>
                  </a:lnTo>
                  <a:cubicBezTo>
                    <a:pt x="90976" y="542950"/>
                    <a:pt x="0" y="421406"/>
                    <a:pt x="0" y="271475"/>
                  </a:cubicBezTo>
                  <a:cubicBezTo>
                    <a:pt x="0" y="121543"/>
                    <a:pt x="90976" y="0"/>
                    <a:pt x="203200" y="0"/>
                  </a:cubicBezTo>
                  <a:close/>
                </a:path>
              </a:pathLst>
            </a:custGeom>
            <a:solidFill>
              <a:srgbClr val="F2F2F2"/>
            </a:solidFill>
          </p:spPr>
        </p:sp>
        <p:sp>
          <p:nvSpPr>
            <p:cNvPr name="TextBox 4" id="4"/>
            <p:cNvSpPr txBox="true"/>
            <p:nvPr/>
          </p:nvSpPr>
          <p:spPr>
            <a:xfrm>
              <a:off x="0" y="-38100"/>
              <a:ext cx="1933358" cy="5810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038174" y="458478"/>
            <a:ext cx="4563040" cy="1140443"/>
            <a:chOff x="0" y="0"/>
            <a:chExt cx="6084053" cy="1520591"/>
          </a:xfrm>
        </p:grpSpPr>
        <p:grpSp>
          <p:nvGrpSpPr>
            <p:cNvPr name="Group 6" id="6"/>
            <p:cNvGrpSpPr/>
            <p:nvPr/>
          </p:nvGrpSpPr>
          <p:grpSpPr>
            <a:xfrm rot="0">
              <a:off x="0" y="0"/>
              <a:ext cx="6084053" cy="1520591"/>
              <a:chOff x="0" y="0"/>
              <a:chExt cx="1626052" cy="406400"/>
            </a:xfrm>
          </p:grpSpPr>
          <p:sp>
            <p:nvSpPr>
              <p:cNvPr name="Freeform 7" id="7"/>
              <p:cNvSpPr/>
              <p:nvPr/>
            </p:nvSpPr>
            <p:spPr>
              <a:xfrm flipH="false" flipV="false" rot="0">
                <a:off x="0" y="0"/>
                <a:ext cx="1626052" cy="406400"/>
              </a:xfrm>
              <a:custGeom>
                <a:avLst/>
                <a:gdLst/>
                <a:ahLst/>
                <a:cxnLst/>
                <a:rect r="r" b="b" t="t" l="l"/>
                <a:pathLst>
                  <a:path h="406400" w="1626052">
                    <a:moveTo>
                      <a:pt x="1422852" y="0"/>
                    </a:moveTo>
                    <a:cubicBezTo>
                      <a:pt x="1535076" y="0"/>
                      <a:pt x="1626052" y="90976"/>
                      <a:pt x="1626052" y="203200"/>
                    </a:cubicBezTo>
                    <a:cubicBezTo>
                      <a:pt x="1626052" y="315424"/>
                      <a:pt x="1535076" y="406400"/>
                      <a:pt x="1422852"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8" id="8"/>
              <p:cNvSpPr txBox="true"/>
              <p:nvPr/>
            </p:nvSpPr>
            <p:spPr>
              <a:xfrm>
                <a:off x="0" y="-38100"/>
                <a:ext cx="1626052" cy="44450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414535" y="124612"/>
              <a:ext cx="5254984" cy="1271367"/>
            </a:xfrm>
            <a:custGeom>
              <a:avLst/>
              <a:gdLst/>
              <a:ahLst/>
              <a:cxnLst/>
              <a:rect r="r" b="b" t="t" l="l"/>
              <a:pathLst>
                <a:path h="1271367" w="5254984">
                  <a:moveTo>
                    <a:pt x="0" y="0"/>
                  </a:moveTo>
                  <a:lnTo>
                    <a:pt x="5254983" y="0"/>
                  </a:lnTo>
                  <a:lnTo>
                    <a:pt x="5254983" y="1271367"/>
                  </a:lnTo>
                  <a:lnTo>
                    <a:pt x="0" y="1271367"/>
                  </a:lnTo>
                  <a:lnTo>
                    <a:pt x="0" y="0"/>
                  </a:lnTo>
                  <a:close/>
                </a:path>
              </a:pathLst>
            </a:custGeom>
            <a:blipFill>
              <a:blip r:embed="rId2"/>
              <a:stretch>
                <a:fillRect l="0" t="0" r="0" b="0"/>
              </a:stretch>
            </a:blipFill>
          </p:spPr>
        </p:sp>
      </p:grpSp>
      <p:sp>
        <p:nvSpPr>
          <p:cNvPr name="Freeform 10" id="10"/>
          <p:cNvSpPr/>
          <p:nvPr/>
        </p:nvSpPr>
        <p:spPr>
          <a:xfrm flipH="false" flipV="false" rot="0">
            <a:off x="1028700" y="2657271"/>
            <a:ext cx="7892765" cy="5593997"/>
          </a:xfrm>
          <a:custGeom>
            <a:avLst/>
            <a:gdLst/>
            <a:ahLst/>
            <a:cxnLst/>
            <a:rect r="r" b="b" t="t" l="l"/>
            <a:pathLst>
              <a:path h="5593997" w="7892765">
                <a:moveTo>
                  <a:pt x="0" y="0"/>
                </a:moveTo>
                <a:lnTo>
                  <a:pt x="7892765" y="0"/>
                </a:lnTo>
                <a:lnTo>
                  <a:pt x="7892765" y="5593998"/>
                </a:lnTo>
                <a:lnTo>
                  <a:pt x="0" y="5593998"/>
                </a:lnTo>
                <a:lnTo>
                  <a:pt x="0" y="0"/>
                </a:lnTo>
                <a:close/>
              </a:path>
            </a:pathLst>
          </a:custGeom>
          <a:blipFill>
            <a:blip r:embed="rId3"/>
            <a:stretch>
              <a:fillRect l="0" t="0" r="0" b="0"/>
            </a:stretch>
          </a:blipFill>
        </p:spPr>
      </p:sp>
      <p:sp>
        <p:nvSpPr>
          <p:cNvPr name="Freeform 11" id="11"/>
          <p:cNvSpPr/>
          <p:nvPr/>
        </p:nvSpPr>
        <p:spPr>
          <a:xfrm flipH="false" flipV="false" rot="0">
            <a:off x="9091792" y="2657271"/>
            <a:ext cx="7892765" cy="5593997"/>
          </a:xfrm>
          <a:custGeom>
            <a:avLst/>
            <a:gdLst/>
            <a:ahLst/>
            <a:cxnLst/>
            <a:rect r="r" b="b" t="t" l="l"/>
            <a:pathLst>
              <a:path h="5593997" w="7892765">
                <a:moveTo>
                  <a:pt x="0" y="0"/>
                </a:moveTo>
                <a:lnTo>
                  <a:pt x="7892765" y="0"/>
                </a:lnTo>
                <a:lnTo>
                  <a:pt x="7892765" y="5593998"/>
                </a:lnTo>
                <a:lnTo>
                  <a:pt x="0" y="5593998"/>
                </a:lnTo>
                <a:lnTo>
                  <a:pt x="0" y="0"/>
                </a:lnTo>
                <a:close/>
              </a:path>
            </a:pathLst>
          </a:custGeom>
          <a:blipFill>
            <a:blip r:embed="rId4"/>
            <a:stretch>
              <a:fillRect l="0" t="0" r="0" b="0"/>
            </a:stretch>
          </a:blipFill>
        </p:spPr>
      </p:sp>
      <p:sp>
        <p:nvSpPr>
          <p:cNvPr name="TextBox 12" id="12"/>
          <p:cNvSpPr txBox="true"/>
          <p:nvPr/>
        </p:nvSpPr>
        <p:spPr>
          <a:xfrm rot="0">
            <a:off x="1110116" y="1112169"/>
            <a:ext cx="6001921" cy="995271"/>
          </a:xfrm>
          <a:prstGeom prst="rect">
            <a:avLst/>
          </a:prstGeom>
        </p:spPr>
        <p:txBody>
          <a:bodyPr anchor="t" rtlCol="false" tIns="0" lIns="0" bIns="0" rIns="0">
            <a:spAutoFit/>
          </a:bodyPr>
          <a:lstStyle/>
          <a:p>
            <a:pPr algn="l">
              <a:lnSpc>
                <a:spcPts val="8142"/>
              </a:lnSpc>
            </a:pPr>
            <a:r>
              <a:rPr lang="en-US" sz="5816">
                <a:solidFill>
                  <a:srgbClr val="E5C857"/>
                </a:solidFill>
                <a:latin typeface="Bebas Neue 1"/>
                <a:ea typeface="Bebas Neue 1"/>
                <a:cs typeface="Bebas Neue 1"/>
                <a:sym typeface="Bebas Neue 1"/>
              </a:rPr>
              <a:t>hasil FOC sensored</a:t>
            </a:r>
          </a:p>
        </p:txBody>
      </p:sp>
      <p:sp>
        <p:nvSpPr>
          <p:cNvPr name="TextBox 13" id="13"/>
          <p:cNvSpPr txBox="true"/>
          <p:nvPr/>
        </p:nvSpPr>
        <p:spPr>
          <a:xfrm rot="0">
            <a:off x="1051559" y="344178"/>
            <a:ext cx="4684584" cy="995271"/>
          </a:xfrm>
          <a:prstGeom prst="rect">
            <a:avLst/>
          </a:prstGeom>
        </p:spPr>
        <p:txBody>
          <a:bodyPr anchor="t" rtlCol="false" tIns="0" lIns="0" bIns="0" rIns="0">
            <a:spAutoFit/>
          </a:bodyPr>
          <a:lstStyle/>
          <a:p>
            <a:pPr algn="l">
              <a:lnSpc>
                <a:spcPts val="8142"/>
              </a:lnSpc>
            </a:pPr>
            <a:r>
              <a:rPr lang="en-US" sz="5816">
                <a:solidFill>
                  <a:srgbClr val="59524B"/>
                </a:solidFill>
                <a:latin typeface="Bebas Neue 1"/>
                <a:ea typeface="Bebas Neue 1"/>
                <a:cs typeface="Bebas Neue 1"/>
                <a:sym typeface="Bebas Neue 1"/>
              </a:rPr>
              <a:t>hasil penelitian</a:t>
            </a:r>
          </a:p>
        </p:txBody>
      </p:sp>
      <p:sp>
        <p:nvSpPr>
          <p:cNvPr name="TextBox 14" id="14"/>
          <p:cNvSpPr txBox="true"/>
          <p:nvPr/>
        </p:nvSpPr>
        <p:spPr>
          <a:xfrm rot="0">
            <a:off x="1162095" y="8175069"/>
            <a:ext cx="7625974" cy="533400"/>
          </a:xfrm>
          <a:prstGeom prst="rect">
            <a:avLst/>
          </a:prstGeom>
        </p:spPr>
        <p:txBody>
          <a:bodyPr anchor="t" rtlCol="false" tIns="0" lIns="0" bIns="0" rIns="0">
            <a:spAutoFit/>
          </a:bodyPr>
          <a:lstStyle/>
          <a:p>
            <a:pPr algn="ctr">
              <a:lnSpc>
                <a:spcPts val="4200"/>
              </a:lnSpc>
            </a:pPr>
            <a:r>
              <a:rPr lang="en-US" sz="3000">
                <a:solidFill>
                  <a:srgbClr val="59524B"/>
                </a:solidFill>
                <a:latin typeface="Bebas Neue 1"/>
                <a:ea typeface="Bebas Neue 1"/>
                <a:cs typeface="Bebas Neue 1"/>
                <a:sym typeface="Bebas Neue 1"/>
              </a:rPr>
              <a:t>Hasil closed loop simulasi posisi sudut</a:t>
            </a:r>
          </a:p>
        </p:txBody>
      </p:sp>
      <p:sp>
        <p:nvSpPr>
          <p:cNvPr name="TextBox 15" id="15"/>
          <p:cNvSpPr txBox="true"/>
          <p:nvPr/>
        </p:nvSpPr>
        <p:spPr>
          <a:xfrm rot="0">
            <a:off x="9422328" y="8175069"/>
            <a:ext cx="7625974" cy="533400"/>
          </a:xfrm>
          <a:prstGeom prst="rect">
            <a:avLst/>
          </a:prstGeom>
        </p:spPr>
        <p:txBody>
          <a:bodyPr anchor="t" rtlCol="false" tIns="0" lIns="0" bIns="0" rIns="0">
            <a:spAutoFit/>
          </a:bodyPr>
          <a:lstStyle/>
          <a:p>
            <a:pPr algn="ctr">
              <a:lnSpc>
                <a:spcPts val="4200"/>
              </a:lnSpc>
            </a:pPr>
            <a:r>
              <a:rPr lang="en-US" sz="3000">
                <a:solidFill>
                  <a:srgbClr val="59524B"/>
                </a:solidFill>
                <a:latin typeface="Bebas Neue 1"/>
                <a:ea typeface="Bebas Neue 1"/>
                <a:cs typeface="Bebas Neue 1"/>
                <a:sym typeface="Bebas Neue 1"/>
              </a:rPr>
              <a:t>Hasil closed loop hardware posisi sudut</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5313" y="464654"/>
            <a:ext cx="5425406" cy="1523631"/>
            <a:chOff x="0" y="0"/>
            <a:chExt cx="1933358" cy="542950"/>
          </a:xfrm>
        </p:grpSpPr>
        <p:sp>
          <p:nvSpPr>
            <p:cNvPr name="Freeform 3" id="3"/>
            <p:cNvSpPr/>
            <p:nvPr/>
          </p:nvSpPr>
          <p:spPr>
            <a:xfrm flipH="false" flipV="false" rot="0">
              <a:off x="0" y="0"/>
              <a:ext cx="1933358" cy="542950"/>
            </a:xfrm>
            <a:custGeom>
              <a:avLst/>
              <a:gdLst/>
              <a:ahLst/>
              <a:cxnLst/>
              <a:rect r="r" b="b" t="t" l="l"/>
              <a:pathLst>
                <a:path h="542950" w="1933358">
                  <a:moveTo>
                    <a:pt x="1730158" y="0"/>
                  </a:moveTo>
                  <a:cubicBezTo>
                    <a:pt x="1842383" y="0"/>
                    <a:pt x="1933358" y="121543"/>
                    <a:pt x="1933358" y="271475"/>
                  </a:cubicBezTo>
                  <a:cubicBezTo>
                    <a:pt x="1933358" y="421406"/>
                    <a:pt x="1842383" y="542950"/>
                    <a:pt x="1730158" y="542950"/>
                  </a:cubicBezTo>
                  <a:lnTo>
                    <a:pt x="203200" y="542950"/>
                  </a:lnTo>
                  <a:cubicBezTo>
                    <a:pt x="90976" y="542950"/>
                    <a:pt x="0" y="421406"/>
                    <a:pt x="0" y="271475"/>
                  </a:cubicBezTo>
                  <a:cubicBezTo>
                    <a:pt x="0" y="121543"/>
                    <a:pt x="90976" y="0"/>
                    <a:pt x="203200" y="0"/>
                  </a:cubicBezTo>
                  <a:close/>
                </a:path>
              </a:pathLst>
            </a:custGeom>
            <a:solidFill>
              <a:srgbClr val="F2F2F2"/>
            </a:solidFill>
          </p:spPr>
        </p:sp>
        <p:sp>
          <p:nvSpPr>
            <p:cNvPr name="TextBox 4" id="4"/>
            <p:cNvSpPr txBox="true"/>
            <p:nvPr/>
          </p:nvSpPr>
          <p:spPr>
            <a:xfrm>
              <a:off x="0" y="-38100"/>
              <a:ext cx="1933358" cy="5810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038174" y="458478"/>
            <a:ext cx="4563040" cy="1140443"/>
            <a:chOff x="0" y="0"/>
            <a:chExt cx="6084053" cy="1520591"/>
          </a:xfrm>
        </p:grpSpPr>
        <p:grpSp>
          <p:nvGrpSpPr>
            <p:cNvPr name="Group 6" id="6"/>
            <p:cNvGrpSpPr/>
            <p:nvPr/>
          </p:nvGrpSpPr>
          <p:grpSpPr>
            <a:xfrm rot="0">
              <a:off x="0" y="0"/>
              <a:ext cx="6084053" cy="1520591"/>
              <a:chOff x="0" y="0"/>
              <a:chExt cx="1626052" cy="406400"/>
            </a:xfrm>
          </p:grpSpPr>
          <p:sp>
            <p:nvSpPr>
              <p:cNvPr name="Freeform 7" id="7"/>
              <p:cNvSpPr/>
              <p:nvPr/>
            </p:nvSpPr>
            <p:spPr>
              <a:xfrm flipH="false" flipV="false" rot="0">
                <a:off x="0" y="0"/>
                <a:ext cx="1626052" cy="406400"/>
              </a:xfrm>
              <a:custGeom>
                <a:avLst/>
                <a:gdLst/>
                <a:ahLst/>
                <a:cxnLst/>
                <a:rect r="r" b="b" t="t" l="l"/>
                <a:pathLst>
                  <a:path h="406400" w="1626052">
                    <a:moveTo>
                      <a:pt x="1422852" y="0"/>
                    </a:moveTo>
                    <a:cubicBezTo>
                      <a:pt x="1535076" y="0"/>
                      <a:pt x="1626052" y="90976"/>
                      <a:pt x="1626052" y="203200"/>
                    </a:cubicBezTo>
                    <a:cubicBezTo>
                      <a:pt x="1626052" y="315424"/>
                      <a:pt x="1535076" y="406400"/>
                      <a:pt x="1422852"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8" id="8"/>
              <p:cNvSpPr txBox="true"/>
              <p:nvPr/>
            </p:nvSpPr>
            <p:spPr>
              <a:xfrm>
                <a:off x="0" y="-38100"/>
                <a:ext cx="1626052" cy="44450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414535" y="124612"/>
              <a:ext cx="5254984" cy="1271367"/>
            </a:xfrm>
            <a:custGeom>
              <a:avLst/>
              <a:gdLst/>
              <a:ahLst/>
              <a:cxnLst/>
              <a:rect r="r" b="b" t="t" l="l"/>
              <a:pathLst>
                <a:path h="1271367" w="5254984">
                  <a:moveTo>
                    <a:pt x="0" y="0"/>
                  </a:moveTo>
                  <a:lnTo>
                    <a:pt x="5254983" y="0"/>
                  </a:lnTo>
                  <a:lnTo>
                    <a:pt x="5254983" y="1271367"/>
                  </a:lnTo>
                  <a:lnTo>
                    <a:pt x="0" y="1271367"/>
                  </a:lnTo>
                  <a:lnTo>
                    <a:pt x="0" y="0"/>
                  </a:lnTo>
                  <a:close/>
                </a:path>
              </a:pathLst>
            </a:custGeom>
            <a:blipFill>
              <a:blip r:embed="rId2"/>
              <a:stretch>
                <a:fillRect l="0" t="0" r="0" b="0"/>
              </a:stretch>
            </a:blipFill>
          </p:spPr>
        </p:sp>
      </p:grpSp>
      <p:sp>
        <p:nvSpPr>
          <p:cNvPr name="Freeform 10" id="10"/>
          <p:cNvSpPr/>
          <p:nvPr/>
        </p:nvSpPr>
        <p:spPr>
          <a:xfrm flipH="false" flipV="false" rot="0">
            <a:off x="1028700" y="2657271"/>
            <a:ext cx="7892765" cy="5593997"/>
          </a:xfrm>
          <a:custGeom>
            <a:avLst/>
            <a:gdLst/>
            <a:ahLst/>
            <a:cxnLst/>
            <a:rect r="r" b="b" t="t" l="l"/>
            <a:pathLst>
              <a:path h="5593997" w="7892765">
                <a:moveTo>
                  <a:pt x="0" y="0"/>
                </a:moveTo>
                <a:lnTo>
                  <a:pt x="7892765" y="0"/>
                </a:lnTo>
                <a:lnTo>
                  <a:pt x="7892765" y="5593998"/>
                </a:lnTo>
                <a:lnTo>
                  <a:pt x="0" y="5593998"/>
                </a:lnTo>
                <a:lnTo>
                  <a:pt x="0" y="0"/>
                </a:lnTo>
                <a:close/>
              </a:path>
            </a:pathLst>
          </a:custGeom>
          <a:blipFill>
            <a:blip r:embed="rId3"/>
            <a:stretch>
              <a:fillRect l="0" t="0" r="0" b="0"/>
            </a:stretch>
          </a:blipFill>
        </p:spPr>
      </p:sp>
      <p:sp>
        <p:nvSpPr>
          <p:cNvPr name="Freeform 11" id="11"/>
          <p:cNvSpPr/>
          <p:nvPr/>
        </p:nvSpPr>
        <p:spPr>
          <a:xfrm flipH="false" flipV="false" rot="0">
            <a:off x="9288932" y="2657271"/>
            <a:ext cx="7892765" cy="5593997"/>
          </a:xfrm>
          <a:custGeom>
            <a:avLst/>
            <a:gdLst/>
            <a:ahLst/>
            <a:cxnLst/>
            <a:rect r="r" b="b" t="t" l="l"/>
            <a:pathLst>
              <a:path h="5593997" w="7892765">
                <a:moveTo>
                  <a:pt x="0" y="0"/>
                </a:moveTo>
                <a:lnTo>
                  <a:pt x="7892765" y="0"/>
                </a:lnTo>
                <a:lnTo>
                  <a:pt x="7892765" y="5593998"/>
                </a:lnTo>
                <a:lnTo>
                  <a:pt x="0" y="5593998"/>
                </a:lnTo>
                <a:lnTo>
                  <a:pt x="0" y="0"/>
                </a:lnTo>
                <a:close/>
              </a:path>
            </a:pathLst>
          </a:custGeom>
          <a:blipFill>
            <a:blip r:embed="rId4"/>
            <a:stretch>
              <a:fillRect l="0" t="0" r="0" b="0"/>
            </a:stretch>
          </a:blipFill>
        </p:spPr>
      </p:sp>
      <p:sp>
        <p:nvSpPr>
          <p:cNvPr name="TextBox 12" id="12"/>
          <p:cNvSpPr txBox="true"/>
          <p:nvPr/>
        </p:nvSpPr>
        <p:spPr>
          <a:xfrm rot="0">
            <a:off x="1110116" y="1112169"/>
            <a:ext cx="6001921" cy="995271"/>
          </a:xfrm>
          <a:prstGeom prst="rect">
            <a:avLst/>
          </a:prstGeom>
        </p:spPr>
        <p:txBody>
          <a:bodyPr anchor="t" rtlCol="false" tIns="0" lIns="0" bIns="0" rIns="0">
            <a:spAutoFit/>
          </a:bodyPr>
          <a:lstStyle/>
          <a:p>
            <a:pPr algn="l">
              <a:lnSpc>
                <a:spcPts val="8142"/>
              </a:lnSpc>
            </a:pPr>
            <a:r>
              <a:rPr lang="en-US" sz="5816">
                <a:solidFill>
                  <a:srgbClr val="E5C857"/>
                </a:solidFill>
                <a:latin typeface="Bebas Neue 1"/>
                <a:ea typeface="Bebas Neue 1"/>
                <a:cs typeface="Bebas Neue 1"/>
                <a:sym typeface="Bebas Neue 1"/>
              </a:rPr>
              <a:t>hasil FOC sensored</a:t>
            </a:r>
          </a:p>
        </p:txBody>
      </p:sp>
      <p:sp>
        <p:nvSpPr>
          <p:cNvPr name="TextBox 13" id="13"/>
          <p:cNvSpPr txBox="true"/>
          <p:nvPr/>
        </p:nvSpPr>
        <p:spPr>
          <a:xfrm rot="0">
            <a:off x="1051559" y="344178"/>
            <a:ext cx="4684584" cy="995271"/>
          </a:xfrm>
          <a:prstGeom prst="rect">
            <a:avLst/>
          </a:prstGeom>
        </p:spPr>
        <p:txBody>
          <a:bodyPr anchor="t" rtlCol="false" tIns="0" lIns="0" bIns="0" rIns="0">
            <a:spAutoFit/>
          </a:bodyPr>
          <a:lstStyle/>
          <a:p>
            <a:pPr algn="l">
              <a:lnSpc>
                <a:spcPts val="8142"/>
              </a:lnSpc>
            </a:pPr>
            <a:r>
              <a:rPr lang="en-US" sz="5816">
                <a:solidFill>
                  <a:srgbClr val="59524B"/>
                </a:solidFill>
                <a:latin typeface="Bebas Neue 1"/>
                <a:ea typeface="Bebas Neue 1"/>
                <a:cs typeface="Bebas Neue 1"/>
                <a:sym typeface="Bebas Neue 1"/>
              </a:rPr>
              <a:t>hasil penelitian</a:t>
            </a:r>
          </a:p>
        </p:txBody>
      </p:sp>
      <p:sp>
        <p:nvSpPr>
          <p:cNvPr name="TextBox 14" id="14"/>
          <p:cNvSpPr txBox="true"/>
          <p:nvPr/>
        </p:nvSpPr>
        <p:spPr>
          <a:xfrm rot="0">
            <a:off x="1162095" y="8175069"/>
            <a:ext cx="7625974" cy="533400"/>
          </a:xfrm>
          <a:prstGeom prst="rect">
            <a:avLst/>
          </a:prstGeom>
        </p:spPr>
        <p:txBody>
          <a:bodyPr anchor="t" rtlCol="false" tIns="0" lIns="0" bIns="0" rIns="0">
            <a:spAutoFit/>
          </a:bodyPr>
          <a:lstStyle/>
          <a:p>
            <a:pPr algn="ctr">
              <a:lnSpc>
                <a:spcPts val="4200"/>
              </a:lnSpc>
            </a:pPr>
            <a:r>
              <a:rPr lang="en-US" sz="3000">
                <a:solidFill>
                  <a:srgbClr val="59524B"/>
                </a:solidFill>
                <a:latin typeface="Bebas Neue 1"/>
                <a:ea typeface="Bebas Neue 1"/>
                <a:cs typeface="Bebas Neue 1"/>
                <a:sym typeface="Bebas Neue 1"/>
              </a:rPr>
              <a:t>Hasil closed loop simulasi arus alpha-beta</a:t>
            </a:r>
          </a:p>
        </p:txBody>
      </p:sp>
      <p:sp>
        <p:nvSpPr>
          <p:cNvPr name="TextBox 15" id="15"/>
          <p:cNvSpPr txBox="true"/>
          <p:nvPr/>
        </p:nvSpPr>
        <p:spPr>
          <a:xfrm rot="0">
            <a:off x="9422328" y="8175069"/>
            <a:ext cx="7625974" cy="533400"/>
          </a:xfrm>
          <a:prstGeom prst="rect">
            <a:avLst/>
          </a:prstGeom>
        </p:spPr>
        <p:txBody>
          <a:bodyPr anchor="t" rtlCol="false" tIns="0" lIns="0" bIns="0" rIns="0">
            <a:spAutoFit/>
          </a:bodyPr>
          <a:lstStyle/>
          <a:p>
            <a:pPr algn="ctr">
              <a:lnSpc>
                <a:spcPts val="4200"/>
              </a:lnSpc>
            </a:pPr>
            <a:r>
              <a:rPr lang="en-US" sz="3000">
                <a:solidFill>
                  <a:srgbClr val="59524B"/>
                </a:solidFill>
                <a:latin typeface="Bebas Neue 1"/>
                <a:ea typeface="Bebas Neue 1"/>
                <a:cs typeface="Bebas Neue 1"/>
                <a:sym typeface="Bebas Neue 1"/>
              </a:rPr>
              <a:t>Hasil closed loop hardware arus alpha-beta</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5313" y="464654"/>
            <a:ext cx="5425406" cy="1523631"/>
            <a:chOff x="0" y="0"/>
            <a:chExt cx="1933358" cy="542950"/>
          </a:xfrm>
        </p:grpSpPr>
        <p:sp>
          <p:nvSpPr>
            <p:cNvPr name="Freeform 3" id="3"/>
            <p:cNvSpPr/>
            <p:nvPr/>
          </p:nvSpPr>
          <p:spPr>
            <a:xfrm flipH="false" flipV="false" rot="0">
              <a:off x="0" y="0"/>
              <a:ext cx="1933358" cy="542950"/>
            </a:xfrm>
            <a:custGeom>
              <a:avLst/>
              <a:gdLst/>
              <a:ahLst/>
              <a:cxnLst/>
              <a:rect r="r" b="b" t="t" l="l"/>
              <a:pathLst>
                <a:path h="542950" w="1933358">
                  <a:moveTo>
                    <a:pt x="1730158" y="0"/>
                  </a:moveTo>
                  <a:cubicBezTo>
                    <a:pt x="1842383" y="0"/>
                    <a:pt x="1933358" y="121543"/>
                    <a:pt x="1933358" y="271475"/>
                  </a:cubicBezTo>
                  <a:cubicBezTo>
                    <a:pt x="1933358" y="421406"/>
                    <a:pt x="1842383" y="542950"/>
                    <a:pt x="1730158" y="542950"/>
                  </a:cubicBezTo>
                  <a:lnTo>
                    <a:pt x="203200" y="542950"/>
                  </a:lnTo>
                  <a:cubicBezTo>
                    <a:pt x="90976" y="542950"/>
                    <a:pt x="0" y="421406"/>
                    <a:pt x="0" y="271475"/>
                  </a:cubicBezTo>
                  <a:cubicBezTo>
                    <a:pt x="0" y="121543"/>
                    <a:pt x="90976" y="0"/>
                    <a:pt x="203200" y="0"/>
                  </a:cubicBezTo>
                  <a:close/>
                </a:path>
              </a:pathLst>
            </a:custGeom>
            <a:solidFill>
              <a:srgbClr val="F2F2F2"/>
            </a:solidFill>
          </p:spPr>
        </p:sp>
        <p:sp>
          <p:nvSpPr>
            <p:cNvPr name="TextBox 4" id="4"/>
            <p:cNvSpPr txBox="true"/>
            <p:nvPr/>
          </p:nvSpPr>
          <p:spPr>
            <a:xfrm>
              <a:off x="0" y="-38100"/>
              <a:ext cx="1933358" cy="5810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038174" y="458478"/>
            <a:ext cx="4563040" cy="1140443"/>
            <a:chOff x="0" y="0"/>
            <a:chExt cx="6084053" cy="1520591"/>
          </a:xfrm>
        </p:grpSpPr>
        <p:grpSp>
          <p:nvGrpSpPr>
            <p:cNvPr name="Group 6" id="6"/>
            <p:cNvGrpSpPr/>
            <p:nvPr/>
          </p:nvGrpSpPr>
          <p:grpSpPr>
            <a:xfrm rot="0">
              <a:off x="0" y="0"/>
              <a:ext cx="6084053" cy="1520591"/>
              <a:chOff x="0" y="0"/>
              <a:chExt cx="1626052" cy="406400"/>
            </a:xfrm>
          </p:grpSpPr>
          <p:sp>
            <p:nvSpPr>
              <p:cNvPr name="Freeform 7" id="7"/>
              <p:cNvSpPr/>
              <p:nvPr/>
            </p:nvSpPr>
            <p:spPr>
              <a:xfrm flipH="false" flipV="false" rot="0">
                <a:off x="0" y="0"/>
                <a:ext cx="1626052" cy="406400"/>
              </a:xfrm>
              <a:custGeom>
                <a:avLst/>
                <a:gdLst/>
                <a:ahLst/>
                <a:cxnLst/>
                <a:rect r="r" b="b" t="t" l="l"/>
                <a:pathLst>
                  <a:path h="406400" w="1626052">
                    <a:moveTo>
                      <a:pt x="1422852" y="0"/>
                    </a:moveTo>
                    <a:cubicBezTo>
                      <a:pt x="1535076" y="0"/>
                      <a:pt x="1626052" y="90976"/>
                      <a:pt x="1626052" y="203200"/>
                    </a:cubicBezTo>
                    <a:cubicBezTo>
                      <a:pt x="1626052" y="315424"/>
                      <a:pt x="1535076" y="406400"/>
                      <a:pt x="1422852"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8" id="8"/>
              <p:cNvSpPr txBox="true"/>
              <p:nvPr/>
            </p:nvSpPr>
            <p:spPr>
              <a:xfrm>
                <a:off x="0" y="-38100"/>
                <a:ext cx="1626052" cy="44450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414535" y="124612"/>
              <a:ext cx="5254984" cy="1271367"/>
            </a:xfrm>
            <a:custGeom>
              <a:avLst/>
              <a:gdLst/>
              <a:ahLst/>
              <a:cxnLst/>
              <a:rect r="r" b="b" t="t" l="l"/>
              <a:pathLst>
                <a:path h="1271367" w="5254984">
                  <a:moveTo>
                    <a:pt x="0" y="0"/>
                  </a:moveTo>
                  <a:lnTo>
                    <a:pt x="5254983" y="0"/>
                  </a:lnTo>
                  <a:lnTo>
                    <a:pt x="5254983" y="1271367"/>
                  </a:lnTo>
                  <a:lnTo>
                    <a:pt x="0" y="1271367"/>
                  </a:lnTo>
                  <a:lnTo>
                    <a:pt x="0" y="0"/>
                  </a:lnTo>
                  <a:close/>
                </a:path>
              </a:pathLst>
            </a:custGeom>
            <a:blipFill>
              <a:blip r:embed="rId2"/>
              <a:stretch>
                <a:fillRect l="0" t="0" r="0" b="0"/>
              </a:stretch>
            </a:blipFill>
          </p:spPr>
        </p:sp>
      </p:grpSp>
      <p:sp>
        <p:nvSpPr>
          <p:cNvPr name="Freeform 10" id="10"/>
          <p:cNvSpPr/>
          <p:nvPr/>
        </p:nvSpPr>
        <p:spPr>
          <a:xfrm flipH="false" flipV="false" rot="0">
            <a:off x="1028700" y="2657271"/>
            <a:ext cx="7892765" cy="5593997"/>
          </a:xfrm>
          <a:custGeom>
            <a:avLst/>
            <a:gdLst/>
            <a:ahLst/>
            <a:cxnLst/>
            <a:rect r="r" b="b" t="t" l="l"/>
            <a:pathLst>
              <a:path h="5593997" w="7892765">
                <a:moveTo>
                  <a:pt x="0" y="0"/>
                </a:moveTo>
                <a:lnTo>
                  <a:pt x="7892765" y="0"/>
                </a:lnTo>
                <a:lnTo>
                  <a:pt x="7892765" y="5593998"/>
                </a:lnTo>
                <a:lnTo>
                  <a:pt x="0" y="5593998"/>
                </a:lnTo>
                <a:lnTo>
                  <a:pt x="0" y="0"/>
                </a:lnTo>
                <a:close/>
              </a:path>
            </a:pathLst>
          </a:custGeom>
          <a:blipFill>
            <a:blip r:embed="rId3"/>
            <a:stretch>
              <a:fillRect l="0" t="0" r="0" b="0"/>
            </a:stretch>
          </a:blipFill>
        </p:spPr>
      </p:sp>
      <p:sp>
        <p:nvSpPr>
          <p:cNvPr name="Freeform 11" id="11"/>
          <p:cNvSpPr/>
          <p:nvPr/>
        </p:nvSpPr>
        <p:spPr>
          <a:xfrm flipH="false" flipV="false" rot="0">
            <a:off x="9316828" y="2696814"/>
            <a:ext cx="7836972" cy="5554454"/>
          </a:xfrm>
          <a:custGeom>
            <a:avLst/>
            <a:gdLst/>
            <a:ahLst/>
            <a:cxnLst/>
            <a:rect r="r" b="b" t="t" l="l"/>
            <a:pathLst>
              <a:path h="5554454" w="7836972">
                <a:moveTo>
                  <a:pt x="0" y="0"/>
                </a:moveTo>
                <a:lnTo>
                  <a:pt x="7836973" y="0"/>
                </a:lnTo>
                <a:lnTo>
                  <a:pt x="7836973" y="5554455"/>
                </a:lnTo>
                <a:lnTo>
                  <a:pt x="0" y="5554455"/>
                </a:lnTo>
                <a:lnTo>
                  <a:pt x="0" y="0"/>
                </a:lnTo>
                <a:close/>
              </a:path>
            </a:pathLst>
          </a:custGeom>
          <a:blipFill>
            <a:blip r:embed="rId4"/>
            <a:stretch>
              <a:fillRect l="0" t="0" r="0" b="0"/>
            </a:stretch>
          </a:blipFill>
        </p:spPr>
      </p:sp>
      <p:sp>
        <p:nvSpPr>
          <p:cNvPr name="TextBox 12" id="12"/>
          <p:cNvSpPr txBox="true"/>
          <p:nvPr/>
        </p:nvSpPr>
        <p:spPr>
          <a:xfrm rot="0">
            <a:off x="1110116" y="1112169"/>
            <a:ext cx="6001921" cy="995271"/>
          </a:xfrm>
          <a:prstGeom prst="rect">
            <a:avLst/>
          </a:prstGeom>
        </p:spPr>
        <p:txBody>
          <a:bodyPr anchor="t" rtlCol="false" tIns="0" lIns="0" bIns="0" rIns="0">
            <a:spAutoFit/>
          </a:bodyPr>
          <a:lstStyle/>
          <a:p>
            <a:pPr algn="l">
              <a:lnSpc>
                <a:spcPts val="8142"/>
              </a:lnSpc>
            </a:pPr>
            <a:r>
              <a:rPr lang="en-US" sz="5816">
                <a:solidFill>
                  <a:srgbClr val="E5C857"/>
                </a:solidFill>
                <a:latin typeface="Bebas Neue 1"/>
                <a:ea typeface="Bebas Neue 1"/>
                <a:cs typeface="Bebas Neue 1"/>
                <a:sym typeface="Bebas Neue 1"/>
              </a:rPr>
              <a:t>hasil FOC sensored</a:t>
            </a:r>
          </a:p>
        </p:txBody>
      </p:sp>
      <p:sp>
        <p:nvSpPr>
          <p:cNvPr name="TextBox 13" id="13"/>
          <p:cNvSpPr txBox="true"/>
          <p:nvPr/>
        </p:nvSpPr>
        <p:spPr>
          <a:xfrm rot="0">
            <a:off x="1051559" y="344178"/>
            <a:ext cx="4684584" cy="995271"/>
          </a:xfrm>
          <a:prstGeom prst="rect">
            <a:avLst/>
          </a:prstGeom>
        </p:spPr>
        <p:txBody>
          <a:bodyPr anchor="t" rtlCol="false" tIns="0" lIns="0" bIns="0" rIns="0">
            <a:spAutoFit/>
          </a:bodyPr>
          <a:lstStyle/>
          <a:p>
            <a:pPr algn="l">
              <a:lnSpc>
                <a:spcPts val="8142"/>
              </a:lnSpc>
            </a:pPr>
            <a:r>
              <a:rPr lang="en-US" sz="5816">
                <a:solidFill>
                  <a:srgbClr val="59524B"/>
                </a:solidFill>
                <a:latin typeface="Bebas Neue 1"/>
                <a:ea typeface="Bebas Neue 1"/>
                <a:cs typeface="Bebas Neue 1"/>
                <a:sym typeface="Bebas Neue 1"/>
              </a:rPr>
              <a:t>hasil penelitian</a:t>
            </a:r>
          </a:p>
        </p:txBody>
      </p:sp>
      <p:sp>
        <p:nvSpPr>
          <p:cNvPr name="TextBox 14" id="14"/>
          <p:cNvSpPr txBox="true"/>
          <p:nvPr/>
        </p:nvSpPr>
        <p:spPr>
          <a:xfrm rot="0">
            <a:off x="1162095" y="8175069"/>
            <a:ext cx="7625974" cy="533400"/>
          </a:xfrm>
          <a:prstGeom prst="rect">
            <a:avLst/>
          </a:prstGeom>
        </p:spPr>
        <p:txBody>
          <a:bodyPr anchor="t" rtlCol="false" tIns="0" lIns="0" bIns="0" rIns="0">
            <a:spAutoFit/>
          </a:bodyPr>
          <a:lstStyle/>
          <a:p>
            <a:pPr algn="ctr">
              <a:lnSpc>
                <a:spcPts val="4200"/>
              </a:lnSpc>
            </a:pPr>
            <a:r>
              <a:rPr lang="en-US" sz="3000">
                <a:solidFill>
                  <a:srgbClr val="59524B"/>
                </a:solidFill>
                <a:latin typeface="Bebas Neue 1"/>
                <a:ea typeface="Bebas Neue 1"/>
                <a:cs typeface="Bebas Neue 1"/>
                <a:sym typeface="Bebas Neue 1"/>
              </a:rPr>
              <a:t>Hasil closed loop simulasi arus Id-Iq</a:t>
            </a:r>
          </a:p>
        </p:txBody>
      </p:sp>
      <p:sp>
        <p:nvSpPr>
          <p:cNvPr name="TextBox 15" id="15"/>
          <p:cNvSpPr txBox="true"/>
          <p:nvPr/>
        </p:nvSpPr>
        <p:spPr>
          <a:xfrm rot="0">
            <a:off x="9422328" y="8175069"/>
            <a:ext cx="7625974" cy="533400"/>
          </a:xfrm>
          <a:prstGeom prst="rect">
            <a:avLst/>
          </a:prstGeom>
        </p:spPr>
        <p:txBody>
          <a:bodyPr anchor="t" rtlCol="false" tIns="0" lIns="0" bIns="0" rIns="0">
            <a:spAutoFit/>
          </a:bodyPr>
          <a:lstStyle/>
          <a:p>
            <a:pPr algn="ctr">
              <a:lnSpc>
                <a:spcPts val="4200"/>
              </a:lnSpc>
            </a:pPr>
            <a:r>
              <a:rPr lang="en-US" sz="3000">
                <a:solidFill>
                  <a:srgbClr val="59524B"/>
                </a:solidFill>
                <a:latin typeface="Bebas Neue 1"/>
                <a:ea typeface="Bebas Neue 1"/>
                <a:cs typeface="Bebas Neue 1"/>
                <a:sym typeface="Bebas Neue 1"/>
              </a:rPr>
              <a:t>Hasil closed loop hardware arus id-iq</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5313" y="464654"/>
            <a:ext cx="5425406" cy="1523631"/>
            <a:chOff x="0" y="0"/>
            <a:chExt cx="1933358" cy="542950"/>
          </a:xfrm>
        </p:grpSpPr>
        <p:sp>
          <p:nvSpPr>
            <p:cNvPr name="Freeform 3" id="3"/>
            <p:cNvSpPr/>
            <p:nvPr/>
          </p:nvSpPr>
          <p:spPr>
            <a:xfrm flipH="false" flipV="false" rot="0">
              <a:off x="0" y="0"/>
              <a:ext cx="1933358" cy="542950"/>
            </a:xfrm>
            <a:custGeom>
              <a:avLst/>
              <a:gdLst/>
              <a:ahLst/>
              <a:cxnLst/>
              <a:rect r="r" b="b" t="t" l="l"/>
              <a:pathLst>
                <a:path h="542950" w="1933358">
                  <a:moveTo>
                    <a:pt x="1730158" y="0"/>
                  </a:moveTo>
                  <a:cubicBezTo>
                    <a:pt x="1842383" y="0"/>
                    <a:pt x="1933358" y="121543"/>
                    <a:pt x="1933358" y="271475"/>
                  </a:cubicBezTo>
                  <a:cubicBezTo>
                    <a:pt x="1933358" y="421406"/>
                    <a:pt x="1842383" y="542950"/>
                    <a:pt x="1730158" y="542950"/>
                  </a:cubicBezTo>
                  <a:lnTo>
                    <a:pt x="203200" y="542950"/>
                  </a:lnTo>
                  <a:cubicBezTo>
                    <a:pt x="90976" y="542950"/>
                    <a:pt x="0" y="421406"/>
                    <a:pt x="0" y="271475"/>
                  </a:cubicBezTo>
                  <a:cubicBezTo>
                    <a:pt x="0" y="121543"/>
                    <a:pt x="90976" y="0"/>
                    <a:pt x="203200" y="0"/>
                  </a:cubicBezTo>
                  <a:close/>
                </a:path>
              </a:pathLst>
            </a:custGeom>
            <a:solidFill>
              <a:srgbClr val="F2F2F2"/>
            </a:solidFill>
          </p:spPr>
        </p:sp>
        <p:sp>
          <p:nvSpPr>
            <p:cNvPr name="TextBox 4" id="4"/>
            <p:cNvSpPr txBox="true"/>
            <p:nvPr/>
          </p:nvSpPr>
          <p:spPr>
            <a:xfrm>
              <a:off x="0" y="-38100"/>
              <a:ext cx="1933358" cy="5810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038174" y="458478"/>
            <a:ext cx="4563040" cy="1140443"/>
            <a:chOff x="0" y="0"/>
            <a:chExt cx="6084053" cy="1520591"/>
          </a:xfrm>
        </p:grpSpPr>
        <p:grpSp>
          <p:nvGrpSpPr>
            <p:cNvPr name="Group 6" id="6"/>
            <p:cNvGrpSpPr/>
            <p:nvPr/>
          </p:nvGrpSpPr>
          <p:grpSpPr>
            <a:xfrm rot="0">
              <a:off x="0" y="0"/>
              <a:ext cx="6084053" cy="1520591"/>
              <a:chOff x="0" y="0"/>
              <a:chExt cx="1626052" cy="406400"/>
            </a:xfrm>
          </p:grpSpPr>
          <p:sp>
            <p:nvSpPr>
              <p:cNvPr name="Freeform 7" id="7"/>
              <p:cNvSpPr/>
              <p:nvPr/>
            </p:nvSpPr>
            <p:spPr>
              <a:xfrm flipH="false" flipV="false" rot="0">
                <a:off x="0" y="0"/>
                <a:ext cx="1626052" cy="406400"/>
              </a:xfrm>
              <a:custGeom>
                <a:avLst/>
                <a:gdLst/>
                <a:ahLst/>
                <a:cxnLst/>
                <a:rect r="r" b="b" t="t" l="l"/>
                <a:pathLst>
                  <a:path h="406400" w="1626052">
                    <a:moveTo>
                      <a:pt x="1422852" y="0"/>
                    </a:moveTo>
                    <a:cubicBezTo>
                      <a:pt x="1535076" y="0"/>
                      <a:pt x="1626052" y="90976"/>
                      <a:pt x="1626052" y="203200"/>
                    </a:cubicBezTo>
                    <a:cubicBezTo>
                      <a:pt x="1626052" y="315424"/>
                      <a:pt x="1535076" y="406400"/>
                      <a:pt x="1422852"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8" id="8"/>
              <p:cNvSpPr txBox="true"/>
              <p:nvPr/>
            </p:nvSpPr>
            <p:spPr>
              <a:xfrm>
                <a:off x="0" y="-38100"/>
                <a:ext cx="1626052" cy="44450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414535" y="124612"/>
              <a:ext cx="5254984" cy="1271367"/>
            </a:xfrm>
            <a:custGeom>
              <a:avLst/>
              <a:gdLst/>
              <a:ahLst/>
              <a:cxnLst/>
              <a:rect r="r" b="b" t="t" l="l"/>
              <a:pathLst>
                <a:path h="1271367" w="5254984">
                  <a:moveTo>
                    <a:pt x="0" y="0"/>
                  </a:moveTo>
                  <a:lnTo>
                    <a:pt x="5254983" y="0"/>
                  </a:lnTo>
                  <a:lnTo>
                    <a:pt x="5254983" y="1271367"/>
                  </a:lnTo>
                  <a:lnTo>
                    <a:pt x="0" y="1271367"/>
                  </a:lnTo>
                  <a:lnTo>
                    <a:pt x="0" y="0"/>
                  </a:lnTo>
                  <a:close/>
                </a:path>
              </a:pathLst>
            </a:custGeom>
            <a:blipFill>
              <a:blip r:embed="rId2"/>
              <a:stretch>
                <a:fillRect l="0" t="0" r="0" b="0"/>
              </a:stretch>
            </a:blipFill>
          </p:spPr>
        </p:sp>
      </p:grpSp>
      <p:sp>
        <p:nvSpPr>
          <p:cNvPr name="Freeform 10" id="10"/>
          <p:cNvSpPr/>
          <p:nvPr/>
        </p:nvSpPr>
        <p:spPr>
          <a:xfrm flipH="false" flipV="false" rot="0">
            <a:off x="6090719" y="4840919"/>
            <a:ext cx="10147263" cy="2137450"/>
          </a:xfrm>
          <a:custGeom>
            <a:avLst/>
            <a:gdLst/>
            <a:ahLst/>
            <a:cxnLst/>
            <a:rect r="r" b="b" t="t" l="l"/>
            <a:pathLst>
              <a:path h="2137450" w="10147263">
                <a:moveTo>
                  <a:pt x="0" y="0"/>
                </a:moveTo>
                <a:lnTo>
                  <a:pt x="10147263" y="0"/>
                </a:lnTo>
                <a:lnTo>
                  <a:pt x="10147263" y="2137450"/>
                </a:lnTo>
                <a:lnTo>
                  <a:pt x="0" y="2137450"/>
                </a:lnTo>
                <a:lnTo>
                  <a:pt x="0" y="0"/>
                </a:lnTo>
                <a:close/>
              </a:path>
            </a:pathLst>
          </a:custGeom>
          <a:blipFill>
            <a:blip r:embed="rId3"/>
            <a:stretch>
              <a:fillRect l="0" t="0" r="0" b="0"/>
            </a:stretch>
          </a:blipFill>
        </p:spPr>
      </p:sp>
      <p:pic>
        <p:nvPicPr>
          <p:cNvPr name="Picture 11" id="11">
            <a:hlinkClick action="ppaction://media"/>
          </p:cNvPr>
          <p:cNvPicPr>
            <a:picLocks noChangeAspect="true"/>
          </p:cNvPicPr>
          <p:nvPr>
            <a:videoFile r:link="rId5"/>
            <p:extLst>
              <p:ext uri="{DAA4B4D4-6D71-4841-9C94-3DE7FCFB9230}">
                <p14:media xmlns:p14="http://schemas.microsoft.com/office/powerpoint/2010/main" r:embed="rId6"/>
              </p:ext>
            </p:extLst>
          </p:nvPr>
        </p:nvPicPr>
        <p:blipFill>
          <a:blip r:embed="rId4"/>
          <a:srcRect l="36023" t="35774" r="34828" b="32509"/>
          <a:stretch>
            <a:fillRect/>
          </a:stretch>
        </p:blipFill>
        <p:spPr>
          <a:xfrm flipH="false" flipV="false" rot="0">
            <a:off x="1459843" y="2496777"/>
            <a:ext cx="3836346" cy="7422990"/>
          </a:xfrm>
          <a:prstGeom prst="rect">
            <a:avLst/>
          </a:prstGeom>
        </p:spPr>
      </p:pic>
      <p:sp>
        <p:nvSpPr>
          <p:cNvPr name="TextBox 12" id="12"/>
          <p:cNvSpPr txBox="true"/>
          <p:nvPr/>
        </p:nvSpPr>
        <p:spPr>
          <a:xfrm rot="0">
            <a:off x="1110116" y="1112169"/>
            <a:ext cx="6001921" cy="995271"/>
          </a:xfrm>
          <a:prstGeom prst="rect">
            <a:avLst/>
          </a:prstGeom>
        </p:spPr>
        <p:txBody>
          <a:bodyPr anchor="t" rtlCol="false" tIns="0" lIns="0" bIns="0" rIns="0">
            <a:spAutoFit/>
          </a:bodyPr>
          <a:lstStyle/>
          <a:p>
            <a:pPr algn="l">
              <a:lnSpc>
                <a:spcPts val="8142"/>
              </a:lnSpc>
            </a:pPr>
            <a:r>
              <a:rPr lang="en-US" sz="5816">
                <a:solidFill>
                  <a:srgbClr val="E5C857"/>
                </a:solidFill>
                <a:latin typeface="Bebas Neue 1"/>
                <a:ea typeface="Bebas Neue 1"/>
                <a:cs typeface="Bebas Neue 1"/>
                <a:sym typeface="Bebas Neue 1"/>
              </a:rPr>
              <a:t>hasil FOC sensored</a:t>
            </a:r>
          </a:p>
        </p:txBody>
      </p:sp>
      <p:sp>
        <p:nvSpPr>
          <p:cNvPr name="TextBox 13" id="13"/>
          <p:cNvSpPr txBox="true"/>
          <p:nvPr/>
        </p:nvSpPr>
        <p:spPr>
          <a:xfrm rot="0">
            <a:off x="1051559" y="344178"/>
            <a:ext cx="4684584" cy="995271"/>
          </a:xfrm>
          <a:prstGeom prst="rect">
            <a:avLst/>
          </a:prstGeom>
        </p:spPr>
        <p:txBody>
          <a:bodyPr anchor="t" rtlCol="false" tIns="0" lIns="0" bIns="0" rIns="0">
            <a:spAutoFit/>
          </a:bodyPr>
          <a:lstStyle/>
          <a:p>
            <a:pPr algn="l">
              <a:lnSpc>
                <a:spcPts val="8142"/>
              </a:lnSpc>
            </a:pPr>
            <a:r>
              <a:rPr lang="en-US" sz="5816">
                <a:solidFill>
                  <a:srgbClr val="59524B"/>
                </a:solidFill>
                <a:latin typeface="Bebas Neue 1"/>
                <a:ea typeface="Bebas Neue 1"/>
                <a:cs typeface="Bebas Neue 1"/>
                <a:sym typeface="Bebas Neue 1"/>
              </a:rPr>
              <a:t>hasil penelitian</a:t>
            </a:r>
          </a:p>
        </p:txBody>
      </p:sp>
      <p:sp>
        <p:nvSpPr>
          <p:cNvPr name="TextBox 14" id="14"/>
          <p:cNvSpPr txBox="true"/>
          <p:nvPr/>
        </p:nvSpPr>
        <p:spPr>
          <a:xfrm rot="0">
            <a:off x="6090719" y="4108450"/>
            <a:ext cx="8707231" cy="523875"/>
          </a:xfrm>
          <a:prstGeom prst="rect">
            <a:avLst/>
          </a:prstGeom>
        </p:spPr>
        <p:txBody>
          <a:bodyPr anchor="t" rtlCol="false" tIns="0" lIns="0" bIns="0" rIns="0">
            <a:spAutoFit/>
          </a:bodyPr>
          <a:lstStyle/>
          <a:p>
            <a:pPr algn="l">
              <a:lnSpc>
                <a:spcPts val="3959"/>
              </a:lnSpc>
            </a:pPr>
            <a:r>
              <a:rPr lang="en-US" sz="3299" b="true">
                <a:solidFill>
                  <a:srgbClr val="59524B"/>
                </a:solidFill>
                <a:latin typeface="Poppins Bold"/>
                <a:ea typeface="Poppins Bold"/>
                <a:cs typeface="Poppins Bold"/>
                <a:sym typeface="Poppins Bold"/>
              </a:rPr>
              <a:t>Metr</a:t>
            </a:r>
            <a:r>
              <a:rPr lang="en-US" b="true" sz="3299">
                <a:solidFill>
                  <a:srgbClr val="59524B"/>
                </a:solidFill>
                <a:latin typeface="Poppins Bold"/>
                <a:ea typeface="Poppins Bold"/>
                <a:cs typeface="Poppins Bold"/>
                <a:sym typeface="Poppins Bold"/>
              </a:rPr>
              <a:t>ik Kinerja FOC Sensored</a:t>
            </a:r>
          </a:p>
        </p:txBody>
      </p:sp>
      <p:sp>
        <p:nvSpPr>
          <p:cNvPr name="TextBox 15" id="15"/>
          <p:cNvSpPr txBox="true"/>
          <p:nvPr/>
        </p:nvSpPr>
        <p:spPr>
          <a:xfrm rot="0">
            <a:off x="6196880" y="7121244"/>
            <a:ext cx="9934942" cy="1073150"/>
          </a:xfrm>
          <a:prstGeom prst="rect">
            <a:avLst/>
          </a:prstGeom>
        </p:spPr>
        <p:txBody>
          <a:bodyPr anchor="t" rtlCol="false" tIns="0" lIns="0" bIns="0" rIns="0">
            <a:spAutoFit/>
          </a:bodyPr>
          <a:lstStyle/>
          <a:p>
            <a:pPr algn="just">
              <a:lnSpc>
                <a:spcPts val="2800"/>
              </a:lnSpc>
            </a:pPr>
            <a:r>
              <a:rPr lang="en-US" sz="2000" b="true">
                <a:solidFill>
                  <a:srgbClr val="010101"/>
                </a:solidFill>
                <a:latin typeface="Poppins Bold"/>
                <a:ea typeface="Poppins Bold"/>
                <a:cs typeface="Poppins Bold"/>
                <a:sym typeface="Poppins Bold"/>
              </a:rPr>
              <a:t>Secara keseluruhan kedua implementasi menunjukan kendali FOC yang berfungsi dengan benar berada di bawah ambang batas keberterimaan 5% yang diharapkan untuk kontroler</a:t>
            </a:r>
          </a:p>
        </p:txBody>
      </p:sp>
    </p:spTree>
  </p:cSld>
  <p:clrMapOvr>
    <a:masterClrMapping/>
  </p:clrMapOvr>
  <p:timing>
    <p:tnLst>
      <p:par>
        <p:cTn dur="indefinite" restart="never" nodeType="tmRoot">
          <p:childTnLst>
            <p:video>
              <p:cMediaNode vol="100000">
                <p:cTn fill="hold" display="false">
                  <p:stCondLst>
                    <p:cond delay="indefinite"/>
                  </p:stCondLst>
                </p:cTn>
                <p:tgtEl>
                  <p:spTgt spid="11"/>
                </p:tgtEl>
              </p:cMediaNode>
            </p:video>
          </p:childTnLst>
        </p:cTn>
      </p:par>
    </p:tnLst>
  </p:timing>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5313" y="464654"/>
            <a:ext cx="5931571" cy="1523631"/>
            <a:chOff x="0" y="0"/>
            <a:chExt cx="2113731" cy="542950"/>
          </a:xfrm>
        </p:grpSpPr>
        <p:sp>
          <p:nvSpPr>
            <p:cNvPr name="Freeform 3" id="3"/>
            <p:cNvSpPr/>
            <p:nvPr/>
          </p:nvSpPr>
          <p:spPr>
            <a:xfrm flipH="false" flipV="false" rot="0">
              <a:off x="0" y="0"/>
              <a:ext cx="2113731" cy="542950"/>
            </a:xfrm>
            <a:custGeom>
              <a:avLst/>
              <a:gdLst/>
              <a:ahLst/>
              <a:cxnLst/>
              <a:rect r="r" b="b" t="t" l="l"/>
              <a:pathLst>
                <a:path h="542950" w="2113731">
                  <a:moveTo>
                    <a:pt x="1910531" y="0"/>
                  </a:moveTo>
                  <a:cubicBezTo>
                    <a:pt x="2022756" y="0"/>
                    <a:pt x="2113731" y="121543"/>
                    <a:pt x="2113731" y="271475"/>
                  </a:cubicBezTo>
                  <a:cubicBezTo>
                    <a:pt x="2113731" y="421406"/>
                    <a:pt x="2022756" y="542950"/>
                    <a:pt x="1910531" y="542950"/>
                  </a:cubicBezTo>
                  <a:lnTo>
                    <a:pt x="203200" y="542950"/>
                  </a:lnTo>
                  <a:cubicBezTo>
                    <a:pt x="90976" y="542950"/>
                    <a:pt x="0" y="421406"/>
                    <a:pt x="0" y="271475"/>
                  </a:cubicBezTo>
                  <a:cubicBezTo>
                    <a:pt x="0" y="121543"/>
                    <a:pt x="90976" y="0"/>
                    <a:pt x="203200" y="0"/>
                  </a:cubicBezTo>
                  <a:close/>
                </a:path>
              </a:pathLst>
            </a:custGeom>
            <a:solidFill>
              <a:srgbClr val="F2F2F2"/>
            </a:solidFill>
          </p:spPr>
        </p:sp>
        <p:sp>
          <p:nvSpPr>
            <p:cNvPr name="TextBox 4" id="4"/>
            <p:cNvSpPr txBox="true"/>
            <p:nvPr/>
          </p:nvSpPr>
          <p:spPr>
            <a:xfrm>
              <a:off x="0" y="-38100"/>
              <a:ext cx="2113731" cy="5810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038174" y="458478"/>
            <a:ext cx="4563040" cy="1140443"/>
            <a:chOff x="0" y="0"/>
            <a:chExt cx="6084053" cy="1520591"/>
          </a:xfrm>
        </p:grpSpPr>
        <p:grpSp>
          <p:nvGrpSpPr>
            <p:cNvPr name="Group 6" id="6"/>
            <p:cNvGrpSpPr/>
            <p:nvPr/>
          </p:nvGrpSpPr>
          <p:grpSpPr>
            <a:xfrm rot="0">
              <a:off x="0" y="0"/>
              <a:ext cx="6084053" cy="1520591"/>
              <a:chOff x="0" y="0"/>
              <a:chExt cx="1626052" cy="406400"/>
            </a:xfrm>
          </p:grpSpPr>
          <p:sp>
            <p:nvSpPr>
              <p:cNvPr name="Freeform 7" id="7"/>
              <p:cNvSpPr/>
              <p:nvPr/>
            </p:nvSpPr>
            <p:spPr>
              <a:xfrm flipH="false" flipV="false" rot="0">
                <a:off x="0" y="0"/>
                <a:ext cx="1626052" cy="406400"/>
              </a:xfrm>
              <a:custGeom>
                <a:avLst/>
                <a:gdLst/>
                <a:ahLst/>
                <a:cxnLst/>
                <a:rect r="r" b="b" t="t" l="l"/>
                <a:pathLst>
                  <a:path h="406400" w="1626052">
                    <a:moveTo>
                      <a:pt x="1422852" y="0"/>
                    </a:moveTo>
                    <a:cubicBezTo>
                      <a:pt x="1535076" y="0"/>
                      <a:pt x="1626052" y="90976"/>
                      <a:pt x="1626052" y="203200"/>
                    </a:cubicBezTo>
                    <a:cubicBezTo>
                      <a:pt x="1626052" y="315424"/>
                      <a:pt x="1535076" y="406400"/>
                      <a:pt x="1422852"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8" id="8"/>
              <p:cNvSpPr txBox="true"/>
              <p:nvPr/>
            </p:nvSpPr>
            <p:spPr>
              <a:xfrm>
                <a:off x="0" y="-38100"/>
                <a:ext cx="1626052" cy="44450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414535" y="124612"/>
              <a:ext cx="5254984" cy="1271367"/>
            </a:xfrm>
            <a:custGeom>
              <a:avLst/>
              <a:gdLst/>
              <a:ahLst/>
              <a:cxnLst/>
              <a:rect r="r" b="b" t="t" l="l"/>
              <a:pathLst>
                <a:path h="1271367" w="5254984">
                  <a:moveTo>
                    <a:pt x="0" y="0"/>
                  </a:moveTo>
                  <a:lnTo>
                    <a:pt x="5254983" y="0"/>
                  </a:lnTo>
                  <a:lnTo>
                    <a:pt x="5254983" y="1271367"/>
                  </a:lnTo>
                  <a:lnTo>
                    <a:pt x="0" y="1271367"/>
                  </a:lnTo>
                  <a:lnTo>
                    <a:pt x="0" y="0"/>
                  </a:lnTo>
                  <a:close/>
                </a:path>
              </a:pathLst>
            </a:custGeom>
            <a:blipFill>
              <a:blip r:embed="rId2"/>
              <a:stretch>
                <a:fillRect l="0" t="0" r="0" b="0"/>
              </a:stretch>
            </a:blipFill>
          </p:spPr>
        </p:sp>
      </p:grpSp>
      <p:sp>
        <p:nvSpPr>
          <p:cNvPr name="Freeform 10" id="10"/>
          <p:cNvSpPr/>
          <p:nvPr/>
        </p:nvSpPr>
        <p:spPr>
          <a:xfrm flipH="false" flipV="false" rot="0">
            <a:off x="961341" y="2944026"/>
            <a:ext cx="7892765" cy="5593997"/>
          </a:xfrm>
          <a:custGeom>
            <a:avLst/>
            <a:gdLst/>
            <a:ahLst/>
            <a:cxnLst/>
            <a:rect r="r" b="b" t="t" l="l"/>
            <a:pathLst>
              <a:path h="5593997" w="7892765">
                <a:moveTo>
                  <a:pt x="0" y="0"/>
                </a:moveTo>
                <a:lnTo>
                  <a:pt x="7892765" y="0"/>
                </a:lnTo>
                <a:lnTo>
                  <a:pt x="7892765" y="5593997"/>
                </a:lnTo>
                <a:lnTo>
                  <a:pt x="0" y="5593997"/>
                </a:lnTo>
                <a:lnTo>
                  <a:pt x="0" y="0"/>
                </a:lnTo>
                <a:close/>
              </a:path>
            </a:pathLst>
          </a:custGeom>
          <a:blipFill>
            <a:blip r:embed="rId3"/>
            <a:stretch>
              <a:fillRect l="0" t="0" r="0" b="0"/>
            </a:stretch>
          </a:blipFill>
        </p:spPr>
      </p:sp>
      <p:sp>
        <p:nvSpPr>
          <p:cNvPr name="Freeform 11" id="11"/>
          <p:cNvSpPr/>
          <p:nvPr/>
        </p:nvSpPr>
        <p:spPr>
          <a:xfrm flipH="false" flipV="false" rot="0">
            <a:off x="9221573" y="2944026"/>
            <a:ext cx="7892765" cy="5593997"/>
          </a:xfrm>
          <a:custGeom>
            <a:avLst/>
            <a:gdLst/>
            <a:ahLst/>
            <a:cxnLst/>
            <a:rect r="r" b="b" t="t" l="l"/>
            <a:pathLst>
              <a:path h="5593997" w="7892765">
                <a:moveTo>
                  <a:pt x="0" y="0"/>
                </a:moveTo>
                <a:lnTo>
                  <a:pt x="7892765" y="0"/>
                </a:lnTo>
                <a:lnTo>
                  <a:pt x="7892765" y="5593997"/>
                </a:lnTo>
                <a:lnTo>
                  <a:pt x="0" y="5593997"/>
                </a:lnTo>
                <a:lnTo>
                  <a:pt x="0" y="0"/>
                </a:lnTo>
                <a:close/>
              </a:path>
            </a:pathLst>
          </a:custGeom>
          <a:blipFill>
            <a:blip r:embed="rId4"/>
            <a:stretch>
              <a:fillRect l="0" t="0" r="0" b="0"/>
            </a:stretch>
          </a:blipFill>
        </p:spPr>
      </p:sp>
      <p:sp>
        <p:nvSpPr>
          <p:cNvPr name="TextBox 12" id="12"/>
          <p:cNvSpPr txBox="true"/>
          <p:nvPr/>
        </p:nvSpPr>
        <p:spPr>
          <a:xfrm rot="0">
            <a:off x="1110116" y="1112169"/>
            <a:ext cx="6001921" cy="995271"/>
          </a:xfrm>
          <a:prstGeom prst="rect">
            <a:avLst/>
          </a:prstGeom>
        </p:spPr>
        <p:txBody>
          <a:bodyPr anchor="t" rtlCol="false" tIns="0" lIns="0" bIns="0" rIns="0">
            <a:spAutoFit/>
          </a:bodyPr>
          <a:lstStyle/>
          <a:p>
            <a:pPr algn="l">
              <a:lnSpc>
                <a:spcPts val="8142"/>
              </a:lnSpc>
            </a:pPr>
            <a:r>
              <a:rPr lang="en-US" sz="5816">
                <a:solidFill>
                  <a:srgbClr val="E5C857"/>
                </a:solidFill>
                <a:latin typeface="Bebas Neue 1"/>
                <a:ea typeface="Bebas Neue 1"/>
                <a:cs typeface="Bebas Neue 1"/>
                <a:sym typeface="Bebas Neue 1"/>
              </a:rPr>
              <a:t>hasil FOC sensorless</a:t>
            </a:r>
          </a:p>
        </p:txBody>
      </p:sp>
      <p:sp>
        <p:nvSpPr>
          <p:cNvPr name="TextBox 13" id="13"/>
          <p:cNvSpPr txBox="true"/>
          <p:nvPr/>
        </p:nvSpPr>
        <p:spPr>
          <a:xfrm rot="0">
            <a:off x="1051559" y="344178"/>
            <a:ext cx="4684584" cy="995271"/>
          </a:xfrm>
          <a:prstGeom prst="rect">
            <a:avLst/>
          </a:prstGeom>
        </p:spPr>
        <p:txBody>
          <a:bodyPr anchor="t" rtlCol="false" tIns="0" lIns="0" bIns="0" rIns="0">
            <a:spAutoFit/>
          </a:bodyPr>
          <a:lstStyle/>
          <a:p>
            <a:pPr algn="l">
              <a:lnSpc>
                <a:spcPts val="8142"/>
              </a:lnSpc>
            </a:pPr>
            <a:r>
              <a:rPr lang="en-US" sz="5816">
                <a:solidFill>
                  <a:srgbClr val="59524B"/>
                </a:solidFill>
                <a:latin typeface="Bebas Neue 1"/>
                <a:ea typeface="Bebas Neue 1"/>
                <a:cs typeface="Bebas Neue 1"/>
                <a:sym typeface="Bebas Neue 1"/>
              </a:rPr>
              <a:t>hasil penelitian</a:t>
            </a:r>
          </a:p>
        </p:txBody>
      </p:sp>
      <p:sp>
        <p:nvSpPr>
          <p:cNvPr name="TextBox 14" id="14"/>
          <p:cNvSpPr txBox="true"/>
          <p:nvPr/>
        </p:nvSpPr>
        <p:spPr>
          <a:xfrm rot="0">
            <a:off x="1094736" y="8461823"/>
            <a:ext cx="7625974" cy="533400"/>
          </a:xfrm>
          <a:prstGeom prst="rect">
            <a:avLst/>
          </a:prstGeom>
        </p:spPr>
        <p:txBody>
          <a:bodyPr anchor="t" rtlCol="false" tIns="0" lIns="0" bIns="0" rIns="0">
            <a:spAutoFit/>
          </a:bodyPr>
          <a:lstStyle/>
          <a:p>
            <a:pPr algn="ctr">
              <a:lnSpc>
                <a:spcPts val="4200"/>
              </a:lnSpc>
            </a:pPr>
            <a:r>
              <a:rPr lang="en-US" sz="3000">
                <a:solidFill>
                  <a:srgbClr val="59524B"/>
                </a:solidFill>
                <a:latin typeface="Bebas Neue 1"/>
                <a:ea typeface="Bebas Neue 1"/>
                <a:cs typeface="Bebas Neue 1"/>
                <a:sym typeface="Bebas Neue 1"/>
              </a:rPr>
              <a:t>Hasil simulasi kecepatan sudut</a:t>
            </a:r>
          </a:p>
        </p:txBody>
      </p:sp>
      <p:sp>
        <p:nvSpPr>
          <p:cNvPr name="TextBox 15" id="15"/>
          <p:cNvSpPr txBox="true"/>
          <p:nvPr/>
        </p:nvSpPr>
        <p:spPr>
          <a:xfrm rot="0">
            <a:off x="9354968" y="8461823"/>
            <a:ext cx="7625974" cy="533400"/>
          </a:xfrm>
          <a:prstGeom prst="rect">
            <a:avLst/>
          </a:prstGeom>
        </p:spPr>
        <p:txBody>
          <a:bodyPr anchor="t" rtlCol="false" tIns="0" lIns="0" bIns="0" rIns="0">
            <a:spAutoFit/>
          </a:bodyPr>
          <a:lstStyle/>
          <a:p>
            <a:pPr algn="ctr">
              <a:lnSpc>
                <a:spcPts val="4200"/>
              </a:lnSpc>
            </a:pPr>
            <a:r>
              <a:rPr lang="en-US" sz="3000">
                <a:solidFill>
                  <a:srgbClr val="59524B"/>
                </a:solidFill>
                <a:latin typeface="Bebas Neue 1"/>
                <a:ea typeface="Bebas Neue 1"/>
                <a:cs typeface="Bebas Neue 1"/>
                <a:sym typeface="Bebas Neue 1"/>
              </a:rPr>
              <a:t>Hasil simulasi posisi sudut</a:t>
            </a:r>
          </a:p>
        </p:txBody>
      </p:sp>
      <p:sp>
        <p:nvSpPr>
          <p:cNvPr name="TextBox 16" id="16"/>
          <p:cNvSpPr txBox="true"/>
          <p:nvPr/>
        </p:nvSpPr>
        <p:spPr>
          <a:xfrm rot="0">
            <a:off x="1028700" y="2248701"/>
            <a:ext cx="8707231" cy="523875"/>
          </a:xfrm>
          <a:prstGeom prst="rect">
            <a:avLst/>
          </a:prstGeom>
        </p:spPr>
        <p:txBody>
          <a:bodyPr anchor="t" rtlCol="false" tIns="0" lIns="0" bIns="0" rIns="0">
            <a:spAutoFit/>
          </a:bodyPr>
          <a:lstStyle/>
          <a:p>
            <a:pPr algn="l">
              <a:lnSpc>
                <a:spcPts val="3959"/>
              </a:lnSpc>
            </a:pPr>
            <a:r>
              <a:rPr lang="en-US" sz="3299" b="true">
                <a:solidFill>
                  <a:srgbClr val="59524B"/>
                </a:solidFill>
                <a:latin typeface="Poppins Bold"/>
                <a:ea typeface="Poppins Bold"/>
                <a:cs typeface="Poppins Bold"/>
                <a:sym typeface="Poppins Bold"/>
              </a:rPr>
              <a:t>Simulasi Simulink FOC Sensorless</a:t>
            </a:r>
          </a:p>
        </p:txBody>
      </p:sp>
      <p:sp>
        <p:nvSpPr>
          <p:cNvPr name="TextBox 17" id="17"/>
          <p:cNvSpPr txBox="true"/>
          <p:nvPr/>
        </p:nvSpPr>
        <p:spPr>
          <a:xfrm rot="0">
            <a:off x="1134861" y="8995223"/>
            <a:ext cx="16018279" cy="1073150"/>
          </a:xfrm>
          <a:prstGeom prst="rect">
            <a:avLst/>
          </a:prstGeom>
        </p:spPr>
        <p:txBody>
          <a:bodyPr anchor="t" rtlCol="false" tIns="0" lIns="0" bIns="0" rIns="0">
            <a:spAutoFit/>
          </a:bodyPr>
          <a:lstStyle/>
          <a:p>
            <a:pPr algn="just">
              <a:lnSpc>
                <a:spcPts val="2800"/>
              </a:lnSpc>
            </a:pPr>
            <a:r>
              <a:rPr lang="en-US" sz="2000" b="true">
                <a:solidFill>
                  <a:srgbClr val="010101"/>
                </a:solidFill>
                <a:latin typeface="Poppins Bold"/>
                <a:ea typeface="Poppins Bold"/>
                <a:cs typeface="Poppins Bold"/>
                <a:sym typeface="Poppins Bold"/>
              </a:rPr>
              <a:t>Simulasi digunakan sebagai alat untuk merancanag dan mengintegrasikan kontroler FOC dengan dengan estimator EKF yang telah dirancang, serta memastikan keseluruhan arsitektur sensorless bekerja dengan benar sebelum dikonversi menjadi program hardware</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5313" y="464654"/>
            <a:ext cx="5931571" cy="1523631"/>
            <a:chOff x="0" y="0"/>
            <a:chExt cx="2113731" cy="542950"/>
          </a:xfrm>
        </p:grpSpPr>
        <p:sp>
          <p:nvSpPr>
            <p:cNvPr name="Freeform 3" id="3"/>
            <p:cNvSpPr/>
            <p:nvPr/>
          </p:nvSpPr>
          <p:spPr>
            <a:xfrm flipH="false" flipV="false" rot="0">
              <a:off x="0" y="0"/>
              <a:ext cx="2113731" cy="542950"/>
            </a:xfrm>
            <a:custGeom>
              <a:avLst/>
              <a:gdLst/>
              <a:ahLst/>
              <a:cxnLst/>
              <a:rect r="r" b="b" t="t" l="l"/>
              <a:pathLst>
                <a:path h="542950" w="2113731">
                  <a:moveTo>
                    <a:pt x="1910531" y="0"/>
                  </a:moveTo>
                  <a:cubicBezTo>
                    <a:pt x="2022756" y="0"/>
                    <a:pt x="2113731" y="121543"/>
                    <a:pt x="2113731" y="271475"/>
                  </a:cubicBezTo>
                  <a:cubicBezTo>
                    <a:pt x="2113731" y="421406"/>
                    <a:pt x="2022756" y="542950"/>
                    <a:pt x="1910531" y="542950"/>
                  </a:cubicBezTo>
                  <a:lnTo>
                    <a:pt x="203200" y="542950"/>
                  </a:lnTo>
                  <a:cubicBezTo>
                    <a:pt x="90976" y="542950"/>
                    <a:pt x="0" y="421406"/>
                    <a:pt x="0" y="271475"/>
                  </a:cubicBezTo>
                  <a:cubicBezTo>
                    <a:pt x="0" y="121543"/>
                    <a:pt x="90976" y="0"/>
                    <a:pt x="203200" y="0"/>
                  </a:cubicBezTo>
                  <a:close/>
                </a:path>
              </a:pathLst>
            </a:custGeom>
            <a:solidFill>
              <a:srgbClr val="F2F2F2"/>
            </a:solidFill>
          </p:spPr>
        </p:sp>
        <p:sp>
          <p:nvSpPr>
            <p:cNvPr name="TextBox 4" id="4"/>
            <p:cNvSpPr txBox="true"/>
            <p:nvPr/>
          </p:nvSpPr>
          <p:spPr>
            <a:xfrm>
              <a:off x="0" y="-38100"/>
              <a:ext cx="2113731" cy="5810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038174" y="458478"/>
            <a:ext cx="4563040" cy="1140443"/>
            <a:chOff x="0" y="0"/>
            <a:chExt cx="6084053" cy="1520591"/>
          </a:xfrm>
        </p:grpSpPr>
        <p:grpSp>
          <p:nvGrpSpPr>
            <p:cNvPr name="Group 6" id="6"/>
            <p:cNvGrpSpPr/>
            <p:nvPr/>
          </p:nvGrpSpPr>
          <p:grpSpPr>
            <a:xfrm rot="0">
              <a:off x="0" y="0"/>
              <a:ext cx="6084053" cy="1520591"/>
              <a:chOff x="0" y="0"/>
              <a:chExt cx="1626052" cy="406400"/>
            </a:xfrm>
          </p:grpSpPr>
          <p:sp>
            <p:nvSpPr>
              <p:cNvPr name="Freeform 7" id="7"/>
              <p:cNvSpPr/>
              <p:nvPr/>
            </p:nvSpPr>
            <p:spPr>
              <a:xfrm flipH="false" flipV="false" rot="0">
                <a:off x="0" y="0"/>
                <a:ext cx="1626052" cy="406400"/>
              </a:xfrm>
              <a:custGeom>
                <a:avLst/>
                <a:gdLst/>
                <a:ahLst/>
                <a:cxnLst/>
                <a:rect r="r" b="b" t="t" l="l"/>
                <a:pathLst>
                  <a:path h="406400" w="1626052">
                    <a:moveTo>
                      <a:pt x="1422852" y="0"/>
                    </a:moveTo>
                    <a:cubicBezTo>
                      <a:pt x="1535076" y="0"/>
                      <a:pt x="1626052" y="90976"/>
                      <a:pt x="1626052" y="203200"/>
                    </a:cubicBezTo>
                    <a:cubicBezTo>
                      <a:pt x="1626052" y="315424"/>
                      <a:pt x="1535076" y="406400"/>
                      <a:pt x="1422852"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8" id="8"/>
              <p:cNvSpPr txBox="true"/>
              <p:nvPr/>
            </p:nvSpPr>
            <p:spPr>
              <a:xfrm>
                <a:off x="0" y="-38100"/>
                <a:ext cx="1626052" cy="44450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414535" y="124612"/>
              <a:ext cx="5254984" cy="1271367"/>
            </a:xfrm>
            <a:custGeom>
              <a:avLst/>
              <a:gdLst/>
              <a:ahLst/>
              <a:cxnLst/>
              <a:rect r="r" b="b" t="t" l="l"/>
              <a:pathLst>
                <a:path h="1271367" w="5254984">
                  <a:moveTo>
                    <a:pt x="0" y="0"/>
                  </a:moveTo>
                  <a:lnTo>
                    <a:pt x="5254983" y="0"/>
                  </a:lnTo>
                  <a:lnTo>
                    <a:pt x="5254983" y="1271367"/>
                  </a:lnTo>
                  <a:lnTo>
                    <a:pt x="0" y="1271367"/>
                  </a:lnTo>
                  <a:lnTo>
                    <a:pt x="0" y="0"/>
                  </a:lnTo>
                  <a:close/>
                </a:path>
              </a:pathLst>
            </a:custGeom>
            <a:blipFill>
              <a:blip r:embed="rId2"/>
              <a:stretch>
                <a:fillRect l="0" t="0" r="0" b="0"/>
              </a:stretch>
            </a:blipFill>
          </p:spPr>
        </p:sp>
      </p:grpSp>
      <p:sp>
        <p:nvSpPr>
          <p:cNvPr name="Freeform 10" id="10"/>
          <p:cNvSpPr/>
          <p:nvPr/>
        </p:nvSpPr>
        <p:spPr>
          <a:xfrm flipH="false" flipV="false" rot="0">
            <a:off x="1000142" y="2944026"/>
            <a:ext cx="7892765" cy="5593997"/>
          </a:xfrm>
          <a:custGeom>
            <a:avLst/>
            <a:gdLst/>
            <a:ahLst/>
            <a:cxnLst/>
            <a:rect r="r" b="b" t="t" l="l"/>
            <a:pathLst>
              <a:path h="5593997" w="7892765">
                <a:moveTo>
                  <a:pt x="0" y="0"/>
                </a:moveTo>
                <a:lnTo>
                  <a:pt x="7892765" y="0"/>
                </a:lnTo>
                <a:lnTo>
                  <a:pt x="7892765" y="5593997"/>
                </a:lnTo>
                <a:lnTo>
                  <a:pt x="0" y="5593997"/>
                </a:lnTo>
                <a:lnTo>
                  <a:pt x="0" y="0"/>
                </a:lnTo>
                <a:close/>
              </a:path>
            </a:pathLst>
          </a:custGeom>
          <a:blipFill>
            <a:blip r:embed="rId3"/>
            <a:stretch>
              <a:fillRect l="0" t="0" r="0" b="0"/>
            </a:stretch>
          </a:blipFill>
        </p:spPr>
      </p:sp>
      <p:sp>
        <p:nvSpPr>
          <p:cNvPr name="Freeform 11" id="11"/>
          <p:cNvSpPr/>
          <p:nvPr/>
        </p:nvSpPr>
        <p:spPr>
          <a:xfrm flipH="false" flipV="false" rot="0">
            <a:off x="9260374" y="2944026"/>
            <a:ext cx="7892765" cy="5593997"/>
          </a:xfrm>
          <a:custGeom>
            <a:avLst/>
            <a:gdLst/>
            <a:ahLst/>
            <a:cxnLst/>
            <a:rect r="r" b="b" t="t" l="l"/>
            <a:pathLst>
              <a:path h="5593997" w="7892765">
                <a:moveTo>
                  <a:pt x="0" y="0"/>
                </a:moveTo>
                <a:lnTo>
                  <a:pt x="7892765" y="0"/>
                </a:lnTo>
                <a:lnTo>
                  <a:pt x="7892765" y="5593997"/>
                </a:lnTo>
                <a:lnTo>
                  <a:pt x="0" y="5593997"/>
                </a:lnTo>
                <a:lnTo>
                  <a:pt x="0" y="0"/>
                </a:lnTo>
                <a:close/>
              </a:path>
            </a:pathLst>
          </a:custGeom>
          <a:blipFill>
            <a:blip r:embed="rId4"/>
            <a:stretch>
              <a:fillRect l="0" t="0" r="0" b="0"/>
            </a:stretch>
          </a:blipFill>
        </p:spPr>
      </p:sp>
      <p:sp>
        <p:nvSpPr>
          <p:cNvPr name="TextBox 12" id="12"/>
          <p:cNvSpPr txBox="true"/>
          <p:nvPr/>
        </p:nvSpPr>
        <p:spPr>
          <a:xfrm rot="0">
            <a:off x="1110116" y="1112169"/>
            <a:ext cx="6001921" cy="995271"/>
          </a:xfrm>
          <a:prstGeom prst="rect">
            <a:avLst/>
          </a:prstGeom>
        </p:spPr>
        <p:txBody>
          <a:bodyPr anchor="t" rtlCol="false" tIns="0" lIns="0" bIns="0" rIns="0">
            <a:spAutoFit/>
          </a:bodyPr>
          <a:lstStyle/>
          <a:p>
            <a:pPr algn="l">
              <a:lnSpc>
                <a:spcPts val="8142"/>
              </a:lnSpc>
            </a:pPr>
            <a:r>
              <a:rPr lang="en-US" sz="5816">
                <a:solidFill>
                  <a:srgbClr val="E5C857"/>
                </a:solidFill>
                <a:latin typeface="Bebas Neue 1"/>
                <a:ea typeface="Bebas Neue 1"/>
                <a:cs typeface="Bebas Neue 1"/>
                <a:sym typeface="Bebas Neue 1"/>
              </a:rPr>
              <a:t>hasil FOC sensorless</a:t>
            </a:r>
          </a:p>
        </p:txBody>
      </p:sp>
      <p:sp>
        <p:nvSpPr>
          <p:cNvPr name="TextBox 13" id="13"/>
          <p:cNvSpPr txBox="true"/>
          <p:nvPr/>
        </p:nvSpPr>
        <p:spPr>
          <a:xfrm rot="0">
            <a:off x="1051559" y="344178"/>
            <a:ext cx="4684584" cy="995271"/>
          </a:xfrm>
          <a:prstGeom prst="rect">
            <a:avLst/>
          </a:prstGeom>
        </p:spPr>
        <p:txBody>
          <a:bodyPr anchor="t" rtlCol="false" tIns="0" lIns="0" bIns="0" rIns="0">
            <a:spAutoFit/>
          </a:bodyPr>
          <a:lstStyle/>
          <a:p>
            <a:pPr algn="l">
              <a:lnSpc>
                <a:spcPts val="8142"/>
              </a:lnSpc>
            </a:pPr>
            <a:r>
              <a:rPr lang="en-US" sz="5816">
                <a:solidFill>
                  <a:srgbClr val="59524B"/>
                </a:solidFill>
                <a:latin typeface="Bebas Neue 1"/>
                <a:ea typeface="Bebas Neue 1"/>
                <a:cs typeface="Bebas Neue 1"/>
                <a:sym typeface="Bebas Neue 1"/>
              </a:rPr>
              <a:t>hasil penelitian</a:t>
            </a:r>
          </a:p>
        </p:txBody>
      </p:sp>
      <p:sp>
        <p:nvSpPr>
          <p:cNvPr name="TextBox 14" id="14"/>
          <p:cNvSpPr txBox="true"/>
          <p:nvPr/>
        </p:nvSpPr>
        <p:spPr>
          <a:xfrm rot="0">
            <a:off x="1133538" y="8461823"/>
            <a:ext cx="7625974" cy="533400"/>
          </a:xfrm>
          <a:prstGeom prst="rect">
            <a:avLst/>
          </a:prstGeom>
        </p:spPr>
        <p:txBody>
          <a:bodyPr anchor="t" rtlCol="false" tIns="0" lIns="0" bIns="0" rIns="0">
            <a:spAutoFit/>
          </a:bodyPr>
          <a:lstStyle/>
          <a:p>
            <a:pPr algn="ctr">
              <a:lnSpc>
                <a:spcPts val="4200"/>
              </a:lnSpc>
            </a:pPr>
            <a:r>
              <a:rPr lang="en-US" sz="3000">
                <a:solidFill>
                  <a:srgbClr val="59524B"/>
                </a:solidFill>
                <a:latin typeface="Bebas Neue 1"/>
                <a:ea typeface="Bebas Neue 1"/>
                <a:cs typeface="Bebas Neue 1"/>
                <a:sym typeface="Bebas Neue 1"/>
              </a:rPr>
              <a:t>Hasil simulasi arus alpha-beta</a:t>
            </a:r>
          </a:p>
        </p:txBody>
      </p:sp>
      <p:sp>
        <p:nvSpPr>
          <p:cNvPr name="TextBox 15" id="15"/>
          <p:cNvSpPr txBox="true"/>
          <p:nvPr/>
        </p:nvSpPr>
        <p:spPr>
          <a:xfrm rot="0">
            <a:off x="9393770" y="8461823"/>
            <a:ext cx="7625974" cy="533400"/>
          </a:xfrm>
          <a:prstGeom prst="rect">
            <a:avLst/>
          </a:prstGeom>
        </p:spPr>
        <p:txBody>
          <a:bodyPr anchor="t" rtlCol="false" tIns="0" lIns="0" bIns="0" rIns="0">
            <a:spAutoFit/>
          </a:bodyPr>
          <a:lstStyle/>
          <a:p>
            <a:pPr algn="ctr">
              <a:lnSpc>
                <a:spcPts val="4200"/>
              </a:lnSpc>
            </a:pPr>
            <a:r>
              <a:rPr lang="en-US" sz="3000">
                <a:solidFill>
                  <a:srgbClr val="59524B"/>
                </a:solidFill>
                <a:latin typeface="Bebas Neue 1"/>
                <a:ea typeface="Bebas Neue 1"/>
                <a:cs typeface="Bebas Neue 1"/>
                <a:sym typeface="Bebas Neue 1"/>
              </a:rPr>
              <a:t>Hasil simulasi arus id-iq</a:t>
            </a:r>
          </a:p>
        </p:txBody>
      </p:sp>
      <p:sp>
        <p:nvSpPr>
          <p:cNvPr name="TextBox 16" id="16"/>
          <p:cNvSpPr txBox="true"/>
          <p:nvPr/>
        </p:nvSpPr>
        <p:spPr>
          <a:xfrm rot="0">
            <a:off x="1028700" y="2248701"/>
            <a:ext cx="8707231" cy="523875"/>
          </a:xfrm>
          <a:prstGeom prst="rect">
            <a:avLst/>
          </a:prstGeom>
        </p:spPr>
        <p:txBody>
          <a:bodyPr anchor="t" rtlCol="false" tIns="0" lIns="0" bIns="0" rIns="0">
            <a:spAutoFit/>
          </a:bodyPr>
          <a:lstStyle/>
          <a:p>
            <a:pPr algn="l">
              <a:lnSpc>
                <a:spcPts val="3959"/>
              </a:lnSpc>
            </a:pPr>
            <a:r>
              <a:rPr lang="en-US" sz="3299" b="true">
                <a:solidFill>
                  <a:srgbClr val="59524B"/>
                </a:solidFill>
                <a:latin typeface="Poppins Bold"/>
                <a:ea typeface="Poppins Bold"/>
                <a:cs typeface="Poppins Bold"/>
                <a:sym typeface="Poppins Bold"/>
              </a:rPr>
              <a:t>Simulasi Simulink FOC Sensorless</a:t>
            </a:r>
          </a:p>
        </p:txBody>
      </p:sp>
      <p:sp>
        <p:nvSpPr>
          <p:cNvPr name="TextBox 17" id="17"/>
          <p:cNvSpPr txBox="true"/>
          <p:nvPr/>
        </p:nvSpPr>
        <p:spPr>
          <a:xfrm rot="0">
            <a:off x="1134861" y="8995223"/>
            <a:ext cx="16018279" cy="1073150"/>
          </a:xfrm>
          <a:prstGeom prst="rect">
            <a:avLst/>
          </a:prstGeom>
        </p:spPr>
        <p:txBody>
          <a:bodyPr anchor="t" rtlCol="false" tIns="0" lIns="0" bIns="0" rIns="0">
            <a:spAutoFit/>
          </a:bodyPr>
          <a:lstStyle/>
          <a:p>
            <a:pPr algn="just">
              <a:lnSpc>
                <a:spcPts val="2800"/>
              </a:lnSpc>
            </a:pPr>
            <a:r>
              <a:rPr lang="en-US" sz="2000" b="true">
                <a:solidFill>
                  <a:srgbClr val="010101"/>
                </a:solidFill>
                <a:latin typeface="Poppins Bold"/>
                <a:ea typeface="Poppins Bold"/>
                <a:cs typeface="Poppins Bold"/>
                <a:sym typeface="Poppins Bold"/>
              </a:rPr>
              <a:t>Simulasi digunakan sebagai alat untuk merancang dan mengintegrasikan kontroler FOC dengan dengan estimator EKF yang telah dirancang, serta memastikan keseluruhan arsitektur sensorless bekerja dengan benar sebelum dikonversi menjadi program hardware</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5313" y="464654"/>
            <a:ext cx="5931571" cy="1523631"/>
            <a:chOff x="0" y="0"/>
            <a:chExt cx="2113731" cy="542950"/>
          </a:xfrm>
        </p:grpSpPr>
        <p:sp>
          <p:nvSpPr>
            <p:cNvPr name="Freeform 3" id="3"/>
            <p:cNvSpPr/>
            <p:nvPr/>
          </p:nvSpPr>
          <p:spPr>
            <a:xfrm flipH="false" flipV="false" rot="0">
              <a:off x="0" y="0"/>
              <a:ext cx="2113731" cy="542950"/>
            </a:xfrm>
            <a:custGeom>
              <a:avLst/>
              <a:gdLst/>
              <a:ahLst/>
              <a:cxnLst/>
              <a:rect r="r" b="b" t="t" l="l"/>
              <a:pathLst>
                <a:path h="542950" w="2113731">
                  <a:moveTo>
                    <a:pt x="1910531" y="0"/>
                  </a:moveTo>
                  <a:cubicBezTo>
                    <a:pt x="2022756" y="0"/>
                    <a:pt x="2113731" y="121543"/>
                    <a:pt x="2113731" y="271475"/>
                  </a:cubicBezTo>
                  <a:cubicBezTo>
                    <a:pt x="2113731" y="421406"/>
                    <a:pt x="2022756" y="542950"/>
                    <a:pt x="1910531" y="542950"/>
                  </a:cubicBezTo>
                  <a:lnTo>
                    <a:pt x="203200" y="542950"/>
                  </a:lnTo>
                  <a:cubicBezTo>
                    <a:pt x="90976" y="542950"/>
                    <a:pt x="0" y="421406"/>
                    <a:pt x="0" y="271475"/>
                  </a:cubicBezTo>
                  <a:cubicBezTo>
                    <a:pt x="0" y="121543"/>
                    <a:pt x="90976" y="0"/>
                    <a:pt x="203200" y="0"/>
                  </a:cubicBezTo>
                  <a:close/>
                </a:path>
              </a:pathLst>
            </a:custGeom>
            <a:solidFill>
              <a:srgbClr val="F2F2F2"/>
            </a:solidFill>
          </p:spPr>
        </p:sp>
        <p:sp>
          <p:nvSpPr>
            <p:cNvPr name="TextBox 4" id="4"/>
            <p:cNvSpPr txBox="true"/>
            <p:nvPr/>
          </p:nvSpPr>
          <p:spPr>
            <a:xfrm>
              <a:off x="0" y="-38100"/>
              <a:ext cx="2113731" cy="5810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038174" y="458478"/>
            <a:ext cx="4563040" cy="1140443"/>
            <a:chOff x="0" y="0"/>
            <a:chExt cx="6084053" cy="1520591"/>
          </a:xfrm>
        </p:grpSpPr>
        <p:grpSp>
          <p:nvGrpSpPr>
            <p:cNvPr name="Group 6" id="6"/>
            <p:cNvGrpSpPr/>
            <p:nvPr/>
          </p:nvGrpSpPr>
          <p:grpSpPr>
            <a:xfrm rot="0">
              <a:off x="0" y="0"/>
              <a:ext cx="6084053" cy="1520591"/>
              <a:chOff x="0" y="0"/>
              <a:chExt cx="1626052" cy="406400"/>
            </a:xfrm>
          </p:grpSpPr>
          <p:sp>
            <p:nvSpPr>
              <p:cNvPr name="Freeform 7" id="7"/>
              <p:cNvSpPr/>
              <p:nvPr/>
            </p:nvSpPr>
            <p:spPr>
              <a:xfrm flipH="false" flipV="false" rot="0">
                <a:off x="0" y="0"/>
                <a:ext cx="1626052" cy="406400"/>
              </a:xfrm>
              <a:custGeom>
                <a:avLst/>
                <a:gdLst/>
                <a:ahLst/>
                <a:cxnLst/>
                <a:rect r="r" b="b" t="t" l="l"/>
                <a:pathLst>
                  <a:path h="406400" w="1626052">
                    <a:moveTo>
                      <a:pt x="1422852" y="0"/>
                    </a:moveTo>
                    <a:cubicBezTo>
                      <a:pt x="1535076" y="0"/>
                      <a:pt x="1626052" y="90976"/>
                      <a:pt x="1626052" y="203200"/>
                    </a:cubicBezTo>
                    <a:cubicBezTo>
                      <a:pt x="1626052" y="315424"/>
                      <a:pt x="1535076" y="406400"/>
                      <a:pt x="1422852"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8" id="8"/>
              <p:cNvSpPr txBox="true"/>
              <p:nvPr/>
            </p:nvSpPr>
            <p:spPr>
              <a:xfrm>
                <a:off x="0" y="-38100"/>
                <a:ext cx="1626052" cy="44450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414535" y="124612"/>
              <a:ext cx="5254984" cy="1271367"/>
            </a:xfrm>
            <a:custGeom>
              <a:avLst/>
              <a:gdLst/>
              <a:ahLst/>
              <a:cxnLst/>
              <a:rect r="r" b="b" t="t" l="l"/>
              <a:pathLst>
                <a:path h="1271367" w="5254984">
                  <a:moveTo>
                    <a:pt x="0" y="0"/>
                  </a:moveTo>
                  <a:lnTo>
                    <a:pt x="5254983" y="0"/>
                  </a:lnTo>
                  <a:lnTo>
                    <a:pt x="5254983" y="1271367"/>
                  </a:lnTo>
                  <a:lnTo>
                    <a:pt x="0" y="1271367"/>
                  </a:lnTo>
                  <a:lnTo>
                    <a:pt x="0" y="0"/>
                  </a:lnTo>
                  <a:close/>
                </a:path>
              </a:pathLst>
            </a:custGeom>
            <a:blipFill>
              <a:blip r:embed="rId2"/>
              <a:stretch>
                <a:fillRect l="0" t="0" r="0" b="0"/>
              </a:stretch>
            </a:blipFill>
          </p:spPr>
        </p:sp>
      </p:grpSp>
      <p:sp>
        <p:nvSpPr>
          <p:cNvPr name="Freeform 10" id="10"/>
          <p:cNvSpPr/>
          <p:nvPr/>
        </p:nvSpPr>
        <p:spPr>
          <a:xfrm flipH="false" flipV="false" rot="0">
            <a:off x="7426929" y="2895591"/>
            <a:ext cx="7892765" cy="5593997"/>
          </a:xfrm>
          <a:custGeom>
            <a:avLst/>
            <a:gdLst/>
            <a:ahLst/>
            <a:cxnLst/>
            <a:rect r="r" b="b" t="t" l="l"/>
            <a:pathLst>
              <a:path h="5593997" w="7892765">
                <a:moveTo>
                  <a:pt x="0" y="0"/>
                </a:moveTo>
                <a:lnTo>
                  <a:pt x="7892765" y="0"/>
                </a:lnTo>
                <a:lnTo>
                  <a:pt x="7892765" y="5593997"/>
                </a:lnTo>
                <a:lnTo>
                  <a:pt x="0" y="5593997"/>
                </a:lnTo>
                <a:lnTo>
                  <a:pt x="0" y="0"/>
                </a:lnTo>
                <a:close/>
              </a:path>
            </a:pathLst>
          </a:custGeom>
          <a:blipFill>
            <a:blip r:embed="rId3"/>
            <a:stretch>
              <a:fillRect l="0" t="0" r="0" b="0"/>
            </a:stretch>
          </a:blipFill>
        </p:spPr>
      </p:sp>
      <p:pic>
        <p:nvPicPr>
          <p:cNvPr name="Picture 11" id="11">
            <a:hlinkClick action="ppaction://media"/>
          </p:cNvPr>
          <p:cNvPicPr>
            <a:picLocks noChangeAspect="true"/>
          </p:cNvPicPr>
          <p:nvPr>
            <a:videoFile r:link="rId5"/>
            <p:extLst>
              <p:ext uri="{DAA4B4D4-6D71-4841-9C94-3DE7FCFB9230}">
                <p14:media xmlns:p14="http://schemas.microsoft.com/office/powerpoint/2010/main" r:embed="rId6"/>
              </p:ext>
            </p:extLst>
          </p:nvPr>
        </p:nvPicPr>
        <p:blipFill>
          <a:blip r:embed="rId4"/>
          <a:srcRect l="35918" t="37190" r="34888" b="32320"/>
          <a:stretch>
            <a:fillRect/>
          </a:stretch>
        </p:blipFill>
        <p:spPr>
          <a:xfrm flipH="false" flipV="false" rot="0">
            <a:off x="1508375" y="2496362"/>
            <a:ext cx="3770952" cy="7003197"/>
          </a:xfrm>
          <a:prstGeom prst="rect">
            <a:avLst/>
          </a:prstGeom>
        </p:spPr>
      </p:pic>
      <p:sp>
        <p:nvSpPr>
          <p:cNvPr name="TextBox 12" id="12"/>
          <p:cNvSpPr txBox="true"/>
          <p:nvPr/>
        </p:nvSpPr>
        <p:spPr>
          <a:xfrm rot="0">
            <a:off x="1110116" y="1112169"/>
            <a:ext cx="6001921" cy="995271"/>
          </a:xfrm>
          <a:prstGeom prst="rect">
            <a:avLst/>
          </a:prstGeom>
        </p:spPr>
        <p:txBody>
          <a:bodyPr anchor="t" rtlCol="false" tIns="0" lIns="0" bIns="0" rIns="0">
            <a:spAutoFit/>
          </a:bodyPr>
          <a:lstStyle/>
          <a:p>
            <a:pPr algn="l">
              <a:lnSpc>
                <a:spcPts val="8142"/>
              </a:lnSpc>
            </a:pPr>
            <a:r>
              <a:rPr lang="en-US" sz="5816">
                <a:solidFill>
                  <a:srgbClr val="E5C857"/>
                </a:solidFill>
                <a:latin typeface="Bebas Neue 1"/>
                <a:ea typeface="Bebas Neue 1"/>
                <a:cs typeface="Bebas Neue 1"/>
                <a:sym typeface="Bebas Neue 1"/>
              </a:rPr>
              <a:t>hasil FOC sensorless</a:t>
            </a:r>
          </a:p>
        </p:txBody>
      </p:sp>
      <p:sp>
        <p:nvSpPr>
          <p:cNvPr name="TextBox 13" id="13"/>
          <p:cNvSpPr txBox="true"/>
          <p:nvPr/>
        </p:nvSpPr>
        <p:spPr>
          <a:xfrm rot="0">
            <a:off x="1051559" y="344178"/>
            <a:ext cx="4684584" cy="995271"/>
          </a:xfrm>
          <a:prstGeom prst="rect">
            <a:avLst/>
          </a:prstGeom>
        </p:spPr>
        <p:txBody>
          <a:bodyPr anchor="t" rtlCol="false" tIns="0" lIns="0" bIns="0" rIns="0">
            <a:spAutoFit/>
          </a:bodyPr>
          <a:lstStyle/>
          <a:p>
            <a:pPr algn="l">
              <a:lnSpc>
                <a:spcPts val="8142"/>
              </a:lnSpc>
            </a:pPr>
            <a:r>
              <a:rPr lang="en-US" sz="5816">
                <a:solidFill>
                  <a:srgbClr val="59524B"/>
                </a:solidFill>
                <a:latin typeface="Bebas Neue 1"/>
                <a:ea typeface="Bebas Neue 1"/>
                <a:cs typeface="Bebas Neue 1"/>
                <a:sym typeface="Bebas Neue 1"/>
              </a:rPr>
              <a:t>hasil penelitian</a:t>
            </a:r>
          </a:p>
        </p:txBody>
      </p:sp>
      <p:sp>
        <p:nvSpPr>
          <p:cNvPr name="TextBox 14" id="14"/>
          <p:cNvSpPr txBox="true"/>
          <p:nvPr/>
        </p:nvSpPr>
        <p:spPr>
          <a:xfrm rot="0">
            <a:off x="7560324" y="8566930"/>
            <a:ext cx="7625974" cy="533400"/>
          </a:xfrm>
          <a:prstGeom prst="rect">
            <a:avLst/>
          </a:prstGeom>
        </p:spPr>
        <p:txBody>
          <a:bodyPr anchor="t" rtlCol="false" tIns="0" lIns="0" bIns="0" rIns="0">
            <a:spAutoFit/>
          </a:bodyPr>
          <a:lstStyle/>
          <a:p>
            <a:pPr algn="ctr">
              <a:lnSpc>
                <a:spcPts val="4200"/>
              </a:lnSpc>
            </a:pPr>
            <a:r>
              <a:rPr lang="en-US" sz="3000">
                <a:solidFill>
                  <a:srgbClr val="59524B"/>
                </a:solidFill>
                <a:latin typeface="Bebas Neue 1"/>
                <a:ea typeface="Bebas Neue 1"/>
                <a:cs typeface="Bebas Neue 1"/>
                <a:sym typeface="Bebas Neue 1"/>
              </a:rPr>
              <a:t>Hasil hardware kecepatan sudut pada 9 rad/s</a:t>
            </a:r>
          </a:p>
        </p:txBody>
      </p:sp>
    </p:spTree>
  </p:cSld>
  <p:clrMapOvr>
    <a:masterClrMapping/>
  </p:clrMapOvr>
  <p:timing>
    <p:tnLst>
      <p:par>
        <p:cTn dur="indefinite" restart="never" nodeType="tmRoot">
          <p:childTnLst>
            <p:video>
              <p:cMediaNode vol="100000">
                <p:cTn fill="hold" display="false">
                  <p:stCondLst>
                    <p:cond delay="indefinite"/>
                  </p:stCondLst>
                </p:cTn>
                <p:tgtEl>
                  <p:spTgt spid="11"/>
                </p:tgtEl>
              </p:cMediaNode>
            </p:video>
          </p:childTnLst>
        </p:cTn>
      </p:par>
    </p:tnLst>
  </p:timing>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5313" y="464654"/>
            <a:ext cx="5931571" cy="1523631"/>
            <a:chOff x="0" y="0"/>
            <a:chExt cx="2113731" cy="542950"/>
          </a:xfrm>
        </p:grpSpPr>
        <p:sp>
          <p:nvSpPr>
            <p:cNvPr name="Freeform 3" id="3"/>
            <p:cNvSpPr/>
            <p:nvPr/>
          </p:nvSpPr>
          <p:spPr>
            <a:xfrm flipH="false" flipV="false" rot="0">
              <a:off x="0" y="0"/>
              <a:ext cx="2113731" cy="542950"/>
            </a:xfrm>
            <a:custGeom>
              <a:avLst/>
              <a:gdLst/>
              <a:ahLst/>
              <a:cxnLst/>
              <a:rect r="r" b="b" t="t" l="l"/>
              <a:pathLst>
                <a:path h="542950" w="2113731">
                  <a:moveTo>
                    <a:pt x="1910531" y="0"/>
                  </a:moveTo>
                  <a:cubicBezTo>
                    <a:pt x="2022756" y="0"/>
                    <a:pt x="2113731" y="121543"/>
                    <a:pt x="2113731" y="271475"/>
                  </a:cubicBezTo>
                  <a:cubicBezTo>
                    <a:pt x="2113731" y="421406"/>
                    <a:pt x="2022756" y="542950"/>
                    <a:pt x="1910531" y="542950"/>
                  </a:cubicBezTo>
                  <a:lnTo>
                    <a:pt x="203200" y="542950"/>
                  </a:lnTo>
                  <a:cubicBezTo>
                    <a:pt x="90976" y="542950"/>
                    <a:pt x="0" y="421406"/>
                    <a:pt x="0" y="271475"/>
                  </a:cubicBezTo>
                  <a:cubicBezTo>
                    <a:pt x="0" y="121543"/>
                    <a:pt x="90976" y="0"/>
                    <a:pt x="203200" y="0"/>
                  </a:cubicBezTo>
                  <a:close/>
                </a:path>
              </a:pathLst>
            </a:custGeom>
            <a:solidFill>
              <a:srgbClr val="F2F2F2"/>
            </a:solidFill>
          </p:spPr>
        </p:sp>
        <p:sp>
          <p:nvSpPr>
            <p:cNvPr name="TextBox 4" id="4"/>
            <p:cNvSpPr txBox="true"/>
            <p:nvPr/>
          </p:nvSpPr>
          <p:spPr>
            <a:xfrm>
              <a:off x="0" y="-38100"/>
              <a:ext cx="2113731" cy="5810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038174" y="458478"/>
            <a:ext cx="4563040" cy="1140443"/>
            <a:chOff x="0" y="0"/>
            <a:chExt cx="6084053" cy="1520591"/>
          </a:xfrm>
        </p:grpSpPr>
        <p:grpSp>
          <p:nvGrpSpPr>
            <p:cNvPr name="Group 6" id="6"/>
            <p:cNvGrpSpPr/>
            <p:nvPr/>
          </p:nvGrpSpPr>
          <p:grpSpPr>
            <a:xfrm rot="0">
              <a:off x="0" y="0"/>
              <a:ext cx="6084053" cy="1520591"/>
              <a:chOff x="0" y="0"/>
              <a:chExt cx="1626052" cy="406400"/>
            </a:xfrm>
          </p:grpSpPr>
          <p:sp>
            <p:nvSpPr>
              <p:cNvPr name="Freeform 7" id="7"/>
              <p:cNvSpPr/>
              <p:nvPr/>
            </p:nvSpPr>
            <p:spPr>
              <a:xfrm flipH="false" flipV="false" rot="0">
                <a:off x="0" y="0"/>
                <a:ext cx="1626052" cy="406400"/>
              </a:xfrm>
              <a:custGeom>
                <a:avLst/>
                <a:gdLst/>
                <a:ahLst/>
                <a:cxnLst/>
                <a:rect r="r" b="b" t="t" l="l"/>
                <a:pathLst>
                  <a:path h="406400" w="1626052">
                    <a:moveTo>
                      <a:pt x="1422852" y="0"/>
                    </a:moveTo>
                    <a:cubicBezTo>
                      <a:pt x="1535076" y="0"/>
                      <a:pt x="1626052" y="90976"/>
                      <a:pt x="1626052" y="203200"/>
                    </a:cubicBezTo>
                    <a:cubicBezTo>
                      <a:pt x="1626052" y="315424"/>
                      <a:pt x="1535076" y="406400"/>
                      <a:pt x="1422852"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8" id="8"/>
              <p:cNvSpPr txBox="true"/>
              <p:nvPr/>
            </p:nvSpPr>
            <p:spPr>
              <a:xfrm>
                <a:off x="0" y="-38100"/>
                <a:ext cx="1626052" cy="44450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414535" y="124612"/>
              <a:ext cx="5254984" cy="1271367"/>
            </a:xfrm>
            <a:custGeom>
              <a:avLst/>
              <a:gdLst/>
              <a:ahLst/>
              <a:cxnLst/>
              <a:rect r="r" b="b" t="t" l="l"/>
              <a:pathLst>
                <a:path h="1271367" w="5254984">
                  <a:moveTo>
                    <a:pt x="0" y="0"/>
                  </a:moveTo>
                  <a:lnTo>
                    <a:pt x="5254983" y="0"/>
                  </a:lnTo>
                  <a:lnTo>
                    <a:pt x="5254983" y="1271367"/>
                  </a:lnTo>
                  <a:lnTo>
                    <a:pt x="0" y="1271367"/>
                  </a:lnTo>
                  <a:lnTo>
                    <a:pt x="0" y="0"/>
                  </a:lnTo>
                  <a:close/>
                </a:path>
              </a:pathLst>
            </a:custGeom>
            <a:blipFill>
              <a:blip r:embed="rId2"/>
              <a:stretch>
                <a:fillRect l="0" t="0" r="0" b="0"/>
              </a:stretch>
            </a:blipFill>
          </p:spPr>
        </p:sp>
      </p:grpSp>
      <p:sp>
        <p:nvSpPr>
          <p:cNvPr name="Freeform 10" id="10"/>
          <p:cNvSpPr/>
          <p:nvPr/>
        </p:nvSpPr>
        <p:spPr>
          <a:xfrm flipH="false" flipV="false" rot="0">
            <a:off x="1051559" y="2085610"/>
            <a:ext cx="7767250" cy="5505038"/>
          </a:xfrm>
          <a:custGeom>
            <a:avLst/>
            <a:gdLst/>
            <a:ahLst/>
            <a:cxnLst/>
            <a:rect r="r" b="b" t="t" l="l"/>
            <a:pathLst>
              <a:path h="5505038" w="7767250">
                <a:moveTo>
                  <a:pt x="0" y="0"/>
                </a:moveTo>
                <a:lnTo>
                  <a:pt x="7767249" y="0"/>
                </a:lnTo>
                <a:lnTo>
                  <a:pt x="7767249" y="5505038"/>
                </a:lnTo>
                <a:lnTo>
                  <a:pt x="0" y="5505038"/>
                </a:lnTo>
                <a:lnTo>
                  <a:pt x="0" y="0"/>
                </a:lnTo>
                <a:close/>
              </a:path>
            </a:pathLst>
          </a:custGeom>
          <a:blipFill>
            <a:blip r:embed="rId3"/>
            <a:stretch>
              <a:fillRect l="0" t="0" r="0" b="0"/>
            </a:stretch>
          </a:blipFill>
        </p:spPr>
      </p:sp>
      <p:sp>
        <p:nvSpPr>
          <p:cNvPr name="Freeform 11" id="11"/>
          <p:cNvSpPr/>
          <p:nvPr/>
        </p:nvSpPr>
        <p:spPr>
          <a:xfrm flipH="false" flipV="false" rot="0">
            <a:off x="9380512" y="2134545"/>
            <a:ext cx="7698206" cy="5456103"/>
          </a:xfrm>
          <a:custGeom>
            <a:avLst/>
            <a:gdLst/>
            <a:ahLst/>
            <a:cxnLst/>
            <a:rect r="r" b="b" t="t" l="l"/>
            <a:pathLst>
              <a:path h="5456103" w="7698206">
                <a:moveTo>
                  <a:pt x="0" y="0"/>
                </a:moveTo>
                <a:lnTo>
                  <a:pt x="7698206" y="0"/>
                </a:lnTo>
                <a:lnTo>
                  <a:pt x="7698206" y="5456103"/>
                </a:lnTo>
                <a:lnTo>
                  <a:pt x="0" y="5456103"/>
                </a:lnTo>
                <a:lnTo>
                  <a:pt x="0" y="0"/>
                </a:lnTo>
                <a:close/>
              </a:path>
            </a:pathLst>
          </a:custGeom>
          <a:blipFill>
            <a:blip r:embed="rId4"/>
            <a:stretch>
              <a:fillRect l="0" t="0" r="0" b="0"/>
            </a:stretch>
          </a:blipFill>
        </p:spPr>
      </p:sp>
      <p:sp>
        <p:nvSpPr>
          <p:cNvPr name="TextBox 12" id="12"/>
          <p:cNvSpPr txBox="true"/>
          <p:nvPr/>
        </p:nvSpPr>
        <p:spPr>
          <a:xfrm rot="0">
            <a:off x="1110116" y="1112169"/>
            <a:ext cx="6001921" cy="995271"/>
          </a:xfrm>
          <a:prstGeom prst="rect">
            <a:avLst/>
          </a:prstGeom>
        </p:spPr>
        <p:txBody>
          <a:bodyPr anchor="t" rtlCol="false" tIns="0" lIns="0" bIns="0" rIns="0">
            <a:spAutoFit/>
          </a:bodyPr>
          <a:lstStyle/>
          <a:p>
            <a:pPr algn="l">
              <a:lnSpc>
                <a:spcPts val="8142"/>
              </a:lnSpc>
            </a:pPr>
            <a:r>
              <a:rPr lang="en-US" sz="5816">
                <a:solidFill>
                  <a:srgbClr val="E5C857"/>
                </a:solidFill>
                <a:latin typeface="Bebas Neue 1"/>
                <a:ea typeface="Bebas Neue 1"/>
                <a:cs typeface="Bebas Neue 1"/>
                <a:sym typeface="Bebas Neue 1"/>
              </a:rPr>
              <a:t>hasil FOC sensorless</a:t>
            </a:r>
          </a:p>
        </p:txBody>
      </p:sp>
      <p:sp>
        <p:nvSpPr>
          <p:cNvPr name="TextBox 13" id="13"/>
          <p:cNvSpPr txBox="true"/>
          <p:nvPr/>
        </p:nvSpPr>
        <p:spPr>
          <a:xfrm rot="0">
            <a:off x="1051559" y="344178"/>
            <a:ext cx="4684584" cy="995271"/>
          </a:xfrm>
          <a:prstGeom prst="rect">
            <a:avLst/>
          </a:prstGeom>
        </p:spPr>
        <p:txBody>
          <a:bodyPr anchor="t" rtlCol="false" tIns="0" lIns="0" bIns="0" rIns="0">
            <a:spAutoFit/>
          </a:bodyPr>
          <a:lstStyle/>
          <a:p>
            <a:pPr algn="l">
              <a:lnSpc>
                <a:spcPts val="8142"/>
              </a:lnSpc>
            </a:pPr>
            <a:r>
              <a:rPr lang="en-US" sz="5816">
                <a:solidFill>
                  <a:srgbClr val="59524B"/>
                </a:solidFill>
                <a:latin typeface="Bebas Neue 1"/>
                <a:ea typeface="Bebas Neue 1"/>
                <a:cs typeface="Bebas Neue 1"/>
                <a:sym typeface="Bebas Neue 1"/>
              </a:rPr>
              <a:t>hasil penelitian</a:t>
            </a:r>
          </a:p>
        </p:txBody>
      </p:sp>
      <p:sp>
        <p:nvSpPr>
          <p:cNvPr name="TextBox 14" id="14"/>
          <p:cNvSpPr txBox="true"/>
          <p:nvPr/>
        </p:nvSpPr>
        <p:spPr>
          <a:xfrm rot="0">
            <a:off x="9416628" y="7667990"/>
            <a:ext cx="7625974" cy="533400"/>
          </a:xfrm>
          <a:prstGeom prst="rect">
            <a:avLst/>
          </a:prstGeom>
        </p:spPr>
        <p:txBody>
          <a:bodyPr anchor="t" rtlCol="false" tIns="0" lIns="0" bIns="0" rIns="0">
            <a:spAutoFit/>
          </a:bodyPr>
          <a:lstStyle/>
          <a:p>
            <a:pPr algn="ctr">
              <a:lnSpc>
                <a:spcPts val="4200"/>
              </a:lnSpc>
            </a:pPr>
            <a:r>
              <a:rPr lang="en-US" sz="3000">
                <a:solidFill>
                  <a:srgbClr val="59524B"/>
                </a:solidFill>
                <a:latin typeface="Bebas Neue 1"/>
                <a:ea typeface="Bebas Neue 1"/>
                <a:cs typeface="Bebas Neue 1"/>
                <a:sym typeface="Bebas Neue 1"/>
              </a:rPr>
              <a:t>Hasil hardware arus id-iq sudut pada 9 rad/s</a:t>
            </a:r>
          </a:p>
        </p:txBody>
      </p:sp>
      <p:sp>
        <p:nvSpPr>
          <p:cNvPr name="TextBox 15" id="15"/>
          <p:cNvSpPr txBox="true"/>
          <p:nvPr/>
        </p:nvSpPr>
        <p:spPr>
          <a:xfrm rot="0">
            <a:off x="1122196" y="7667990"/>
            <a:ext cx="7625974" cy="533400"/>
          </a:xfrm>
          <a:prstGeom prst="rect">
            <a:avLst/>
          </a:prstGeom>
        </p:spPr>
        <p:txBody>
          <a:bodyPr anchor="t" rtlCol="false" tIns="0" lIns="0" bIns="0" rIns="0">
            <a:spAutoFit/>
          </a:bodyPr>
          <a:lstStyle/>
          <a:p>
            <a:pPr algn="ctr">
              <a:lnSpc>
                <a:spcPts val="4200"/>
              </a:lnSpc>
            </a:pPr>
            <a:r>
              <a:rPr lang="en-US" sz="3000">
                <a:solidFill>
                  <a:srgbClr val="59524B"/>
                </a:solidFill>
                <a:latin typeface="Bebas Neue 1"/>
                <a:ea typeface="Bebas Neue 1"/>
                <a:cs typeface="Bebas Neue 1"/>
                <a:sym typeface="Bebas Neue 1"/>
              </a:rPr>
              <a:t>Hasil hardware arus alpha-beta sudut pada 9 rad/s</a:t>
            </a:r>
          </a:p>
        </p:txBody>
      </p:sp>
      <p:sp>
        <p:nvSpPr>
          <p:cNvPr name="TextBox 16" id="16"/>
          <p:cNvSpPr txBox="true"/>
          <p:nvPr/>
        </p:nvSpPr>
        <p:spPr>
          <a:xfrm rot="0">
            <a:off x="1134861" y="8327995"/>
            <a:ext cx="16018279" cy="1778000"/>
          </a:xfrm>
          <a:prstGeom prst="rect">
            <a:avLst/>
          </a:prstGeom>
        </p:spPr>
        <p:txBody>
          <a:bodyPr anchor="t" rtlCol="false" tIns="0" lIns="0" bIns="0" rIns="0">
            <a:spAutoFit/>
          </a:bodyPr>
          <a:lstStyle/>
          <a:p>
            <a:pPr algn="just">
              <a:lnSpc>
                <a:spcPts val="2800"/>
              </a:lnSpc>
            </a:pPr>
            <a:r>
              <a:rPr lang="en-US" sz="2000" b="true">
                <a:solidFill>
                  <a:srgbClr val="010101"/>
                </a:solidFill>
                <a:latin typeface="Poppins Bold"/>
                <a:ea typeface="Poppins Bold"/>
                <a:cs typeface="Poppins Bold"/>
                <a:sym typeface="Poppins Bold"/>
              </a:rPr>
              <a:t>Terdapat perbedaan signifikan amplitudo arus dari alpha-beta dan id-iq dibandingkan kondisi yang diharapkan seperti pada simulasi, hal ini terjadi akibat phase-lock pada estimasi posisi karena sudut yang diestimasi EKF bergeser dari posisi rotor sebenarnya, komutasi menjadi misaligned sehingga vektor arus tidak terarah secara optimal terhadap rotor. Akibatnya, sebagian besar arus yang mengalir terbuang untuk melawan medan yang tidak sejajar dibandingkan menghasilkan torsi yang berguna.</a:t>
            </a: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5313" y="464654"/>
            <a:ext cx="5931571" cy="1523631"/>
            <a:chOff x="0" y="0"/>
            <a:chExt cx="2113731" cy="542950"/>
          </a:xfrm>
        </p:grpSpPr>
        <p:sp>
          <p:nvSpPr>
            <p:cNvPr name="Freeform 3" id="3"/>
            <p:cNvSpPr/>
            <p:nvPr/>
          </p:nvSpPr>
          <p:spPr>
            <a:xfrm flipH="false" flipV="false" rot="0">
              <a:off x="0" y="0"/>
              <a:ext cx="2113731" cy="542950"/>
            </a:xfrm>
            <a:custGeom>
              <a:avLst/>
              <a:gdLst/>
              <a:ahLst/>
              <a:cxnLst/>
              <a:rect r="r" b="b" t="t" l="l"/>
              <a:pathLst>
                <a:path h="542950" w="2113731">
                  <a:moveTo>
                    <a:pt x="1910531" y="0"/>
                  </a:moveTo>
                  <a:cubicBezTo>
                    <a:pt x="2022756" y="0"/>
                    <a:pt x="2113731" y="121543"/>
                    <a:pt x="2113731" y="271475"/>
                  </a:cubicBezTo>
                  <a:cubicBezTo>
                    <a:pt x="2113731" y="421406"/>
                    <a:pt x="2022756" y="542950"/>
                    <a:pt x="1910531" y="542950"/>
                  </a:cubicBezTo>
                  <a:lnTo>
                    <a:pt x="203200" y="542950"/>
                  </a:lnTo>
                  <a:cubicBezTo>
                    <a:pt x="90976" y="542950"/>
                    <a:pt x="0" y="421406"/>
                    <a:pt x="0" y="271475"/>
                  </a:cubicBezTo>
                  <a:cubicBezTo>
                    <a:pt x="0" y="121543"/>
                    <a:pt x="90976" y="0"/>
                    <a:pt x="203200" y="0"/>
                  </a:cubicBezTo>
                  <a:close/>
                </a:path>
              </a:pathLst>
            </a:custGeom>
            <a:solidFill>
              <a:srgbClr val="F2F2F2"/>
            </a:solidFill>
          </p:spPr>
        </p:sp>
        <p:sp>
          <p:nvSpPr>
            <p:cNvPr name="TextBox 4" id="4"/>
            <p:cNvSpPr txBox="true"/>
            <p:nvPr/>
          </p:nvSpPr>
          <p:spPr>
            <a:xfrm>
              <a:off x="0" y="-38100"/>
              <a:ext cx="2113731" cy="5810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038174" y="458478"/>
            <a:ext cx="4563040" cy="1140443"/>
            <a:chOff x="0" y="0"/>
            <a:chExt cx="6084053" cy="1520591"/>
          </a:xfrm>
        </p:grpSpPr>
        <p:grpSp>
          <p:nvGrpSpPr>
            <p:cNvPr name="Group 6" id="6"/>
            <p:cNvGrpSpPr/>
            <p:nvPr/>
          </p:nvGrpSpPr>
          <p:grpSpPr>
            <a:xfrm rot="0">
              <a:off x="0" y="0"/>
              <a:ext cx="6084053" cy="1520591"/>
              <a:chOff x="0" y="0"/>
              <a:chExt cx="1626052" cy="406400"/>
            </a:xfrm>
          </p:grpSpPr>
          <p:sp>
            <p:nvSpPr>
              <p:cNvPr name="Freeform 7" id="7"/>
              <p:cNvSpPr/>
              <p:nvPr/>
            </p:nvSpPr>
            <p:spPr>
              <a:xfrm flipH="false" flipV="false" rot="0">
                <a:off x="0" y="0"/>
                <a:ext cx="1626052" cy="406400"/>
              </a:xfrm>
              <a:custGeom>
                <a:avLst/>
                <a:gdLst/>
                <a:ahLst/>
                <a:cxnLst/>
                <a:rect r="r" b="b" t="t" l="l"/>
                <a:pathLst>
                  <a:path h="406400" w="1626052">
                    <a:moveTo>
                      <a:pt x="1422852" y="0"/>
                    </a:moveTo>
                    <a:cubicBezTo>
                      <a:pt x="1535076" y="0"/>
                      <a:pt x="1626052" y="90976"/>
                      <a:pt x="1626052" y="203200"/>
                    </a:cubicBezTo>
                    <a:cubicBezTo>
                      <a:pt x="1626052" y="315424"/>
                      <a:pt x="1535076" y="406400"/>
                      <a:pt x="1422852"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8" id="8"/>
              <p:cNvSpPr txBox="true"/>
              <p:nvPr/>
            </p:nvSpPr>
            <p:spPr>
              <a:xfrm>
                <a:off x="0" y="-38100"/>
                <a:ext cx="1626052" cy="44450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414535" y="124612"/>
              <a:ext cx="5254984" cy="1271367"/>
            </a:xfrm>
            <a:custGeom>
              <a:avLst/>
              <a:gdLst/>
              <a:ahLst/>
              <a:cxnLst/>
              <a:rect r="r" b="b" t="t" l="l"/>
              <a:pathLst>
                <a:path h="1271367" w="5254984">
                  <a:moveTo>
                    <a:pt x="0" y="0"/>
                  </a:moveTo>
                  <a:lnTo>
                    <a:pt x="5254983" y="0"/>
                  </a:lnTo>
                  <a:lnTo>
                    <a:pt x="5254983" y="1271367"/>
                  </a:lnTo>
                  <a:lnTo>
                    <a:pt x="0" y="1271367"/>
                  </a:lnTo>
                  <a:lnTo>
                    <a:pt x="0" y="0"/>
                  </a:lnTo>
                  <a:close/>
                </a:path>
              </a:pathLst>
            </a:custGeom>
            <a:blipFill>
              <a:blip r:embed="rId2"/>
              <a:stretch>
                <a:fillRect l="0" t="0" r="0" b="0"/>
              </a:stretch>
            </a:blipFill>
          </p:spPr>
        </p:sp>
      </p:grpSp>
      <p:sp>
        <p:nvSpPr>
          <p:cNvPr name="Freeform 10" id="10"/>
          <p:cNvSpPr/>
          <p:nvPr/>
        </p:nvSpPr>
        <p:spPr>
          <a:xfrm flipH="false" flipV="false" rot="0">
            <a:off x="1699259" y="4121951"/>
            <a:ext cx="4897625" cy="392258"/>
          </a:xfrm>
          <a:custGeom>
            <a:avLst/>
            <a:gdLst/>
            <a:ahLst/>
            <a:cxnLst/>
            <a:rect r="r" b="b" t="t" l="l"/>
            <a:pathLst>
              <a:path h="392258" w="4897625">
                <a:moveTo>
                  <a:pt x="0" y="0"/>
                </a:moveTo>
                <a:lnTo>
                  <a:pt x="4897625" y="0"/>
                </a:lnTo>
                <a:lnTo>
                  <a:pt x="4897625" y="392258"/>
                </a:lnTo>
                <a:lnTo>
                  <a:pt x="0" y="392258"/>
                </a:lnTo>
                <a:lnTo>
                  <a:pt x="0" y="0"/>
                </a:lnTo>
                <a:close/>
              </a:path>
            </a:pathLst>
          </a:custGeom>
          <a:blipFill>
            <a:blip r:embed="rId3"/>
            <a:stretch>
              <a:fillRect l="0" t="0" r="0" b="0"/>
            </a:stretch>
          </a:blipFill>
        </p:spPr>
      </p:sp>
      <p:sp>
        <p:nvSpPr>
          <p:cNvPr name="Freeform 11" id="11"/>
          <p:cNvSpPr/>
          <p:nvPr/>
        </p:nvSpPr>
        <p:spPr>
          <a:xfrm flipH="false" flipV="false" rot="0">
            <a:off x="1699259" y="4656998"/>
            <a:ext cx="4897625" cy="362787"/>
          </a:xfrm>
          <a:custGeom>
            <a:avLst/>
            <a:gdLst/>
            <a:ahLst/>
            <a:cxnLst/>
            <a:rect r="r" b="b" t="t" l="l"/>
            <a:pathLst>
              <a:path h="362787" w="4897625">
                <a:moveTo>
                  <a:pt x="0" y="0"/>
                </a:moveTo>
                <a:lnTo>
                  <a:pt x="4897625" y="0"/>
                </a:lnTo>
                <a:lnTo>
                  <a:pt x="4897625" y="362787"/>
                </a:lnTo>
                <a:lnTo>
                  <a:pt x="0" y="362787"/>
                </a:lnTo>
                <a:lnTo>
                  <a:pt x="0" y="0"/>
                </a:lnTo>
                <a:close/>
              </a:path>
            </a:pathLst>
          </a:custGeom>
          <a:blipFill>
            <a:blip r:embed="rId4"/>
            <a:stretch>
              <a:fillRect l="0" t="0" r="0" b="0"/>
            </a:stretch>
          </a:blipFill>
        </p:spPr>
      </p:sp>
      <p:sp>
        <p:nvSpPr>
          <p:cNvPr name="Freeform 12" id="12"/>
          <p:cNvSpPr/>
          <p:nvPr/>
        </p:nvSpPr>
        <p:spPr>
          <a:xfrm flipH="false" flipV="false" rot="0">
            <a:off x="1699259" y="6245335"/>
            <a:ext cx="4805744" cy="3608797"/>
          </a:xfrm>
          <a:custGeom>
            <a:avLst/>
            <a:gdLst/>
            <a:ahLst/>
            <a:cxnLst/>
            <a:rect r="r" b="b" t="t" l="l"/>
            <a:pathLst>
              <a:path h="3608797" w="4805744">
                <a:moveTo>
                  <a:pt x="0" y="0"/>
                </a:moveTo>
                <a:lnTo>
                  <a:pt x="4805744" y="0"/>
                </a:lnTo>
                <a:lnTo>
                  <a:pt x="4805744" y="3608796"/>
                </a:lnTo>
                <a:lnTo>
                  <a:pt x="0" y="3608796"/>
                </a:lnTo>
                <a:lnTo>
                  <a:pt x="0" y="0"/>
                </a:lnTo>
                <a:close/>
              </a:path>
            </a:pathLst>
          </a:custGeom>
          <a:blipFill>
            <a:blip r:embed="rId5"/>
            <a:stretch>
              <a:fillRect l="0" t="0" r="0" b="0"/>
            </a:stretch>
          </a:blipFill>
        </p:spPr>
      </p:sp>
      <p:sp>
        <p:nvSpPr>
          <p:cNvPr name="Freeform 13" id="13"/>
          <p:cNvSpPr/>
          <p:nvPr/>
        </p:nvSpPr>
        <p:spPr>
          <a:xfrm flipH="false" flipV="false" rot="0">
            <a:off x="9549385" y="7889985"/>
            <a:ext cx="5258764" cy="810174"/>
          </a:xfrm>
          <a:custGeom>
            <a:avLst/>
            <a:gdLst/>
            <a:ahLst/>
            <a:cxnLst/>
            <a:rect r="r" b="b" t="t" l="l"/>
            <a:pathLst>
              <a:path h="810174" w="5258764">
                <a:moveTo>
                  <a:pt x="0" y="0"/>
                </a:moveTo>
                <a:lnTo>
                  <a:pt x="5258764" y="0"/>
                </a:lnTo>
                <a:lnTo>
                  <a:pt x="5258764" y="810173"/>
                </a:lnTo>
                <a:lnTo>
                  <a:pt x="0" y="810173"/>
                </a:lnTo>
                <a:lnTo>
                  <a:pt x="0" y="0"/>
                </a:lnTo>
                <a:close/>
              </a:path>
            </a:pathLst>
          </a:custGeom>
          <a:blipFill>
            <a:blip r:embed="rId6"/>
            <a:stretch>
              <a:fillRect l="0" t="0" r="0" b="0"/>
            </a:stretch>
          </a:blipFill>
        </p:spPr>
      </p:sp>
      <p:sp>
        <p:nvSpPr>
          <p:cNvPr name="TextBox 14" id="14"/>
          <p:cNvSpPr txBox="true"/>
          <p:nvPr/>
        </p:nvSpPr>
        <p:spPr>
          <a:xfrm rot="0">
            <a:off x="1110116" y="1112169"/>
            <a:ext cx="6001921" cy="995271"/>
          </a:xfrm>
          <a:prstGeom prst="rect">
            <a:avLst/>
          </a:prstGeom>
        </p:spPr>
        <p:txBody>
          <a:bodyPr anchor="t" rtlCol="false" tIns="0" lIns="0" bIns="0" rIns="0">
            <a:spAutoFit/>
          </a:bodyPr>
          <a:lstStyle/>
          <a:p>
            <a:pPr algn="l">
              <a:lnSpc>
                <a:spcPts val="8142"/>
              </a:lnSpc>
            </a:pPr>
            <a:r>
              <a:rPr lang="en-US" sz="5816">
                <a:solidFill>
                  <a:srgbClr val="E5C857"/>
                </a:solidFill>
                <a:latin typeface="Bebas Neue 1"/>
                <a:ea typeface="Bebas Neue 1"/>
                <a:cs typeface="Bebas Neue 1"/>
                <a:sym typeface="Bebas Neue 1"/>
              </a:rPr>
              <a:t>hasil FOC sensorless</a:t>
            </a:r>
          </a:p>
        </p:txBody>
      </p:sp>
      <p:sp>
        <p:nvSpPr>
          <p:cNvPr name="TextBox 15" id="15"/>
          <p:cNvSpPr txBox="true"/>
          <p:nvPr/>
        </p:nvSpPr>
        <p:spPr>
          <a:xfrm rot="0">
            <a:off x="1051559" y="344178"/>
            <a:ext cx="4684584" cy="995271"/>
          </a:xfrm>
          <a:prstGeom prst="rect">
            <a:avLst/>
          </a:prstGeom>
        </p:spPr>
        <p:txBody>
          <a:bodyPr anchor="t" rtlCol="false" tIns="0" lIns="0" bIns="0" rIns="0">
            <a:spAutoFit/>
          </a:bodyPr>
          <a:lstStyle/>
          <a:p>
            <a:pPr algn="l">
              <a:lnSpc>
                <a:spcPts val="8142"/>
              </a:lnSpc>
            </a:pPr>
            <a:r>
              <a:rPr lang="en-US" sz="5816">
                <a:solidFill>
                  <a:srgbClr val="59524B"/>
                </a:solidFill>
                <a:latin typeface="Bebas Neue 1"/>
                <a:ea typeface="Bebas Neue 1"/>
                <a:cs typeface="Bebas Neue 1"/>
                <a:sym typeface="Bebas Neue 1"/>
              </a:rPr>
              <a:t>hasil penelitian</a:t>
            </a:r>
          </a:p>
        </p:txBody>
      </p:sp>
      <p:sp>
        <p:nvSpPr>
          <p:cNvPr name="TextBox 16" id="16"/>
          <p:cNvSpPr txBox="true"/>
          <p:nvPr/>
        </p:nvSpPr>
        <p:spPr>
          <a:xfrm rot="0">
            <a:off x="1028700" y="2877351"/>
            <a:ext cx="16018279" cy="1073150"/>
          </a:xfrm>
          <a:prstGeom prst="rect">
            <a:avLst/>
          </a:prstGeom>
        </p:spPr>
        <p:txBody>
          <a:bodyPr anchor="t" rtlCol="false" tIns="0" lIns="0" bIns="0" rIns="0">
            <a:spAutoFit/>
          </a:bodyPr>
          <a:lstStyle/>
          <a:p>
            <a:pPr algn="just">
              <a:lnSpc>
                <a:spcPts val="2800"/>
              </a:lnSpc>
            </a:pPr>
            <a:r>
              <a:rPr lang="en-US" sz="2000">
                <a:solidFill>
                  <a:srgbClr val="010101"/>
                </a:solidFill>
                <a:latin typeface="Poppins"/>
                <a:ea typeface="Poppins"/>
                <a:cs typeface="Poppins"/>
                <a:sym typeface="Poppins"/>
              </a:rPr>
              <a:t>Phase lock adalah kondisi di mana EKF tidak konvergen menuju sudut rotor sebenarnya, melainkan menuju suatu titik kesetimbangan (equilibrium) yang stabil namun bergeser secara konstan dari nilai sebenarnya. Ini terjadi karena persamaan BEMF pada model EKF. </a:t>
            </a:r>
          </a:p>
        </p:txBody>
      </p:sp>
      <p:sp>
        <p:nvSpPr>
          <p:cNvPr name="TextBox 17" id="17"/>
          <p:cNvSpPr txBox="true"/>
          <p:nvPr/>
        </p:nvSpPr>
        <p:spPr>
          <a:xfrm rot="0">
            <a:off x="1028700" y="2248701"/>
            <a:ext cx="8707231" cy="523875"/>
          </a:xfrm>
          <a:prstGeom prst="rect">
            <a:avLst/>
          </a:prstGeom>
        </p:spPr>
        <p:txBody>
          <a:bodyPr anchor="t" rtlCol="false" tIns="0" lIns="0" bIns="0" rIns="0">
            <a:spAutoFit/>
          </a:bodyPr>
          <a:lstStyle/>
          <a:p>
            <a:pPr algn="l">
              <a:lnSpc>
                <a:spcPts val="3959"/>
              </a:lnSpc>
            </a:pPr>
            <a:r>
              <a:rPr lang="en-US" sz="3299" b="true">
                <a:solidFill>
                  <a:srgbClr val="59524B"/>
                </a:solidFill>
                <a:latin typeface="Poppins Bold"/>
                <a:ea typeface="Poppins Bold"/>
                <a:cs typeface="Poppins Bold"/>
                <a:sym typeface="Poppins Bold"/>
              </a:rPr>
              <a:t>Phase lock</a:t>
            </a:r>
          </a:p>
        </p:txBody>
      </p:sp>
      <p:sp>
        <p:nvSpPr>
          <p:cNvPr name="TextBox 18" id="18"/>
          <p:cNvSpPr txBox="true"/>
          <p:nvPr/>
        </p:nvSpPr>
        <p:spPr>
          <a:xfrm rot="0">
            <a:off x="1028700" y="5238860"/>
            <a:ext cx="16018279" cy="720725"/>
          </a:xfrm>
          <a:prstGeom prst="rect">
            <a:avLst/>
          </a:prstGeom>
        </p:spPr>
        <p:txBody>
          <a:bodyPr anchor="t" rtlCol="false" tIns="0" lIns="0" bIns="0" rIns="0">
            <a:spAutoFit/>
          </a:bodyPr>
          <a:lstStyle/>
          <a:p>
            <a:pPr algn="just">
              <a:lnSpc>
                <a:spcPts val="2800"/>
              </a:lnSpc>
            </a:pPr>
            <a:r>
              <a:rPr lang="en-US" sz="2000">
                <a:solidFill>
                  <a:srgbClr val="010101"/>
                </a:solidFill>
                <a:latin typeface="Poppins"/>
                <a:ea typeface="Poppins"/>
                <a:cs typeface="Poppins"/>
                <a:sym typeface="Poppins"/>
              </a:rPr>
              <a:t>memiliki struktur simetri trigonometrik yang memungkinkan lebih dari satu titik kesetimbangan memenuhi dinamika koreksi EKF secara self consistent.</a:t>
            </a:r>
          </a:p>
        </p:txBody>
      </p:sp>
      <p:sp>
        <p:nvSpPr>
          <p:cNvPr name="TextBox 19" id="19"/>
          <p:cNvSpPr txBox="true"/>
          <p:nvPr/>
        </p:nvSpPr>
        <p:spPr>
          <a:xfrm rot="0">
            <a:off x="7310555" y="6178660"/>
            <a:ext cx="9736424" cy="1425575"/>
          </a:xfrm>
          <a:prstGeom prst="rect">
            <a:avLst/>
          </a:prstGeom>
        </p:spPr>
        <p:txBody>
          <a:bodyPr anchor="t" rtlCol="false" tIns="0" lIns="0" bIns="0" rIns="0">
            <a:spAutoFit/>
          </a:bodyPr>
          <a:lstStyle/>
          <a:p>
            <a:pPr algn="just">
              <a:lnSpc>
                <a:spcPts val="2800"/>
              </a:lnSpc>
            </a:pPr>
            <a:r>
              <a:rPr lang="en-US" sz="2000">
                <a:solidFill>
                  <a:srgbClr val="010101"/>
                </a:solidFill>
                <a:latin typeface="Poppins"/>
                <a:ea typeface="Poppins"/>
                <a:cs typeface="Poppins"/>
                <a:sym typeface="Poppins"/>
              </a:rPr>
              <a:t>Jika sudut yang diestimasi (θ^e​) bergeser dari sudut sebenarnya (θe) sebesar Δθ=θ^e − θe​, maka arus Iq yang dikomandokan pada kerangka estimasi tidak sepenuhnya terarah pada sumbu q yang sebenarnya. Dengan asumsi Id_ref=0.</a:t>
            </a:r>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5313" y="464654"/>
            <a:ext cx="5931571" cy="1523631"/>
            <a:chOff x="0" y="0"/>
            <a:chExt cx="2113731" cy="542950"/>
          </a:xfrm>
        </p:grpSpPr>
        <p:sp>
          <p:nvSpPr>
            <p:cNvPr name="Freeform 3" id="3"/>
            <p:cNvSpPr/>
            <p:nvPr/>
          </p:nvSpPr>
          <p:spPr>
            <a:xfrm flipH="false" flipV="false" rot="0">
              <a:off x="0" y="0"/>
              <a:ext cx="2113731" cy="542950"/>
            </a:xfrm>
            <a:custGeom>
              <a:avLst/>
              <a:gdLst/>
              <a:ahLst/>
              <a:cxnLst/>
              <a:rect r="r" b="b" t="t" l="l"/>
              <a:pathLst>
                <a:path h="542950" w="2113731">
                  <a:moveTo>
                    <a:pt x="1910531" y="0"/>
                  </a:moveTo>
                  <a:cubicBezTo>
                    <a:pt x="2022756" y="0"/>
                    <a:pt x="2113731" y="121543"/>
                    <a:pt x="2113731" y="271475"/>
                  </a:cubicBezTo>
                  <a:cubicBezTo>
                    <a:pt x="2113731" y="421406"/>
                    <a:pt x="2022756" y="542950"/>
                    <a:pt x="1910531" y="542950"/>
                  </a:cubicBezTo>
                  <a:lnTo>
                    <a:pt x="203200" y="542950"/>
                  </a:lnTo>
                  <a:cubicBezTo>
                    <a:pt x="90976" y="542950"/>
                    <a:pt x="0" y="421406"/>
                    <a:pt x="0" y="271475"/>
                  </a:cubicBezTo>
                  <a:cubicBezTo>
                    <a:pt x="0" y="121543"/>
                    <a:pt x="90976" y="0"/>
                    <a:pt x="203200" y="0"/>
                  </a:cubicBezTo>
                  <a:close/>
                </a:path>
              </a:pathLst>
            </a:custGeom>
            <a:solidFill>
              <a:srgbClr val="F2F2F2"/>
            </a:solidFill>
          </p:spPr>
        </p:sp>
        <p:sp>
          <p:nvSpPr>
            <p:cNvPr name="TextBox 4" id="4"/>
            <p:cNvSpPr txBox="true"/>
            <p:nvPr/>
          </p:nvSpPr>
          <p:spPr>
            <a:xfrm>
              <a:off x="0" y="-38100"/>
              <a:ext cx="2113731" cy="5810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038174" y="458478"/>
            <a:ext cx="4563040" cy="1140443"/>
            <a:chOff x="0" y="0"/>
            <a:chExt cx="6084053" cy="1520591"/>
          </a:xfrm>
        </p:grpSpPr>
        <p:grpSp>
          <p:nvGrpSpPr>
            <p:cNvPr name="Group 6" id="6"/>
            <p:cNvGrpSpPr/>
            <p:nvPr/>
          </p:nvGrpSpPr>
          <p:grpSpPr>
            <a:xfrm rot="0">
              <a:off x="0" y="0"/>
              <a:ext cx="6084053" cy="1520591"/>
              <a:chOff x="0" y="0"/>
              <a:chExt cx="1626052" cy="406400"/>
            </a:xfrm>
          </p:grpSpPr>
          <p:sp>
            <p:nvSpPr>
              <p:cNvPr name="Freeform 7" id="7"/>
              <p:cNvSpPr/>
              <p:nvPr/>
            </p:nvSpPr>
            <p:spPr>
              <a:xfrm flipH="false" flipV="false" rot="0">
                <a:off x="0" y="0"/>
                <a:ext cx="1626052" cy="406400"/>
              </a:xfrm>
              <a:custGeom>
                <a:avLst/>
                <a:gdLst/>
                <a:ahLst/>
                <a:cxnLst/>
                <a:rect r="r" b="b" t="t" l="l"/>
                <a:pathLst>
                  <a:path h="406400" w="1626052">
                    <a:moveTo>
                      <a:pt x="1422852" y="0"/>
                    </a:moveTo>
                    <a:cubicBezTo>
                      <a:pt x="1535076" y="0"/>
                      <a:pt x="1626052" y="90976"/>
                      <a:pt x="1626052" y="203200"/>
                    </a:cubicBezTo>
                    <a:cubicBezTo>
                      <a:pt x="1626052" y="315424"/>
                      <a:pt x="1535076" y="406400"/>
                      <a:pt x="1422852"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8" id="8"/>
              <p:cNvSpPr txBox="true"/>
              <p:nvPr/>
            </p:nvSpPr>
            <p:spPr>
              <a:xfrm>
                <a:off x="0" y="-38100"/>
                <a:ext cx="1626052" cy="44450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414535" y="124612"/>
              <a:ext cx="5254984" cy="1271367"/>
            </a:xfrm>
            <a:custGeom>
              <a:avLst/>
              <a:gdLst/>
              <a:ahLst/>
              <a:cxnLst/>
              <a:rect r="r" b="b" t="t" l="l"/>
              <a:pathLst>
                <a:path h="1271367" w="5254984">
                  <a:moveTo>
                    <a:pt x="0" y="0"/>
                  </a:moveTo>
                  <a:lnTo>
                    <a:pt x="5254983" y="0"/>
                  </a:lnTo>
                  <a:lnTo>
                    <a:pt x="5254983" y="1271367"/>
                  </a:lnTo>
                  <a:lnTo>
                    <a:pt x="0" y="1271367"/>
                  </a:lnTo>
                  <a:lnTo>
                    <a:pt x="0" y="0"/>
                  </a:lnTo>
                  <a:close/>
                </a:path>
              </a:pathLst>
            </a:custGeom>
            <a:blipFill>
              <a:blip r:embed="rId2"/>
              <a:stretch>
                <a:fillRect l="0" t="0" r="0" b="0"/>
              </a:stretch>
            </a:blipFill>
          </p:spPr>
        </p:sp>
      </p:grpSp>
      <p:sp>
        <p:nvSpPr>
          <p:cNvPr name="Freeform 10" id="10"/>
          <p:cNvSpPr/>
          <p:nvPr/>
        </p:nvSpPr>
        <p:spPr>
          <a:xfrm flipH="false" flipV="false" rot="0">
            <a:off x="3391036" y="3037248"/>
            <a:ext cx="11505927" cy="2587838"/>
          </a:xfrm>
          <a:custGeom>
            <a:avLst/>
            <a:gdLst/>
            <a:ahLst/>
            <a:cxnLst/>
            <a:rect r="r" b="b" t="t" l="l"/>
            <a:pathLst>
              <a:path h="2587838" w="11505927">
                <a:moveTo>
                  <a:pt x="0" y="0"/>
                </a:moveTo>
                <a:lnTo>
                  <a:pt x="11505928" y="0"/>
                </a:lnTo>
                <a:lnTo>
                  <a:pt x="11505928" y="2587839"/>
                </a:lnTo>
                <a:lnTo>
                  <a:pt x="0" y="2587839"/>
                </a:lnTo>
                <a:lnTo>
                  <a:pt x="0" y="0"/>
                </a:lnTo>
                <a:close/>
              </a:path>
            </a:pathLst>
          </a:custGeom>
          <a:blipFill>
            <a:blip r:embed="rId3"/>
            <a:stretch>
              <a:fillRect l="0" t="0" r="0" b="0"/>
            </a:stretch>
          </a:blipFill>
        </p:spPr>
      </p:sp>
      <p:sp>
        <p:nvSpPr>
          <p:cNvPr name="Freeform 11" id="11"/>
          <p:cNvSpPr/>
          <p:nvPr/>
        </p:nvSpPr>
        <p:spPr>
          <a:xfrm flipH="false" flipV="false" rot="0">
            <a:off x="4515564" y="5844162"/>
            <a:ext cx="9642376" cy="4256281"/>
          </a:xfrm>
          <a:custGeom>
            <a:avLst/>
            <a:gdLst/>
            <a:ahLst/>
            <a:cxnLst/>
            <a:rect r="r" b="b" t="t" l="l"/>
            <a:pathLst>
              <a:path h="4256281" w="9642376">
                <a:moveTo>
                  <a:pt x="0" y="0"/>
                </a:moveTo>
                <a:lnTo>
                  <a:pt x="9642377" y="0"/>
                </a:lnTo>
                <a:lnTo>
                  <a:pt x="9642377" y="4256281"/>
                </a:lnTo>
                <a:lnTo>
                  <a:pt x="0" y="4256281"/>
                </a:lnTo>
                <a:lnTo>
                  <a:pt x="0" y="0"/>
                </a:lnTo>
                <a:close/>
              </a:path>
            </a:pathLst>
          </a:custGeom>
          <a:blipFill>
            <a:blip r:embed="rId4"/>
            <a:stretch>
              <a:fillRect l="0" t="0" r="0" b="0"/>
            </a:stretch>
          </a:blipFill>
        </p:spPr>
      </p:sp>
      <p:sp>
        <p:nvSpPr>
          <p:cNvPr name="TextBox 12" id="12"/>
          <p:cNvSpPr txBox="true"/>
          <p:nvPr/>
        </p:nvSpPr>
        <p:spPr>
          <a:xfrm rot="0">
            <a:off x="1110116" y="1112169"/>
            <a:ext cx="6001921" cy="995271"/>
          </a:xfrm>
          <a:prstGeom prst="rect">
            <a:avLst/>
          </a:prstGeom>
        </p:spPr>
        <p:txBody>
          <a:bodyPr anchor="t" rtlCol="false" tIns="0" lIns="0" bIns="0" rIns="0">
            <a:spAutoFit/>
          </a:bodyPr>
          <a:lstStyle/>
          <a:p>
            <a:pPr algn="l">
              <a:lnSpc>
                <a:spcPts val="8142"/>
              </a:lnSpc>
            </a:pPr>
            <a:r>
              <a:rPr lang="en-US" sz="5816">
                <a:solidFill>
                  <a:srgbClr val="E5C857"/>
                </a:solidFill>
                <a:latin typeface="Bebas Neue 1"/>
                <a:ea typeface="Bebas Neue 1"/>
                <a:cs typeface="Bebas Neue 1"/>
                <a:sym typeface="Bebas Neue 1"/>
              </a:rPr>
              <a:t>hasil FOC sensorless</a:t>
            </a:r>
          </a:p>
        </p:txBody>
      </p:sp>
      <p:sp>
        <p:nvSpPr>
          <p:cNvPr name="TextBox 13" id="13"/>
          <p:cNvSpPr txBox="true"/>
          <p:nvPr/>
        </p:nvSpPr>
        <p:spPr>
          <a:xfrm rot="0">
            <a:off x="1051559" y="344178"/>
            <a:ext cx="4684584" cy="995271"/>
          </a:xfrm>
          <a:prstGeom prst="rect">
            <a:avLst/>
          </a:prstGeom>
        </p:spPr>
        <p:txBody>
          <a:bodyPr anchor="t" rtlCol="false" tIns="0" lIns="0" bIns="0" rIns="0">
            <a:spAutoFit/>
          </a:bodyPr>
          <a:lstStyle/>
          <a:p>
            <a:pPr algn="l">
              <a:lnSpc>
                <a:spcPts val="8142"/>
              </a:lnSpc>
            </a:pPr>
            <a:r>
              <a:rPr lang="en-US" sz="5816">
                <a:solidFill>
                  <a:srgbClr val="59524B"/>
                </a:solidFill>
                <a:latin typeface="Bebas Neue 1"/>
                <a:ea typeface="Bebas Neue 1"/>
                <a:cs typeface="Bebas Neue 1"/>
                <a:sym typeface="Bebas Neue 1"/>
              </a:rPr>
              <a:t>hasil penelitian</a:t>
            </a:r>
          </a:p>
        </p:txBody>
      </p:sp>
      <p:sp>
        <p:nvSpPr>
          <p:cNvPr name="TextBox 14" id="14"/>
          <p:cNvSpPr txBox="true"/>
          <p:nvPr/>
        </p:nvSpPr>
        <p:spPr>
          <a:xfrm rot="0">
            <a:off x="1028700" y="2413361"/>
            <a:ext cx="8707231" cy="409575"/>
          </a:xfrm>
          <a:prstGeom prst="rect">
            <a:avLst/>
          </a:prstGeom>
        </p:spPr>
        <p:txBody>
          <a:bodyPr anchor="t" rtlCol="false" tIns="0" lIns="0" bIns="0" rIns="0">
            <a:spAutoFit/>
          </a:bodyPr>
          <a:lstStyle/>
          <a:p>
            <a:pPr algn="l">
              <a:lnSpc>
                <a:spcPts val="3120"/>
              </a:lnSpc>
            </a:pPr>
            <a:r>
              <a:rPr lang="en-US" sz="2600" b="true">
                <a:solidFill>
                  <a:srgbClr val="59524B"/>
                </a:solidFill>
                <a:latin typeface="Poppins Bold"/>
                <a:ea typeface="Poppins Bold"/>
                <a:cs typeface="Poppins Bold"/>
                <a:sym typeface="Poppins Bold"/>
              </a:rPr>
              <a:t>Metr</a:t>
            </a:r>
            <a:r>
              <a:rPr lang="en-US" b="true" sz="2600">
                <a:solidFill>
                  <a:srgbClr val="59524B"/>
                </a:solidFill>
                <a:latin typeface="Poppins Bold"/>
                <a:ea typeface="Poppins Bold"/>
                <a:cs typeface="Poppins Bold"/>
                <a:sym typeface="Poppins Bold"/>
              </a:rPr>
              <a:t>ik Performa Respon Motor BLDC </a:t>
            </a:r>
          </a:p>
        </p:txBody>
      </p:sp>
      <p:sp>
        <p:nvSpPr>
          <p:cNvPr name="TextBox 15" id="15"/>
          <p:cNvSpPr txBox="true"/>
          <p:nvPr/>
        </p:nvSpPr>
        <p:spPr>
          <a:xfrm rot="0">
            <a:off x="1028700" y="5944174"/>
            <a:ext cx="8707231" cy="409575"/>
          </a:xfrm>
          <a:prstGeom prst="rect">
            <a:avLst/>
          </a:prstGeom>
        </p:spPr>
        <p:txBody>
          <a:bodyPr anchor="t" rtlCol="false" tIns="0" lIns="0" bIns="0" rIns="0">
            <a:spAutoFit/>
          </a:bodyPr>
          <a:lstStyle/>
          <a:p>
            <a:pPr algn="l">
              <a:lnSpc>
                <a:spcPts val="3120"/>
              </a:lnSpc>
            </a:pPr>
            <a:r>
              <a:rPr lang="en-US" sz="2600" b="true">
                <a:solidFill>
                  <a:srgbClr val="59524B"/>
                </a:solidFill>
                <a:latin typeface="Poppins Bold"/>
                <a:ea typeface="Poppins Bold"/>
                <a:cs typeface="Poppins Bold"/>
                <a:sym typeface="Poppins Bold"/>
              </a:rPr>
              <a:t>Metr</a:t>
            </a:r>
            <a:r>
              <a:rPr lang="en-US" b="true" sz="2600">
                <a:solidFill>
                  <a:srgbClr val="59524B"/>
                </a:solidFill>
                <a:latin typeface="Poppins Bold"/>
                <a:ea typeface="Poppins Bold"/>
                <a:cs typeface="Poppins Bold"/>
                <a:sym typeface="Poppins Bold"/>
              </a:rPr>
              <a:t>ik Performa EKF </a:t>
            </a:r>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5313" y="464654"/>
            <a:ext cx="5931571" cy="1523631"/>
            <a:chOff x="0" y="0"/>
            <a:chExt cx="2113731" cy="542950"/>
          </a:xfrm>
        </p:grpSpPr>
        <p:sp>
          <p:nvSpPr>
            <p:cNvPr name="Freeform 3" id="3"/>
            <p:cNvSpPr/>
            <p:nvPr/>
          </p:nvSpPr>
          <p:spPr>
            <a:xfrm flipH="false" flipV="false" rot="0">
              <a:off x="0" y="0"/>
              <a:ext cx="2113731" cy="542950"/>
            </a:xfrm>
            <a:custGeom>
              <a:avLst/>
              <a:gdLst/>
              <a:ahLst/>
              <a:cxnLst/>
              <a:rect r="r" b="b" t="t" l="l"/>
              <a:pathLst>
                <a:path h="542950" w="2113731">
                  <a:moveTo>
                    <a:pt x="1910531" y="0"/>
                  </a:moveTo>
                  <a:cubicBezTo>
                    <a:pt x="2022756" y="0"/>
                    <a:pt x="2113731" y="121543"/>
                    <a:pt x="2113731" y="271475"/>
                  </a:cubicBezTo>
                  <a:cubicBezTo>
                    <a:pt x="2113731" y="421406"/>
                    <a:pt x="2022756" y="542950"/>
                    <a:pt x="1910531" y="542950"/>
                  </a:cubicBezTo>
                  <a:lnTo>
                    <a:pt x="203200" y="542950"/>
                  </a:lnTo>
                  <a:cubicBezTo>
                    <a:pt x="90976" y="542950"/>
                    <a:pt x="0" y="421406"/>
                    <a:pt x="0" y="271475"/>
                  </a:cubicBezTo>
                  <a:cubicBezTo>
                    <a:pt x="0" y="121543"/>
                    <a:pt x="90976" y="0"/>
                    <a:pt x="203200" y="0"/>
                  </a:cubicBezTo>
                  <a:close/>
                </a:path>
              </a:pathLst>
            </a:custGeom>
            <a:solidFill>
              <a:srgbClr val="F2F2F2"/>
            </a:solidFill>
          </p:spPr>
        </p:sp>
        <p:sp>
          <p:nvSpPr>
            <p:cNvPr name="TextBox 4" id="4"/>
            <p:cNvSpPr txBox="true"/>
            <p:nvPr/>
          </p:nvSpPr>
          <p:spPr>
            <a:xfrm>
              <a:off x="0" y="-38100"/>
              <a:ext cx="2113731" cy="5810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038174" y="458478"/>
            <a:ext cx="4563040" cy="1140443"/>
            <a:chOff x="0" y="0"/>
            <a:chExt cx="6084053" cy="1520591"/>
          </a:xfrm>
        </p:grpSpPr>
        <p:grpSp>
          <p:nvGrpSpPr>
            <p:cNvPr name="Group 6" id="6"/>
            <p:cNvGrpSpPr/>
            <p:nvPr/>
          </p:nvGrpSpPr>
          <p:grpSpPr>
            <a:xfrm rot="0">
              <a:off x="0" y="0"/>
              <a:ext cx="6084053" cy="1520591"/>
              <a:chOff x="0" y="0"/>
              <a:chExt cx="1626052" cy="406400"/>
            </a:xfrm>
          </p:grpSpPr>
          <p:sp>
            <p:nvSpPr>
              <p:cNvPr name="Freeform 7" id="7"/>
              <p:cNvSpPr/>
              <p:nvPr/>
            </p:nvSpPr>
            <p:spPr>
              <a:xfrm flipH="false" flipV="false" rot="0">
                <a:off x="0" y="0"/>
                <a:ext cx="1626052" cy="406400"/>
              </a:xfrm>
              <a:custGeom>
                <a:avLst/>
                <a:gdLst/>
                <a:ahLst/>
                <a:cxnLst/>
                <a:rect r="r" b="b" t="t" l="l"/>
                <a:pathLst>
                  <a:path h="406400" w="1626052">
                    <a:moveTo>
                      <a:pt x="1422852" y="0"/>
                    </a:moveTo>
                    <a:cubicBezTo>
                      <a:pt x="1535076" y="0"/>
                      <a:pt x="1626052" y="90976"/>
                      <a:pt x="1626052" y="203200"/>
                    </a:cubicBezTo>
                    <a:cubicBezTo>
                      <a:pt x="1626052" y="315424"/>
                      <a:pt x="1535076" y="406400"/>
                      <a:pt x="1422852"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8" id="8"/>
              <p:cNvSpPr txBox="true"/>
              <p:nvPr/>
            </p:nvSpPr>
            <p:spPr>
              <a:xfrm>
                <a:off x="0" y="-38100"/>
                <a:ext cx="1626052" cy="44450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414535" y="124612"/>
              <a:ext cx="5254984" cy="1271367"/>
            </a:xfrm>
            <a:custGeom>
              <a:avLst/>
              <a:gdLst/>
              <a:ahLst/>
              <a:cxnLst/>
              <a:rect r="r" b="b" t="t" l="l"/>
              <a:pathLst>
                <a:path h="1271367" w="5254984">
                  <a:moveTo>
                    <a:pt x="0" y="0"/>
                  </a:moveTo>
                  <a:lnTo>
                    <a:pt x="5254983" y="0"/>
                  </a:lnTo>
                  <a:lnTo>
                    <a:pt x="5254983" y="1271367"/>
                  </a:lnTo>
                  <a:lnTo>
                    <a:pt x="0" y="1271367"/>
                  </a:lnTo>
                  <a:lnTo>
                    <a:pt x="0" y="0"/>
                  </a:lnTo>
                  <a:close/>
                </a:path>
              </a:pathLst>
            </a:custGeom>
            <a:blipFill>
              <a:blip r:embed="rId2"/>
              <a:stretch>
                <a:fillRect l="0" t="0" r="0" b="0"/>
              </a:stretch>
            </a:blipFill>
          </p:spPr>
        </p:sp>
      </p:grpSp>
      <p:sp>
        <p:nvSpPr>
          <p:cNvPr name="Freeform 10" id="10"/>
          <p:cNvSpPr/>
          <p:nvPr/>
        </p:nvSpPr>
        <p:spPr>
          <a:xfrm flipH="false" flipV="false" rot="0">
            <a:off x="1051559" y="5239535"/>
            <a:ext cx="8875079" cy="2485384"/>
          </a:xfrm>
          <a:custGeom>
            <a:avLst/>
            <a:gdLst/>
            <a:ahLst/>
            <a:cxnLst/>
            <a:rect r="r" b="b" t="t" l="l"/>
            <a:pathLst>
              <a:path h="2485384" w="8875079">
                <a:moveTo>
                  <a:pt x="0" y="0"/>
                </a:moveTo>
                <a:lnTo>
                  <a:pt x="8875078" y="0"/>
                </a:lnTo>
                <a:lnTo>
                  <a:pt x="8875078" y="2485384"/>
                </a:lnTo>
                <a:lnTo>
                  <a:pt x="0" y="2485384"/>
                </a:lnTo>
                <a:lnTo>
                  <a:pt x="0" y="0"/>
                </a:lnTo>
                <a:close/>
              </a:path>
            </a:pathLst>
          </a:custGeom>
          <a:blipFill>
            <a:blip r:embed="rId3"/>
            <a:stretch>
              <a:fillRect l="0" t="0" r="0" b="0"/>
            </a:stretch>
          </a:blipFill>
        </p:spPr>
      </p:sp>
      <p:sp>
        <p:nvSpPr>
          <p:cNvPr name="Freeform 11" id="11"/>
          <p:cNvSpPr/>
          <p:nvPr/>
        </p:nvSpPr>
        <p:spPr>
          <a:xfrm flipH="false" flipV="false" rot="0">
            <a:off x="10287619" y="5239535"/>
            <a:ext cx="6913124" cy="2522074"/>
          </a:xfrm>
          <a:custGeom>
            <a:avLst/>
            <a:gdLst/>
            <a:ahLst/>
            <a:cxnLst/>
            <a:rect r="r" b="b" t="t" l="l"/>
            <a:pathLst>
              <a:path h="2522074" w="6913124">
                <a:moveTo>
                  <a:pt x="0" y="0"/>
                </a:moveTo>
                <a:lnTo>
                  <a:pt x="6913124" y="0"/>
                </a:lnTo>
                <a:lnTo>
                  <a:pt x="6913124" y="2522075"/>
                </a:lnTo>
                <a:lnTo>
                  <a:pt x="0" y="2522075"/>
                </a:lnTo>
                <a:lnTo>
                  <a:pt x="0" y="0"/>
                </a:lnTo>
                <a:close/>
              </a:path>
            </a:pathLst>
          </a:custGeom>
          <a:blipFill>
            <a:blip r:embed="rId4"/>
            <a:stretch>
              <a:fillRect l="0" t="0" r="0" b="0"/>
            </a:stretch>
          </a:blipFill>
        </p:spPr>
      </p:sp>
      <p:sp>
        <p:nvSpPr>
          <p:cNvPr name="TextBox 12" id="12"/>
          <p:cNvSpPr txBox="true"/>
          <p:nvPr/>
        </p:nvSpPr>
        <p:spPr>
          <a:xfrm rot="0">
            <a:off x="1110116" y="1112169"/>
            <a:ext cx="6001921" cy="995271"/>
          </a:xfrm>
          <a:prstGeom prst="rect">
            <a:avLst/>
          </a:prstGeom>
        </p:spPr>
        <p:txBody>
          <a:bodyPr anchor="t" rtlCol="false" tIns="0" lIns="0" bIns="0" rIns="0">
            <a:spAutoFit/>
          </a:bodyPr>
          <a:lstStyle/>
          <a:p>
            <a:pPr algn="l">
              <a:lnSpc>
                <a:spcPts val="8142"/>
              </a:lnSpc>
            </a:pPr>
            <a:r>
              <a:rPr lang="en-US" sz="5816">
                <a:solidFill>
                  <a:srgbClr val="E5C857"/>
                </a:solidFill>
                <a:latin typeface="Bebas Neue 1"/>
                <a:ea typeface="Bebas Neue 1"/>
                <a:cs typeface="Bebas Neue 1"/>
                <a:sym typeface="Bebas Neue 1"/>
              </a:rPr>
              <a:t>hasil FOC sensorless</a:t>
            </a:r>
          </a:p>
        </p:txBody>
      </p:sp>
      <p:sp>
        <p:nvSpPr>
          <p:cNvPr name="TextBox 13" id="13"/>
          <p:cNvSpPr txBox="true"/>
          <p:nvPr/>
        </p:nvSpPr>
        <p:spPr>
          <a:xfrm rot="0">
            <a:off x="1051559" y="344178"/>
            <a:ext cx="4684584" cy="995271"/>
          </a:xfrm>
          <a:prstGeom prst="rect">
            <a:avLst/>
          </a:prstGeom>
        </p:spPr>
        <p:txBody>
          <a:bodyPr anchor="t" rtlCol="false" tIns="0" lIns="0" bIns="0" rIns="0">
            <a:spAutoFit/>
          </a:bodyPr>
          <a:lstStyle/>
          <a:p>
            <a:pPr algn="l">
              <a:lnSpc>
                <a:spcPts val="8142"/>
              </a:lnSpc>
            </a:pPr>
            <a:r>
              <a:rPr lang="en-US" sz="5816">
                <a:solidFill>
                  <a:srgbClr val="59524B"/>
                </a:solidFill>
                <a:latin typeface="Bebas Neue 1"/>
                <a:ea typeface="Bebas Neue 1"/>
                <a:cs typeface="Bebas Neue 1"/>
                <a:sym typeface="Bebas Neue 1"/>
              </a:rPr>
              <a:t>hasil penelitian</a:t>
            </a:r>
          </a:p>
        </p:txBody>
      </p:sp>
      <p:sp>
        <p:nvSpPr>
          <p:cNvPr name="TextBox 14" id="14"/>
          <p:cNvSpPr txBox="true"/>
          <p:nvPr/>
        </p:nvSpPr>
        <p:spPr>
          <a:xfrm rot="0">
            <a:off x="1028700" y="2877351"/>
            <a:ext cx="16018279" cy="1073150"/>
          </a:xfrm>
          <a:prstGeom prst="rect">
            <a:avLst/>
          </a:prstGeom>
        </p:spPr>
        <p:txBody>
          <a:bodyPr anchor="t" rtlCol="false" tIns="0" lIns="0" bIns="0" rIns="0">
            <a:spAutoFit/>
          </a:bodyPr>
          <a:lstStyle/>
          <a:p>
            <a:pPr algn="just">
              <a:lnSpc>
                <a:spcPts val="2800"/>
              </a:lnSpc>
            </a:pPr>
            <a:r>
              <a:rPr lang="en-US" sz="2000">
                <a:solidFill>
                  <a:srgbClr val="010101"/>
                </a:solidFill>
                <a:latin typeface="Poppins"/>
                <a:ea typeface="Poppins"/>
                <a:cs typeface="Poppins"/>
                <a:sym typeface="Poppins"/>
              </a:rPr>
              <a:t>Didapatkan dari pengujian variasi matriks kovarians Q dan R memperngaruhi respon sistem pada kecepatan reverensi yang berbeda dimana pada </a:t>
            </a:r>
            <a:r>
              <a:rPr lang="en-US" sz="2000" i="true">
                <a:solidFill>
                  <a:srgbClr val="010101"/>
                </a:solidFill>
                <a:latin typeface="Poppins Italics"/>
                <a:ea typeface="Poppins Italics"/>
                <a:cs typeface="Poppins Italics"/>
                <a:sym typeface="Poppins Italics"/>
              </a:rPr>
              <a:t>baseline </a:t>
            </a:r>
            <a:r>
              <a:rPr lang="en-US" sz="2000">
                <a:solidFill>
                  <a:srgbClr val="010101"/>
                </a:solidFill>
                <a:latin typeface="Poppins"/>
                <a:ea typeface="Poppins"/>
                <a:cs typeface="Poppins"/>
                <a:sym typeface="Poppins"/>
              </a:rPr>
              <a:t>Q2 dan R2 kecepatan referensi open loop &lt; 5 rad/s tidak mengakibatkan switching, yang mengindikasi satu atau lebih kondisi switching tidak terpenuhi. </a:t>
            </a:r>
          </a:p>
        </p:txBody>
      </p:sp>
      <p:sp>
        <p:nvSpPr>
          <p:cNvPr name="TextBox 15" id="15"/>
          <p:cNvSpPr txBox="true"/>
          <p:nvPr/>
        </p:nvSpPr>
        <p:spPr>
          <a:xfrm rot="0">
            <a:off x="1028700" y="2248701"/>
            <a:ext cx="8707231" cy="523875"/>
          </a:xfrm>
          <a:prstGeom prst="rect">
            <a:avLst/>
          </a:prstGeom>
        </p:spPr>
        <p:txBody>
          <a:bodyPr anchor="t" rtlCol="false" tIns="0" lIns="0" bIns="0" rIns="0">
            <a:spAutoFit/>
          </a:bodyPr>
          <a:lstStyle/>
          <a:p>
            <a:pPr algn="l">
              <a:lnSpc>
                <a:spcPts val="3959"/>
              </a:lnSpc>
            </a:pPr>
            <a:r>
              <a:rPr lang="en-US" sz="3299" b="true">
                <a:solidFill>
                  <a:srgbClr val="59524B"/>
                </a:solidFill>
                <a:latin typeface="Poppins Bold"/>
                <a:ea typeface="Poppins Bold"/>
                <a:cs typeface="Poppins Bold"/>
                <a:sym typeface="Poppins Bold"/>
              </a:rPr>
              <a:t>Low Speed</a:t>
            </a:r>
          </a:p>
        </p:txBody>
      </p:sp>
      <p:sp>
        <p:nvSpPr>
          <p:cNvPr name="TextBox 16" id="16"/>
          <p:cNvSpPr txBox="true"/>
          <p:nvPr/>
        </p:nvSpPr>
        <p:spPr>
          <a:xfrm rot="0">
            <a:off x="1092267" y="4429910"/>
            <a:ext cx="8707231" cy="523875"/>
          </a:xfrm>
          <a:prstGeom prst="rect">
            <a:avLst/>
          </a:prstGeom>
        </p:spPr>
        <p:txBody>
          <a:bodyPr anchor="t" rtlCol="false" tIns="0" lIns="0" bIns="0" rIns="0">
            <a:spAutoFit/>
          </a:bodyPr>
          <a:lstStyle/>
          <a:p>
            <a:pPr algn="l">
              <a:lnSpc>
                <a:spcPts val="3959"/>
              </a:lnSpc>
            </a:pPr>
            <a:r>
              <a:rPr lang="en-US" sz="3299" b="true">
                <a:solidFill>
                  <a:srgbClr val="59524B"/>
                </a:solidFill>
                <a:latin typeface="Poppins Bold"/>
                <a:ea typeface="Poppins Bold"/>
                <a:cs typeface="Poppins Bold"/>
                <a:sym typeface="Poppins Bold"/>
              </a:rPr>
              <a:t>Pengujian variabel EKF</a:t>
            </a:r>
          </a:p>
        </p:txBody>
      </p:sp>
      <p:sp>
        <p:nvSpPr>
          <p:cNvPr name="TextBox 17" id="17"/>
          <p:cNvSpPr txBox="true"/>
          <p:nvPr/>
        </p:nvSpPr>
        <p:spPr>
          <a:xfrm rot="0">
            <a:off x="1028700" y="8185150"/>
            <a:ext cx="16172043" cy="1425575"/>
          </a:xfrm>
          <a:prstGeom prst="rect">
            <a:avLst/>
          </a:prstGeom>
        </p:spPr>
        <p:txBody>
          <a:bodyPr anchor="t" rtlCol="false" tIns="0" lIns="0" bIns="0" rIns="0">
            <a:spAutoFit/>
          </a:bodyPr>
          <a:lstStyle/>
          <a:p>
            <a:pPr algn="just">
              <a:lnSpc>
                <a:spcPts val="2800"/>
              </a:lnSpc>
            </a:pPr>
            <a:r>
              <a:rPr lang="en-US" sz="2000">
                <a:solidFill>
                  <a:srgbClr val="010101"/>
                </a:solidFill>
                <a:latin typeface="Poppins"/>
                <a:ea typeface="Poppins"/>
                <a:cs typeface="Poppins"/>
                <a:sym typeface="Poppins"/>
              </a:rPr>
              <a:t>Berdasarkan analisis data variasi variabel EKF didapatkan kondisi yang menyebabkan kegagalakn </a:t>
            </a:r>
            <a:r>
              <a:rPr lang="en-US" sz="2000">
                <a:solidFill>
                  <a:srgbClr val="010101"/>
                </a:solidFill>
                <a:latin typeface="Poppins"/>
                <a:ea typeface="Poppins"/>
                <a:cs typeface="Poppins"/>
                <a:sym typeface="Poppins"/>
              </a:rPr>
              <a:t>s</a:t>
            </a:r>
            <a:r>
              <a:rPr lang="en-US" sz="2000">
                <a:solidFill>
                  <a:srgbClr val="010101"/>
                </a:solidFill>
                <a:latin typeface="Poppins"/>
                <a:ea typeface="Poppins"/>
                <a:cs typeface="Poppins"/>
                <a:sym typeface="Poppins"/>
              </a:rPr>
              <a:t>witch</a:t>
            </a:r>
            <a:r>
              <a:rPr lang="en-US" sz="2000">
                <a:solidFill>
                  <a:srgbClr val="010101"/>
                </a:solidFill>
                <a:latin typeface="Poppins"/>
                <a:ea typeface="Poppins"/>
                <a:cs typeface="Poppins"/>
                <a:sym typeface="Poppins"/>
              </a:rPr>
              <a:t>in</a:t>
            </a:r>
            <a:r>
              <a:rPr lang="en-US" sz="2000">
                <a:solidFill>
                  <a:srgbClr val="010101"/>
                </a:solidFill>
                <a:latin typeface="Poppins"/>
                <a:ea typeface="Poppins"/>
                <a:cs typeface="Poppins"/>
                <a:sym typeface="Poppins"/>
              </a:rPr>
              <a:t>g adalah konvergensi kovariansi estimasi posisis sudut (𝑃𝑘𝜃 &lt; 0.01). Dua kondisi durasi dan magnitudo BEMF telah dipenuhi, dimana diestimasi nilai magnitudo BEMF berada pada 𝑘𝑒 . |𝜔̂| = 0.008562 . 99 = 0.848 &gt; 0.25 melampaui ambang batas yang di tetapkan di seluruh kecepatan pengujian.</a:t>
            </a:r>
          </a:p>
        </p:txBody>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5313" y="464654"/>
            <a:ext cx="5931571" cy="1523631"/>
            <a:chOff x="0" y="0"/>
            <a:chExt cx="2113731" cy="542950"/>
          </a:xfrm>
        </p:grpSpPr>
        <p:sp>
          <p:nvSpPr>
            <p:cNvPr name="Freeform 3" id="3"/>
            <p:cNvSpPr/>
            <p:nvPr/>
          </p:nvSpPr>
          <p:spPr>
            <a:xfrm flipH="false" flipV="false" rot="0">
              <a:off x="0" y="0"/>
              <a:ext cx="2113731" cy="542950"/>
            </a:xfrm>
            <a:custGeom>
              <a:avLst/>
              <a:gdLst/>
              <a:ahLst/>
              <a:cxnLst/>
              <a:rect r="r" b="b" t="t" l="l"/>
              <a:pathLst>
                <a:path h="542950" w="2113731">
                  <a:moveTo>
                    <a:pt x="1910531" y="0"/>
                  </a:moveTo>
                  <a:cubicBezTo>
                    <a:pt x="2022756" y="0"/>
                    <a:pt x="2113731" y="121543"/>
                    <a:pt x="2113731" y="271475"/>
                  </a:cubicBezTo>
                  <a:cubicBezTo>
                    <a:pt x="2113731" y="421406"/>
                    <a:pt x="2022756" y="542950"/>
                    <a:pt x="1910531" y="542950"/>
                  </a:cubicBezTo>
                  <a:lnTo>
                    <a:pt x="203200" y="542950"/>
                  </a:lnTo>
                  <a:cubicBezTo>
                    <a:pt x="90976" y="542950"/>
                    <a:pt x="0" y="421406"/>
                    <a:pt x="0" y="271475"/>
                  </a:cubicBezTo>
                  <a:cubicBezTo>
                    <a:pt x="0" y="121543"/>
                    <a:pt x="90976" y="0"/>
                    <a:pt x="203200" y="0"/>
                  </a:cubicBezTo>
                  <a:close/>
                </a:path>
              </a:pathLst>
            </a:custGeom>
            <a:solidFill>
              <a:srgbClr val="F2F2F2"/>
            </a:solidFill>
          </p:spPr>
        </p:sp>
        <p:sp>
          <p:nvSpPr>
            <p:cNvPr name="TextBox 4" id="4"/>
            <p:cNvSpPr txBox="true"/>
            <p:nvPr/>
          </p:nvSpPr>
          <p:spPr>
            <a:xfrm>
              <a:off x="0" y="-38100"/>
              <a:ext cx="2113731" cy="5810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038174" y="458478"/>
            <a:ext cx="4563040" cy="1140443"/>
            <a:chOff x="0" y="0"/>
            <a:chExt cx="6084053" cy="1520591"/>
          </a:xfrm>
        </p:grpSpPr>
        <p:grpSp>
          <p:nvGrpSpPr>
            <p:cNvPr name="Group 6" id="6"/>
            <p:cNvGrpSpPr/>
            <p:nvPr/>
          </p:nvGrpSpPr>
          <p:grpSpPr>
            <a:xfrm rot="0">
              <a:off x="0" y="0"/>
              <a:ext cx="6084053" cy="1520591"/>
              <a:chOff x="0" y="0"/>
              <a:chExt cx="1626052" cy="406400"/>
            </a:xfrm>
          </p:grpSpPr>
          <p:sp>
            <p:nvSpPr>
              <p:cNvPr name="Freeform 7" id="7"/>
              <p:cNvSpPr/>
              <p:nvPr/>
            </p:nvSpPr>
            <p:spPr>
              <a:xfrm flipH="false" flipV="false" rot="0">
                <a:off x="0" y="0"/>
                <a:ext cx="1626052" cy="406400"/>
              </a:xfrm>
              <a:custGeom>
                <a:avLst/>
                <a:gdLst/>
                <a:ahLst/>
                <a:cxnLst/>
                <a:rect r="r" b="b" t="t" l="l"/>
                <a:pathLst>
                  <a:path h="406400" w="1626052">
                    <a:moveTo>
                      <a:pt x="1422852" y="0"/>
                    </a:moveTo>
                    <a:cubicBezTo>
                      <a:pt x="1535076" y="0"/>
                      <a:pt x="1626052" y="90976"/>
                      <a:pt x="1626052" y="203200"/>
                    </a:cubicBezTo>
                    <a:cubicBezTo>
                      <a:pt x="1626052" y="315424"/>
                      <a:pt x="1535076" y="406400"/>
                      <a:pt x="1422852"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8" id="8"/>
              <p:cNvSpPr txBox="true"/>
              <p:nvPr/>
            </p:nvSpPr>
            <p:spPr>
              <a:xfrm>
                <a:off x="0" y="-38100"/>
                <a:ext cx="1626052" cy="44450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414535" y="124612"/>
              <a:ext cx="5254984" cy="1271367"/>
            </a:xfrm>
            <a:custGeom>
              <a:avLst/>
              <a:gdLst/>
              <a:ahLst/>
              <a:cxnLst/>
              <a:rect r="r" b="b" t="t" l="l"/>
              <a:pathLst>
                <a:path h="1271367" w="5254984">
                  <a:moveTo>
                    <a:pt x="0" y="0"/>
                  </a:moveTo>
                  <a:lnTo>
                    <a:pt x="5254983" y="0"/>
                  </a:lnTo>
                  <a:lnTo>
                    <a:pt x="5254983" y="1271367"/>
                  </a:lnTo>
                  <a:lnTo>
                    <a:pt x="0" y="1271367"/>
                  </a:lnTo>
                  <a:lnTo>
                    <a:pt x="0" y="0"/>
                  </a:lnTo>
                  <a:close/>
                </a:path>
              </a:pathLst>
            </a:custGeom>
            <a:blipFill>
              <a:blip r:embed="rId2"/>
              <a:stretch>
                <a:fillRect l="0" t="0" r="0" b="0"/>
              </a:stretch>
            </a:blipFill>
          </p:spPr>
        </p:sp>
      </p:grpSp>
      <p:sp>
        <p:nvSpPr>
          <p:cNvPr name="Freeform 10" id="10"/>
          <p:cNvSpPr/>
          <p:nvPr/>
        </p:nvSpPr>
        <p:spPr>
          <a:xfrm flipH="false" flipV="false" rot="0">
            <a:off x="5382316" y="2944026"/>
            <a:ext cx="6745755" cy="4781054"/>
          </a:xfrm>
          <a:custGeom>
            <a:avLst/>
            <a:gdLst/>
            <a:ahLst/>
            <a:cxnLst/>
            <a:rect r="r" b="b" t="t" l="l"/>
            <a:pathLst>
              <a:path h="4781054" w="6745755">
                <a:moveTo>
                  <a:pt x="0" y="0"/>
                </a:moveTo>
                <a:lnTo>
                  <a:pt x="6745755" y="0"/>
                </a:lnTo>
                <a:lnTo>
                  <a:pt x="6745755" y="4781054"/>
                </a:lnTo>
                <a:lnTo>
                  <a:pt x="0" y="4781054"/>
                </a:lnTo>
                <a:lnTo>
                  <a:pt x="0" y="0"/>
                </a:lnTo>
                <a:close/>
              </a:path>
            </a:pathLst>
          </a:custGeom>
          <a:blipFill>
            <a:blip r:embed="rId3"/>
            <a:stretch>
              <a:fillRect l="0" t="0" r="0" b="0"/>
            </a:stretch>
          </a:blipFill>
        </p:spPr>
      </p:sp>
      <p:pic>
        <p:nvPicPr>
          <p:cNvPr name="Picture 11" id="11">
            <a:hlinkClick action="ppaction://media"/>
          </p:cNvPr>
          <p:cNvPicPr>
            <a:picLocks noChangeAspect="true"/>
          </p:cNvPicPr>
          <p:nvPr>
            <a:videoFile r:link="rId5"/>
            <p:extLst>
              <p:ext uri="{DAA4B4D4-6D71-4841-9C94-3DE7FCFB9230}">
                <p14:media xmlns:p14="http://schemas.microsoft.com/office/powerpoint/2010/main" r:embed="rId6"/>
              </p:ext>
            </p:extLst>
          </p:nvPr>
        </p:nvPicPr>
        <p:blipFill>
          <a:blip r:embed="rId4"/>
          <a:srcRect l="33311" t="38363" r="33845" b="31441"/>
          <a:stretch>
            <a:fillRect/>
          </a:stretch>
        </p:blipFill>
        <p:spPr>
          <a:xfrm flipH="false" flipV="false" rot="0">
            <a:off x="1028700" y="2944026"/>
            <a:ext cx="3862129" cy="6314274"/>
          </a:xfrm>
          <a:prstGeom prst="rect">
            <a:avLst/>
          </a:prstGeom>
        </p:spPr>
      </p:pic>
      <p:sp>
        <p:nvSpPr>
          <p:cNvPr name="TextBox 12" id="12"/>
          <p:cNvSpPr txBox="true"/>
          <p:nvPr/>
        </p:nvSpPr>
        <p:spPr>
          <a:xfrm rot="0">
            <a:off x="1110116" y="1112169"/>
            <a:ext cx="6001921" cy="995271"/>
          </a:xfrm>
          <a:prstGeom prst="rect">
            <a:avLst/>
          </a:prstGeom>
        </p:spPr>
        <p:txBody>
          <a:bodyPr anchor="t" rtlCol="false" tIns="0" lIns="0" bIns="0" rIns="0">
            <a:spAutoFit/>
          </a:bodyPr>
          <a:lstStyle/>
          <a:p>
            <a:pPr algn="l">
              <a:lnSpc>
                <a:spcPts val="8142"/>
              </a:lnSpc>
            </a:pPr>
            <a:r>
              <a:rPr lang="en-US" sz="5816">
                <a:solidFill>
                  <a:srgbClr val="E5C857"/>
                </a:solidFill>
                <a:latin typeface="Bebas Neue 1"/>
                <a:ea typeface="Bebas Neue 1"/>
                <a:cs typeface="Bebas Neue 1"/>
                <a:sym typeface="Bebas Neue 1"/>
              </a:rPr>
              <a:t>hasil FOC sensorless</a:t>
            </a:r>
          </a:p>
        </p:txBody>
      </p:sp>
      <p:sp>
        <p:nvSpPr>
          <p:cNvPr name="TextBox 13" id="13"/>
          <p:cNvSpPr txBox="true"/>
          <p:nvPr/>
        </p:nvSpPr>
        <p:spPr>
          <a:xfrm rot="0">
            <a:off x="1051559" y="344178"/>
            <a:ext cx="4684584" cy="995271"/>
          </a:xfrm>
          <a:prstGeom prst="rect">
            <a:avLst/>
          </a:prstGeom>
        </p:spPr>
        <p:txBody>
          <a:bodyPr anchor="t" rtlCol="false" tIns="0" lIns="0" bIns="0" rIns="0">
            <a:spAutoFit/>
          </a:bodyPr>
          <a:lstStyle/>
          <a:p>
            <a:pPr algn="l">
              <a:lnSpc>
                <a:spcPts val="8142"/>
              </a:lnSpc>
            </a:pPr>
            <a:r>
              <a:rPr lang="en-US" sz="5816">
                <a:solidFill>
                  <a:srgbClr val="59524B"/>
                </a:solidFill>
                <a:latin typeface="Bebas Neue 1"/>
                <a:ea typeface="Bebas Neue 1"/>
                <a:cs typeface="Bebas Neue 1"/>
                <a:sym typeface="Bebas Neue 1"/>
              </a:rPr>
              <a:t>hasil penelitian</a:t>
            </a:r>
          </a:p>
        </p:txBody>
      </p:sp>
      <p:sp>
        <p:nvSpPr>
          <p:cNvPr name="TextBox 14" id="14"/>
          <p:cNvSpPr txBox="true"/>
          <p:nvPr/>
        </p:nvSpPr>
        <p:spPr>
          <a:xfrm rot="0">
            <a:off x="1028700" y="2248701"/>
            <a:ext cx="8707231" cy="523875"/>
          </a:xfrm>
          <a:prstGeom prst="rect">
            <a:avLst/>
          </a:prstGeom>
        </p:spPr>
        <p:txBody>
          <a:bodyPr anchor="t" rtlCol="false" tIns="0" lIns="0" bIns="0" rIns="0">
            <a:spAutoFit/>
          </a:bodyPr>
          <a:lstStyle/>
          <a:p>
            <a:pPr algn="l">
              <a:lnSpc>
                <a:spcPts val="3959"/>
              </a:lnSpc>
            </a:pPr>
            <a:r>
              <a:rPr lang="en-US" sz="3299" b="true">
                <a:solidFill>
                  <a:srgbClr val="59524B"/>
                </a:solidFill>
                <a:latin typeface="Poppins Bold"/>
                <a:ea typeface="Poppins Bold"/>
                <a:cs typeface="Poppins Bold"/>
                <a:sym typeface="Poppins Bold"/>
              </a:rPr>
              <a:t>Low Speed</a:t>
            </a:r>
          </a:p>
        </p:txBody>
      </p:sp>
      <p:sp>
        <p:nvSpPr>
          <p:cNvPr name="TextBox 15" id="15"/>
          <p:cNvSpPr txBox="true"/>
          <p:nvPr/>
        </p:nvSpPr>
        <p:spPr>
          <a:xfrm rot="0">
            <a:off x="12321078" y="3121973"/>
            <a:ext cx="4938222" cy="3540125"/>
          </a:xfrm>
          <a:prstGeom prst="rect">
            <a:avLst/>
          </a:prstGeom>
        </p:spPr>
        <p:txBody>
          <a:bodyPr anchor="t" rtlCol="false" tIns="0" lIns="0" bIns="0" rIns="0">
            <a:spAutoFit/>
          </a:bodyPr>
          <a:lstStyle/>
          <a:p>
            <a:pPr algn="just">
              <a:lnSpc>
                <a:spcPts val="2800"/>
              </a:lnSpc>
            </a:pPr>
            <a:r>
              <a:rPr lang="en-US" sz="2000">
                <a:solidFill>
                  <a:srgbClr val="010101"/>
                </a:solidFill>
                <a:latin typeface="Poppins"/>
                <a:ea typeface="Poppins"/>
                <a:cs typeface="Poppins"/>
                <a:sym typeface="Poppins"/>
              </a:rPr>
              <a:t>Berdasarkan pengujian menemukan bahwa dua kom</a:t>
            </a:r>
            <a:r>
              <a:rPr lang="en-US" sz="2000">
                <a:solidFill>
                  <a:srgbClr val="010101"/>
                </a:solidFill>
                <a:latin typeface="Poppins"/>
                <a:ea typeface="Poppins"/>
                <a:cs typeface="Poppins"/>
                <a:sym typeface="Poppins"/>
              </a:rPr>
              <a:t>b</a:t>
            </a:r>
            <a:r>
              <a:rPr lang="en-US" sz="2000">
                <a:solidFill>
                  <a:srgbClr val="010101"/>
                </a:solidFill>
                <a:latin typeface="Poppins"/>
                <a:ea typeface="Poppins"/>
                <a:cs typeface="Poppins"/>
                <a:sym typeface="Poppins"/>
              </a:rPr>
              <a:t>in</a:t>
            </a:r>
            <a:r>
              <a:rPr lang="en-US" sz="2000">
                <a:solidFill>
                  <a:srgbClr val="010101"/>
                </a:solidFill>
                <a:latin typeface="Poppins"/>
                <a:ea typeface="Poppins"/>
                <a:cs typeface="Poppins"/>
                <a:sym typeface="Poppins"/>
              </a:rPr>
              <a:t>asi</a:t>
            </a:r>
            <a:r>
              <a:rPr lang="en-US" sz="2000">
                <a:solidFill>
                  <a:srgbClr val="010101"/>
                </a:solidFill>
                <a:latin typeface="Poppins"/>
                <a:ea typeface="Poppins"/>
                <a:cs typeface="Poppins"/>
                <a:sym typeface="Poppins"/>
              </a:rPr>
              <a:t> yaitu Q1 d</a:t>
            </a:r>
            <a:r>
              <a:rPr lang="en-US" sz="2000">
                <a:solidFill>
                  <a:srgbClr val="010101"/>
                </a:solidFill>
                <a:latin typeface="Poppins"/>
                <a:ea typeface="Poppins"/>
                <a:cs typeface="Poppins"/>
                <a:sym typeface="Poppins"/>
              </a:rPr>
              <a:t>e</a:t>
            </a:r>
            <a:r>
              <a:rPr lang="en-US" sz="2000">
                <a:solidFill>
                  <a:srgbClr val="010101"/>
                </a:solidFill>
                <a:latin typeface="Poppins"/>
                <a:ea typeface="Poppins"/>
                <a:cs typeface="Poppins"/>
                <a:sym typeface="Poppins"/>
              </a:rPr>
              <a:t>ngan</a:t>
            </a:r>
            <a:r>
              <a:rPr lang="en-US" sz="2000">
                <a:solidFill>
                  <a:srgbClr val="010101"/>
                </a:solidFill>
                <a:latin typeface="Poppins"/>
                <a:ea typeface="Poppins"/>
                <a:cs typeface="Poppins"/>
                <a:sym typeface="Poppins"/>
              </a:rPr>
              <a:t> </a:t>
            </a:r>
            <a:r>
              <a:rPr lang="en-US" sz="2000">
                <a:solidFill>
                  <a:srgbClr val="010101"/>
                </a:solidFill>
                <a:latin typeface="Poppins"/>
                <a:ea typeface="Poppins"/>
                <a:cs typeface="Poppins"/>
                <a:sym typeface="Poppins"/>
              </a:rPr>
              <a:t>R2 (Q1,R2) dan Q2 dengan R1 (Q2,R1), berhasil mencapai transisi open loop ke closed loop pada kondisi low speed 3 rad/s pada open loop menuju 2 rad/s pada closed loop batas bawah kecepatan operasional terendah yang berhasil dicapai pada penelitian ini. </a:t>
            </a:r>
          </a:p>
        </p:txBody>
      </p:sp>
      <p:sp>
        <p:nvSpPr>
          <p:cNvPr name="TextBox 16" id="16"/>
          <p:cNvSpPr txBox="true"/>
          <p:nvPr/>
        </p:nvSpPr>
        <p:spPr>
          <a:xfrm rot="0">
            <a:off x="5736142" y="7832725"/>
            <a:ext cx="11523158" cy="1425575"/>
          </a:xfrm>
          <a:prstGeom prst="rect">
            <a:avLst/>
          </a:prstGeom>
        </p:spPr>
        <p:txBody>
          <a:bodyPr anchor="t" rtlCol="false" tIns="0" lIns="0" bIns="0" rIns="0">
            <a:spAutoFit/>
          </a:bodyPr>
          <a:lstStyle/>
          <a:p>
            <a:pPr algn="just">
              <a:lnSpc>
                <a:spcPts val="2800"/>
              </a:lnSpc>
            </a:pPr>
            <a:r>
              <a:rPr lang="en-US" sz="2000">
                <a:solidFill>
                  <a:srgbClr val="010101"/>
                </a:solidFill>
                <a:latin typeface="Poppins"/>
                <a:ea typeface="Poppins"/>
                <a:cs typeface="Poppins"/>
                <a:sym typeface="Poppins"/>
              </a:rPr>
              <a:t>Temuan ini menunjukan bahwa batas bawah kecepatan operasion</a:t>
            </a:r>
            <a:r>
              <a:rPr lang="en-US" sz="2000">
                <a:solidFill>
                  <a:srgbClr val="010101"/>
                </a:solidFill>
                <a:latin typeface="Poppins"/>
                <a:ea typeface="Poppins"/>
                <a:cs typeface="Poppins"/>
                <a:sym typeface="Poppins"/>
              </a:rPr>
              <a:t>al sistem</a:t>
            </a:r>
            <a:r>
              <a:rPr lang="en-US" sz="2000">
                <a:solidFill>
                  <a:srgbClr val="010101"/>
                </a:solidFill>
                <a:latin typeface="Poppins"/>
                <a:ea typeface="Poppins"/>
                <a:cs typeface="Poppins"/>
                <a:sym typeface="Poppins"/>
              </a:rPr>
              <a:t> sensorless EKF pada p</a:t>
            </a:r>
            <a:r>
              <a:rPr lang="en-US" sz="2000">
                <a:solidFill>
                  <a:srgbClr val="010101"/>
                </a:solidFill>
                <a:latin typeface="Poppins"/>
                <a:ea typeface="Poppins"/>
                <a:cs typeface="Poppins"/>
                <a:sym typeface="Poppins"/>
              </a:rPr>
              <a:t>e</a:t>
            </a:r>
            <a:r>
              <a:rPr lang="en-US" sz="2000">
                <a:solidFill>
                  <a:srgbClr val="010101"/>
                </a:solidFill>
                <a:latin typeface="Poppins"/>
                <a:ea typeface="Poppins"/>
                <a:cs typeface="Poppins"/>
                <a:sym typeface="Poppins"/>
              </a:rPr>
              <a:t>nelitian</a:t>
            </a:r>
            <a:r>
              <a:rPr lang="en-US" sz="2000">
                <a:solidFill>
                  <a:srgbClr val="010101"/>
                </a:solidFill>
                <a:latin typeface="Poppins"/>
                <a:ea typeface="Poppins"/>
                <a:cs typeface="Poppins"/>
                <a:sym typeface="Poppins"/>
              </a:rPr>
              <a:t> ini</a:t>
            </a:r>
            <a:r>
              <a:rPr lang="en-US" sz="2000">
                <a:solidFill>
                  <a:srgbClr val="010101"/>
                </a:solidFill>
                <a:latin typeface="Poppins"/>
                <a:ea typeface="Poppins"/>
                <a:cs typeface="Poppins"/>
                <a:sym typeface="Poppins"/>
              </a:rPr>
              <a:t> bukan merupakan batas tetap yang berlaku untuk seluruh kombinasi kovariansi, melainkan bergantung pada pemilihan matriks kovariansi Q dan R yang tepat.</a:t>
            </a:r>
          </a:p>
        </p:txBody>
      </p:sp>
    </p:spTree>
  </p:cSld>
  <p:clrMapOvr>
    <a:masterClrMapping/>
  </p:clrMapOvr>
  <p:timing>
    <p:tnLst>
      <p:par>
        <p:cTn dur="indefinite" restart="never" nodeType="tmRoot">
          <p:childTnLst>
            <p:video>
              <p:cMediaNode vol="100000">
                <p:cTn fill="hold" display="false">
                  <p:stCondLst>
                    <p:cond delay="indefinite"/>
                  </p:stCondLst>
                </p:cTn>
                <p:tgtEl>
                  <p:spTgt spid="11"/>
                </p:tgtEl>
              </p:cMediaNode>
            </p:video>
          </p:childTnLst>
        </p:cTn>
      </p:par>
    </p:tnLst>
  </p:timing>
</p:sld>
</file>

<file path=ppt/slides/slide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5313" y="464654"/>
            <a:ext cx="5931571" cy="1523631"/>
            <a:chOff x="0" y="0"/>
            <a:chExt cx="2113731" cy="542950"/>
          </a:xfrm>
        </p:grpSpPr>
        <p:sp>
          <p:nvSpPr>
            <p:cNvPr name="Freeform 3" id="3"/>
            <p:cNvSpPr/>
            <p:nvPr/>
          </p:nvSpPr>
          <p:spPr>
            <a:xfrm flipH="false" flipV="false" rot="0">
              <a:off x="0" y="0"/>
              <a:ext cx="2113731" cy="542950"/>
            </a:xfrm>
            <a:custGeom>
              <a:avLst/>
              <a:gdLst/>
              <a:ahLst/>
              <a:cxnLst/>
              <a:rect r="r" b="b" t="t" l="l"/>
              <a:pathLst>
                <a:path h="542950" w="2113731">
                  <a:moveTo>
                    <a:pt x="1910531" y="0"/>
                  </a:moveTo>
                  <a:cubicBezTo>
                    <a:pt x="2022756" y="0"/>
                    <a:pt x="2113731" y="121543"/>
                    <a:pt x="2113731" y="271475"/>
                  </a:cubicBezTo>
                  <a:cubicBezTo>
                    <a:pt x="2113731" y="421406"/>
                    <a:pt x="2022756" y="542950"/>
                    <a:pt x="1910531" y="542950"/>
                  </a:cubicBezTo>
                  <a:lnTo>
                    <a:pt x="203200" y="542950"/>
                  </a:lnTo>
                  <a:cubicBezTo>
                    <a:pt x="90976" y="542950"/>
                    <a:pt x="0" y="421406"/>
                    <a:pt x="0" y="271475"/>
                  </a:cubicBezTo>
                  <a:cubicBezTo>
                    <a:pt x="0" y="121543"/>
                    <a:pt x="90976" y="0"/>
                    <a:pt x="203200" y="0"/>
                  </a:cubicBezTo>
                  <a:close/>
                </a:path>
              </a:pathLst>
            </a:custGeom>
            <a:solidFill>
              <a:srgbClr val="F2F2F2"/>
            </a:solidFill>
          </p:spPr>
        </p:sp>
        <p:sp>
          <p:nvSpPr>
            <p:cNvPr name="TextBox 4" id="4"/>
            <p:cNvSpPr txBox="true"/>
            <p:nvPr/>
          </p:nvSpPr>
          <p:spPr>
            <a:xfrm>
              <a:off x="0" y="-38100"/>
              <a:ext cx="2113731" cy="5810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038174" y="458478"/>
            <a:ext cx="4563040" cy="1140443"/>
            <a:chOff x="0" y="0"/>
            <a:chExt cx="6084053" cy="1520591"/>
          </a:xfrm>
        </p:grpSpPr>
        <p:grpSp>
          <p:nvGrpSpPr>
            <p:cNvPr name="Group 6" id="6"/>
            <p:cNvGrpSpPr/>
            <p:nvPr/>
          </p:nvGrpSpPr>
          <p:grpSpPr>
            <a:xfrm rot="0">
              <a:off x="0" y="0"/>
              <a:ext cx="6084053" cy="1520591"/>
              <a:chOff x="0" y="0"/>
              <a:chExt cx="1626052" cy="406400"/>
            </a:xfrm>
          </p:grpSpPr>
          <p:sp>
            <p:nvSpPr>
              <p:cNvPr name="Freeform 7" id="7"/>
              <p:cNvSpPr/>
              <p:nvPr/>
            </p:nvSpPr>
            <p:spPr>
              <a:xfrm flipH="false" flipV="false" rot="0">
                <a:off x="0" y="0"/>
                <a:ext cx="1626052" cy="406400"/>
              </a:xfrm>
              <a:custGeom>
                <a:avLst/>
                <a:gdLst/>
                <a:ahLst/>
                <a:cxnLst/>
                <a:rect r="r" b="b" t="t" l="l"/>
                <a:pathLst>
                  <a:path h="406400" w="1626052">
                    <a:moveTo>
                      <a:pt x="1422852" y="0"/>
                    </a:moveTo>
                    <a:cubicBezTo>
                      <a:pt x="1535076" y="0"/>
                      <a:pt x="1626052" y="90976"/>
                      <a:pt x="1626052" y="203200"/>
                    </a:cubicBezTo>
                    <a:cubicBezTo>
                      <a:pt x="1626052" y="315424"/>
                      <a:pt x="1535076" y="406400"/>
                      <a:pt x="1422852"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8" id="8"/>
              <p:cNvSpPr txBox="true"/>
              <p:nvPr/>
            </p:nvSpPr>
            <p:spPr>
              <a:xfrm>
                <a:off x="0" y="-38100"/>
                <a:ext cx="1626052" cy="44450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414535" y="124612"/>
              <a:ext cx="5254984" cy="1271367"/>
            </a:xfrm>
            <a:custGeom>
              <a:avLst/>
              <a:gdLst/>
              <a:ahLst/>
              <a:cxnLst/>
              <a:rect r="r" b="b" t="t" l="l"/>
              <a:pathLst>
                <a:path h="1271367" w="5254984">
                  <a:moveTo>
                    <a:pt x="0" y="0"/>
                  </a:moveTo>
                  <a:lnTo>
                    <a:pt x="5254983" y="0"/>
                  </a:lnTo>
                  <a:lnTo>
                    <a:pt x="5254983" y="1271367"/>
                  </a:lnTo>
                  <a:lnTo>
                    <a:pt x="0" y="1271367"/>
                  </a:lnTo>
                  <a:lnTo>
                    <a:pt x="0" y="0"/>
                  </a:lnTo>
                  <a:close/>
                </a:path>
              </a:pathLst>
            </a:custGeom>
            <a:blipFill>
              <a:blip r:embed="rId2"/>
              <a:stretch>
                <a:fillRect l="0" t="0" r="0" b="0"/>
              </a:stretch>
            </a:blipFill>
          </p:spPr>
        </p:sp>
      </p:grpSp>
      <p:sp>
        <p:nvSpPr>
          <p:cNvPr name="Freeform 10" id="10"/>
          <p:cNvSpPr/>
          <p:nvPr/>
        </p:nvSpPr>
        <p:spPr>
          <a:xfrm flipH="false" flipV="false" rot="0">
            <a:off x="1028700" y="3620301"/>
            <a:ext cx="11366694" cy="2076741"/>
          </a:xfrm>
          <a:custGeom>
            <a:avLst/>
            <a:gdLst/>
            <a:ahLst/>
            <a:cxnLst/>
            <a:rect r="r" b="b" t="t" l="l"/>
            <a:pathLst>
              <a:path h="2076741" w="11366694">
                <a:moveTo>
                  <a:pt x="0" y="0"/>
                </a:moveTo>
                <a:lnTo>
                  <a:pt x="11366694" y="0"/>
                </a:lnTo>
                <a:lnTo>
                  <a:pt x="11366694" y="2076740"/>
                </a:lnTo>
                <a:lnTo>
                  <a:pt x="0" y="2076740"/>
                </a:lnTo>
                <a:lnTo>
                  <a:pt x="0" y="0"/>
                </a:lnTo>
                <a:close/>
              </a:path>
            </a:pathLst>
          </a:custGeom>
          <a:blipFill>
            <a:blip r:embed="rId3"/>
            <a:stretch>
              <a:fillRect l="0" t="0" r="0" b="0"/>
            </a:stretch>
          </a:blipFill>
        </p:spPr>
      </p:sp>
      <p:sp>
        <p:nvSpPr>
          <p:cNvPr name="Freeform 11" id="11"/>
          <p:cNvSpPr/>
          <p:nvPr/>
        </p:nvSpPr>
        <p:spPr>
          <a:xfrm flipH="false" flipV="false" rot="0">
            <a:off x="4777811" y="5982791"/>
            <a:ext cx="9996584" cy="4010899"/>
          </a:xfrm>
          <a:custGeom>
            <a:avLst/>
            <a:gdLst/>
            <a:ahLst/>
            <a:cxnLst/>
            <a:rect r="r" b="b" t="t" l="l"/>
            <a:pathLst>
              <a:path h="4010899" w="9996584">
                <a:moveTo>
                  <a:pt x="0" y="0"/>
                </a:moveTo>
                <a:lnTo>
                  <a:pt x="9996584" y="0"/>
                </a:lnTo>
                <a:lnTo>
                  <a:pt x="9996584" y="4010899"/>
                </a:lnTo>
                <a:lnTo>
                  <a:pt x="0" y="4010899"/>
                </a:lnTo>
                <a:lnTo>
                  <a:pt x="0" y="0"/>
                </a:lnTo>
                <a:close/>
              </a:path>
            </a:pathLst>
          </a:custGeom>
          <a:blipFill>
            <a:blip r:embed="rId4"/>
            <a:stretch>
              <a:fillRect l="0" t="0" r="0" b="0"/>
            </a:stretch>
          </a:blipFill>
        </p:spPr>
      </p:sp>
      <p:sp>
        <p:nvSpPr>
          <p:cNvPr name="TextBox 12" id="12"/>
          <p:cNvSpPr txBox="true"/>
          <p:nvPr/>
        </p:nvSpPr>
        <p:spPr>
          <a:xfrm rot="0">
            <a:off x="1110116" y="1112169"/>
            <a:ext cx="6001921" cy="995271"/>
          </a:xfrm>
          <a:prstGeom prst="rect">
            <a:avLst/>
          </a:prstGeom>
        </p:spPr>
        <p:txBody>
          <a:bodyPr anchor="t" rtlCol="false" tIns="0" lIns="0" bIns="0" rIns="0">
            <a:spAutoFit/>
          </a:bodyPr>
          <a:lstStyle/>
          <a:p>
            <a:pPr algn="l">
              <a:lnSpc>
                <a:spcPts val="8142"/>
              </a:lnSpc>
            </a:pPr>
            <a:r>
              <a:rPr lang="en-US" sz="5816">
                <a:solidFill>
                  <a:srgbClr val="E5C857"/>
                </a:solidFill>
                <a:latin typeface="Bebas Neue 1"/>
                <a:ea typeface="Bebas Neue 1"/>
                <a:cs typeface="Bebas Neue 1"/>
                <a:sym typeface="Bebas Neue 1"/>
              </a:rPr>
              <a:t>hasil FOC sensorless</a:t>
            </a:r>
          </a:p>
        </p:txBody>
      </p:sp>
      <p:sp>
        <p:nvSpPr>
          <p:cNvPr name="TextBox 13" id="13"/>
          <p:cNvSpPr txBox="true"/>
          <p:nvPr/>
        </p:nvSpPr>
        <p:spPr>
          <a:xfrm rot="0">
            <a:off x="1051559" y="344178"/>
            <a:ext cx="4684584" cy="995271"/>
          </a:xfrm>
          <a:prstGeom prst="rect">
            <a:avLst/>
          </a:prstGeom>
        </p:spPr>
        <p:txBody>
          <a:bodyPr anchor="t" rtlCol="false" tIns="0" lIns="0" bIns="0" rIns="0">
            <a:spAutoFit/>
          </a:bodyPr>
          <a:lstStyle/>
          <a:p>
            <a:pPr algn="l">
              <a:lnSpc>
                <a:spcPts val="8142"/>
              </a:lnSpc>
            </a:pPr>
            <a:r>
              <a:rPr lang="en-US" sz="5816">
                <a:solidFill>
                  <a:srgbClr val="59524B"/>
                </a:solidFill>
                <a:latin typeface="Bebas Neue 1"/>
                <a:ea typeface="Bebas Neue 1"/>
                <a:cs typeface="Bebas Neue 1"/>
                <a:sym typeface="Bebas Neue 1"/>
              </a:rPr>
              <a:t>hasil penelitian</a:t>
            </a:r>
          </a:p>
        </p:txBody>
      </p:sp>
      <p:sp>
        <p:nvSpPr>
          <p:cNvPr name="TextBox 14" id="14"/>
          <p:cNvSpPr txBox="true"/>
          <p:nvPr/>
        </p:nvSpPr>
        <p:spPr>
          <a:xfrm rot="0">
            <a:off x="1028700" y="3039276"/>
            <a:ext cx="8707231" cy="409575"/>
          </a:xfrm>
          <a:prstGeom prst="rect">
            <a:avLst/>
          </a:prstGeom>
        </p:spPr>
        <p:txBody>
          <a:bodyPr anchor="t" rtlCol="false" tIns="0" lIns="0" bIns="0" rIns="0">
            <a:spAutoFit/>
          </a:bodyPr>
          <a:lstStyle/>
          <a:p>
            <a:pPr algn="l">
              <a:lnSpc>
                <a:spcPts val="3120"/>
              </a:lnSpc>
            </a:pPr>
            <a:r>
              <a:rPr lang="en-US" sz="2600" b="true">
                <a:solidFill>
                  <a:srgbClr val="59524B"/>
                </a:solidFill>
                <a:latin typeface="Poppins Bold"/>
                <a:ea typeface="Poppins Bold"/>
                <a:cs typeface="Poppins Bold"/>
                <a:sym typeface="Poppins Bold"/>
              </a:rPr>
              <a:t>Metr</a:t>
            </a:r>
            <a:r>
              <a:rPr lang="en-US" b="true" sz="2600">
                <a:solidFill>
                  <a:srgbClr val="59524B"/>
                </a:solidFill>
                <a:latin typeface="Poppins Bold"/>
                <a:ea typeface="Poppins Bold"/>
                <a:cs typeface="Poppins Bold"/>
                <a:sym typeface="Poppins Bold"/>
              </a:rPr>
              <a:t>ik Performa Respon Motor BLDC </a:t>
            </a:r>
          </a:p>
        </p:txBody>
      </p:sp>
      <p:sp>
        <p:nvSpPr>
          <p:cNvPr name="TextBox 15" id="15"/>
          <p:cNvSpPr txBox="true"/>
          <p:nvPr/>
        </p:nvSpPr>
        <p:spPr>
          <a:xfrm rot="0">
            <a:off x="1028700" y="5944174"/>
            <a:ext cx="8707231" cy="409575"/>
          </a:xfrm>
          <a:prstGeom prst="rect">
            <a:avLst/>
          </a:prstGeom>
        </p:spPr>
        <p:txBody>
          <a:bodyPr anchor="t" rtlCol="false" tIns="0" lIns="0" bIns="0" rIns="0">
            <a:spAutoFit/>
          </a:bodyPr>
          <a:lstStyle/>
          <a:p>
            <a:pPr algn="l">
              <a:lnSpc>
                <a:spcPts val="3120"/>
              </a:lnSpc>
            </a:pPr>
            <a:r>
              <a:rPr lang="en-US" sz="2600" b="true">
                <a:solidFill>
                  <a:srgbClr val="59524B"/>
                </a:solidFill>
                <a:latin typeface="Poppins Bold"/>
                <a:ea typeface="Poppins Bold"/>
                <a:cs typeface="Poppins Bold"/>
                <a:sym typeface="Poppins Bold"/>
              </a:rPr>
              <a:t>Metr</a:t>
            </a:r>
            <a:r>
              <a:rPr lang="en-US" b="true" sz="2600">
                <a:solidFill>
                  <a:srgbClr val="59524B"/>
                </a:solidFill>
                <a:latin typeface="Poppins Bold"/>
                <a:ea typeface="Poppins Bold"/>
                <a:cs typeface="Poppins Bold"/>
                <a:sym typeface="Poppins Bold"/>
              </a:rPr>
              <a:t>ik Performa EKF </a:t>
            </a:r>
          </a:p>
        </p:txBody>
      </p:sp>
      <p:sp>
        <p:nvSpPr>
          <p:cNvPr name="TextBox 16" id="16"/>
          <p:cNvSpPr txBox="true"/>
          <p:nvPr/>
        </p:nvSpPr>
        <p:spPr>
          <a:xfrm rot="0">
            <a:off x="1028700" y="2248701"/>
            <a:ext cx="8707231" cy="523875"/>
          </a:xfrm>
          <a:prstGeom prst="rect">
            <a:avLst/>
          </a:prstGeom>
        </p:spPr>
        <p:txBody>
          <a:bodyPr anchor="t" rtlCol="false" tIns="0" lIns="0" bIns="0" rIns="0">
            <a:spAutoFit/>
          </a:bodyPr>
          <a:lstStyle/>
          <a:p>
            <a:pPr algn="l">
              <a:lnSpc>
                <a:spcPts val="3959"/>
              </a:lnSpc>
            </a:pPr>
            <a:r>
              <a:rPr lang="en-US" sz="3299" b="true">
                <a:solidFill>
                  <a:srgbClr val="59524B"/>
                </a:solidFill>
                <a:latin typeface="Poppins Bold"/>
                <a:ea typeface="Poppins Bold"/>
                <a:cs typeface="Poppins Bold"/>
                <a:sym typeface="Poppins Bold"/>
              </a:rPr>
              <a:t>Low Speed</a:t>
            </a:r>
          </a:p>
        </p:txBody>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4816593" cy="2709333"/>
          </a:xfrm>
        </p:grpSpPr>
        <p:sp>
          <p:nvSpPr>
            <p:cNvPr name="Freeform 3" id="3"/>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59524B"/>
            </a:solidFill>
          </p:spPr>
        </p:sp>
        <p:sp>
          <p:nvSpPr>
            <p:cNvPr name="TextBox 4" id="4"/>
            <p:cNvSpPr txBox="true"/>
            <p:nvPr/>
          </p:nvSpPr>
          <p:spPr>
            <a:xfrm>
              <a:off x="0" y="-38100"/>
              <a:ext cx="4816593" cy="2747433"/>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723147" y="0"/>
            <a:ext cx="21734294" cy="10287000"/>
          </a:xfrm>
          <a:custGeom>
            <a:avLst/>
            <a:gdLst/>
            <a:ahLst/>
            <a:cxnLst/>
            <a:rect r="r" b="b" t="t" l="l"/>
            <a:pathLst>
              <a:path h="10287000" w="21734294">
                <a:moveTo>
                  <a:pt x="0" y="0"/>
                </a:moveTo>
                <a:lnTo>
                  <a:pt x="21734294" y="0"/>
                </a:lnTo>
                <a:lnTo>
                  <a:pt x="21734294" y="10287000"/>
                </a:lnTo>
                <a:lnTo>
                  <a:pt x="0" y="10287000"/>
                </a:lnTo>
                <a:lnTo>
                  <a:pt x="0" y="0"/>
                </a:lnTo>
                <a:close/>
              </a:path>
            </a:pathLst>
          </a:custGeom>
          <a:blipFill>
            <a:blip r:embed="rId2">
              <a:alphaModFix amt="50000"/>
            </a:blip>
            <a:stretch>
              <a:fillRect l="0" t="0" r="0" b="0"/>
            </a:stretch>
          </a:blipFill>
        </p:spPr>
      </p:sp>
      <p:grpSp>
        <p:nvGrpSpPr>
          <p:cNvPr name="Group 6" id="6"/>
          <p:cNvGrpSpPr/>
          <p:nvPr/>
        </p:nvGrpSpPr>
        <p:grpSpPr>
          <a:xfrm rot="0">
            <a:off x="4853953" y="4169257"/>
            <a:ext cx="8580094" cy="1948485"/>
            <a:chOff x="0" y="0"/>
            <a:chExt cx="1789570" cy="406400"/>
          </a:xfrm>
        </p:grpSpPr>
        <p:sp>
          <p:nvSpPr>
            <p:cNvPr name="Freeform 7" id="7"/>
            <p:cNvSpPr/>
            <p:nvPr/>
          </p:nvSpPr>
          <p:spPr>
            <a:xfrm flipH="false" flipV="false" rot="0">
              <a:off x="0" y="0"/>
              <a:ext cx="1789570" cy="406400"/>
            </a:xfrm>
            <a:custGeom>
              <a:avLst/>
              <a:gdLst/>
              <a:ahLst/>
              <a:cxnLst/>
              <a:rect r="r" b="b" t="t" l="l"/>
              <a:pathLst>
                <a:path h="406400" w="1789570">
                  <a:moveTo>
                    <a:pt x="1586370" y="0"/>
                  </a:moveTo>
                  <a:cubicBezTo>
                    <a:pt x="1698594" y="0"/>
                    <a:pt x="1789570" y="90976"/>
                    <a:pt x="1789570" y="203200"/>
                  </a:cubicBezTo>
                  <a:cubicBezTo>
                    <a:pt x="1789570" y="315424"/>
                    <a:pt x="1698594" y="406400"/>
                    <a:pt x="1586370"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8" id="8"/>
            <p:cNvSpPr txBox="true"/>
            <p:nvPr/>
          </p:nvSpPr>
          <p:spPr>
            <a:xfrm>
              <a:off x="0" y="-38100"/>
              <a:ext cx="1789570" cy="4445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3038174" y="458478"/>
            <a:ext cx="4563040" cy="1140443"/>
            <a:chOff x="0" y="0"/>
            <a:chExt cx="6084053" cy="1520591"/>
          </a:xfrm>
        </p:grpSpPr>
        <p:grpSp>
          <p:nvGrpSpPr>
            <p:cNvPr name="Group 10" id="10"/>
            <p:cNvGrpSpPr/>
            <p:nvPr/>
          </p:nvGrpSpPr>
          <p:grpSpPr>
            <a:xfrm rot="0">
              <a:off x="0" y="0"/>
              <a:ext cx="6084053" cy="1520591"/>
              <a:chOff x="0" y="0"/>
              <a:chExt cx="1626052" cy="406400"/>
            </a:xfrm>
          </p:grpSpPr>
          <p:sp>
            <p:nvSpPr>
              <p:cNvPr name="Freeform 11" id="11"/>
              <p:cNvSpPr/>
              <p:nvPr/>
            </p:nvSpPr>
            <p:spPr>
              <a:xfrm flipH="false" flipV="false" rot="0">
                <a:off x="0" y="0"/>
                <a:ext cx="1626052" cy="406400"/>
              </a:xfrm>
              <a:custGeom>
                <a:avLst/>
                <a:gdLst/>
                <a:ahLst/>
                <a:cxnLst/>
                <a:rect r="r" b="b" t="t" l="l"/>
                <a:pathLst>
                  <a:path h="406400" w="1626052">
                    <a:moveTo>
                      <a:pt x="1422852" y="0"/>
                    </a:moveTo>
                    <a:cubicBezTo>
                      <a:pt x="1535076" y="0"/>
                      <a:pt x="1626052" y="90976"/>
                      <a:pt x="1626052" y="203200"/>
                    </a:cubicBezTo>
                    <a:cubicBezTo>
                      <a:pt x="1626052" y="315424"/>
                      <a:pt x="1535076" y="406400"/>
                      <a:pt x="1422852"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12" id="12"/>
              <p:cNvSpPr txBox="true"/>
              <p:nvPr/>
            </p:nvSpPr>
            <p:spPr>
              <a:xfrm>
                <a:off x="0" y="-38100"/>
                <a:ext cx="1626052" cy="444500"/>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414535" y="124612"/>
              <a:ext cx="5254984" cy="1271367"/>
            </a:xfrm>
            <a:custGeom>
              <a:avLst/>
              <a:gdLst/>
              <a:ahLst/>
              <a:cxnLst/>
              <a:rect r="r" b="b" t="t" l="l"/>
              <a:pathLst>
                <a:path h="1271367" w="5254984">
                  <a:moveTo>
                    <a:pt x="0" y="0"/>
                  </a:moveTo>
                  <a:lnTo>
                    <a:pt x="5254983" y="0"/>
                  </a:lnTo>
                  <a:lnTo>
                    <a:pt x="5254983" y="1271367"/>
                  </a:lnTo>
                  <a:lnTo>
                    <a:pt x="0" y="1271367"/>
                  </a:lnTo>
                  <a:lnTo>
                    <a:pt x="0" y="0"/>
                  </a:lnTo>
                  <a:close/>
                </a:path>
              </a:pathLst>
            </a:custGeom>
            <a:blipFill>
              <a:blip r:embed="rId3"/>
              <a:stretch>
                <a:fillRect l="0" t="0" r="0" b="0"/>
              </a:stretch>
            </a:blipFill>
          </p:spPr>
        </p:sp>
      </p:grpSp>
      <p:sp>
        <p:nvSpPr>
          <p:cNvPr name="TextBox 14" id="14"/>
          <p:cNvSpPr txBox="true"/>
          <p:nvPr/>
        </p:nvSpPr>
        <p:spPr>
          <a:xfrm rot="0">
            <a:off x="5196785" y="4186490"/>
            <a:ext cx="7894431" cy="1713996"/>
          </a:xfrm>
          <a:prstGeom prst="rect">
            <a:avLst/>
          </a:prstGeom>
        </p:spPr>
        <p:txBody>
          <a:bodyPr anchor="t" rtlCol="false" tIns="0" lIns="0" bIns="0" rIns="0">
            <a:spAutoFit/>
          </a:bodyPr>
          <a:lstStyle/>
          <a:p>
            <a:pPr algn="ctr">
              <a:lnSpc>
                <a:spcPts val="13911"/>
              </a:lnSpc>
            </a:pPr>
            <a:r>
              <a:rPr lang="en-US" sz="9937">
                <a:solidFill>
                  <a:srgbClr val="59524B"/>
                </a:solidFill>
                <a:latin typeface="Bebas Neue 1"/>
                <a:ea typeface="Bebas Neue 1"/>
                <a:cs typeface="Bebas Neue 1"/>
                <a:sym typeface="Bebas Neue 1"/>
              </a:rPr>
              <a:t>Kesimpulan</a:t>
            </a:r>
          </a:p>
        </p:txBody>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0088" y="594390"/>
            <a:ext cx="3557882" cy="874795"/>
            <a:chOff x="0" y="0"/>
            <a:chExt cx="1267861" cy="311736"/>
          </a:xfrm>
        </p:grpSpPr>
        <p:sp>
          <p:nvSpPr>
            <p:cNvPr name="Freeform 3" id="3"/>
            <p:cNvSpPr/>
            <p:nvPr/>
          </p:nvSpPr>
          <p:spPr>
            <a:xfrm flipH="false" flipV="false" rot="0">
              <a:off x="0" y="0"/>
              <a:ext cx="1267861" cy="311736"/>
            </a:xfrm>
            <a:custGeom>
              <a:avLst/>
              <a:gdLst/>
              <a:ahLst/>
              <a:cxnLst/>
              <a:rect r="r" b="b" t="t" l="l"/>
              <a:pathLst>
                <a:path h="311736" w="1267861">
                  <a:moveTo>
                    <a:pt x="1064661" y="0"/>
                  </a:moveTo>
                  <a:cubicBezTo>
                    <a:pt x="1176885" y="0"/>
                    <a:pt x="1267861" y="69784"/>
                    <a:pt x="1267861" y="155868"/>
                  </a:cubicBezTo>
                  <a:cubicBezTo>
                    <a:pt x="1267861" y="241951"/>
                    <a:pt x="1176885" y="311736"/>
                    <a:pt x="1064661" y="311736"/>
                  </a:cubicBezTo>
                  <a:lnTo>
                    <a:pt x="203200" y="311736"/>
                  </a:lnTo>
                  <a:cubicBezTo>
                    <a:pt x="90976" y="311736"/>
                    <a:pt x="0" y="241951"/>
                    <a:pt x="0" y="155868"/>
                  </a:cubicBezTo>
                  <a:cubicBezTo>
                    <a:pt x="0" y="69784"/>
                    <a:pt x="90976" y="0"/>
                    <a:pt x="203200" y="0"/>
                  </a:cubicBezTo>
                  <a:close/>
                </a:path>
              </a:pathLst>
            </a:custGeom>
            <a:solidFill>
              <a:srgbClr val="F2F2F2"/>
            </a:solidFill>
          </p:spPr>
        </p:sp>
        <p:sp>
          <p:nvSpPr>
            <p:cNvPr name="TextBox 4" id="4"/>
            <p:cNvSpPr txBox="true"/>
            <p:nvPr/>
          </p:nvSpPr>
          <p:spPr>
            <a:xfrm>
              <a:off x="0" y="-38100"/>
              <a:ext cx="1267861" cy="349836"/>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038174" y="458478"/>
            <a:ext cx="4563040" cy="1140443"/>
            <a:chOff x="0" y="0"/>
            <a:chExt cx="6084053" cy="1520591"/>
          </a:xfrm>
        </p:grpSpPr>
        <p:grpSp>
          <p:nvGrpSpPr>
            <p:cNvPr name="Group 6" id="6"/>
            <p:cNvGrpSpPr/>
            <p:nvPr/>
          </p:nvGrpSpPr>
          <p:grpSpPr>
            <a:xfrm rot="0">
              <a:off x="0" y="0"/>
              <a:ext cx="6084053" cy="1520591"/>
              <a:chOff x="0" y="0"/>
              <a:chExt cx="1626052" cy="406400"/>
            </a:xfrm>
          </p:grpSpPr>
          <p:sp>
            <p:nvSpPr>
              <p:cNvPr name="Freeform 7" id="7"/>
              <p:cNvSpPr/>
              <p:nvPr/>
            </p:nvSpPr>
            <p:spPr>
              <a:xfrm flipH="false" flipV="false" rot="0">
                <a:off x="0" y="0"/>
                <a:ext cx="1626052" cy="406400"/>
              </a:xfrm>
              <a:custGeom>
                <a:avLst/>
                <a:gdLst/>
                <a:ahLst/>
                <a:cxnLst/>
                <a:rect r="r" b="b" t="t" l="l"/>
                <a:pathLst>
                  <a:path h="406400" w="1626052">
                    <a:moveTo>
                      <a:pt x="1422852" y="0"/>
                    </a:moveTo>
                    <a:cubicBezTo>
                      <a:pt x="1535076" y="0"/>
                      <a:pt x="1626052" y="90976"/>
                      <a:pt x="1626052" y="203200"/>
                    </a:cubicBezTo>
                    <a:cubicBezTo>
                      <a:pt x="1626052" y="315424"/>
                      <a:pt x="1535076" y="406400"/>
                      <a:pt x="1422852"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8" id="8"/>
              <p:cNvSpPr txBox="true"/>
              <p:nvPr/>
            </p:nvSpPr>
            <p:spPr>
              <a:xfrm>
                <a:off x="0" y="-38100"/>
                <a:ext cx="1626052" cy="44450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414535" y="124612"/>
              <a:ext cx="5254984" cy="1271367"/>
            </a:xfrm>
            <a:custGeom>
              <a:avLst/>
              <a:gdLst/>
              <a:ahLst/>
              <a:cxnLst/>
              <a:rect r="r" b="b" t="t" l="l"/>
              <a:pathLst>
                <a:path h="1271367" w="5254984">
                  <a:moveTo>
                    <a:pt x="0" y="0"/>
                  </a:moveTo>
                  <a:lnTo>
                    <a:pt x="5254983" y="0"/>
                  </a:lnTo>
                  <a:lnTo>
                    <a:pt x="5254983" y="1271367"/>
                  </a:lnTo>
                  <a:lnTo>
                    <a:pt x="0" y="1271367"/>
                  </a:lnTo>
                  <a:lnTo>
                    <a:pt x="0" y="0"/>
                  </a:lnTo>
                  <a:close/>
                </a:path>
              </a:pathLst>
            </a:custGeom>
            <a:blipFill>
              <a:blip r:embed="rId2"/>
              <a:stretch>
                <a:fillRect l="0" t="0" r="0" b="0"/>
              </a:stretch>
            </a:blipFill>
          </p:spPr>
        </p:sp>
      </p:grpSp>
      <p:sp>
        <p:nvSpPr>
          <p:cNvPr name="TextBox 10" id="10"/>
          <p:cNvSpPr txBox="true"/>
          <p:nvPr/>
        </p:nvSpPr>
        <p:spPr>
          <a:xfrm rot="0">
            <a:off x="1136333" y="473915"/>
            <a:ext cx="4684584" cy="995271"/>
          </a:xfrm>
          <a:prstGeom prst="rect">
            <a:avLst/>
          </a:prstGeom>
        </p:spPr>
        <p:txBody>
          <a:bodyPr anchor="t" rtlCol="false" tIns="0" lIns="0" bIns="0" rIns="0">
            <a:spAutoFit/>
          </a:bodyPr>
          <a:lstStyle/>
          <a:p>
            <a:pPr algn="l">
              <a:lnSpc>
                <a:spcPts val="8142"/>
              </a:lnSpc>
            </a:pPr>
            <a:r>
              <a:rPr lang="en-US" sz="5816">
                <a:solidFill>
                  <a:srgbClr val="59524B"/>
                </a:solidFill>
                <a:latin typeface="Bebas Neue 1"/>
                <a:ea typeface="Bebas Neue 1"/>
                <a:cs typeface="Bebas Neue 1"/>
                <a:sym typeface="Bebas Neue 1"/>
              </a:rPr>
              <a:t>Kesimpulan</a:t>
            </a:r>
          </a:p>
        </p:txBody>
      </p:sp>
      <p:sp>
        <p:nvSpPr>
          <p:cNvPr name="TextBox 11" id="11"/>
          <p:cNvSpPr txBox="true"/>
          <p:nvPr/>
        </p:nvSpPr>
        <p:spPr>
          <a:xfrm rot="0">
            <a:off x="2529029" y="1845118"/>
            <a:ext cx="14730271" cy="7875270"/>
          </a:xfrm>
          <a:prstGeom prst="rect">
            <a:avLst/>
          </a:prstGeom>
        </p:spPr>
        <p:txBody>
          <a:bodyPr anchor="t" rtlCol="false" tIns="0" lIns="0" bIns="0" rIns="0">
            <a:spAutoFit/>
          </a:bodyPr>
          <a:lstStyle/>
          <a:p>
            <a:pPr algn="just">
              <a:lnSpc>
                <a:spcPts val="3450"/>
              </a:lnSpc>
            </a:pPr>
            <a:r>
              <a:rPr lang="en-US" sz="2300">
                <a:solidFill>
                  <a:srgbClr val="000000"/>
                </a:solidFill>
                <a:latin typeface="Poppins"/>
                <a:ea typeface="Poppins"/>
                <a:cs typeface="Poppins"/>
                <a:sym typeface="Poppins"/>
              </a:rPr>
              <a:t>Pemodelan BLDC Model diturunkan dari </a:t>
            </a:r>
            <a:r>
              <a:rPr lang="en-US" sz="2300" b="true">
                <a:solidFill>
                  <a:srgbClr val="000000"/>
                </a:solidFill>
                <a:latin typeface="Poppins Bold"/>
                <a:ea typeface="Poppins Bold"/>
                <a:cs typeface="Poppins Bold"/>
                <a:sym typeface="Poppins Bold"/>
              </a:rPr>
              <a:t>kerangka ABC ke α-β</a:t>
            </a:r>
            <a:r>
              <a:rPr lang="en-US" sz="2300">
                <a:solidFill>
                  <a:srgbClr val="000000"/>
                </a:solidFill>
                <a:latin typeface="Poppins"/>
                <a:ea typeface="Poppins"/>
                <a:cs typeface="Poppins"/>
                <a:sym typeface="Poppins"/>
              </a:rPr>
              <a:t>, dengan konstanta BEMF diidentifikasi melalui pendekatan grey-box dua tahap dan </a:t>
            </a:r>
            <a:r>
              <a:rPr lang="en-US" sz="2300" b="true">
                <a:solidFill>
                  <a:srgbClr val="000000"/>
                </a:solidFill>
                <a:latin typeface="Poppins Bold"/>
                <a:ea typeface="Poppins Bold"/>
                <a:cs typeface="Poppins Bold"/>
                <a:sym typeface="Poppins Bold"/>
              </a:rPr>
              <a:t>tervalidasi terhadap data hardware</a:t>
            </a:r>
            <a:r>
              <a:rPr lang="en-US" sz="2300">
                <a:solidFill>
                  <a:srgbClr val="000000"/>
                </a:solidFill>
                <a:latin typeface="Poppins"/>
                <a:ea typeface="Poppins"/>
                <a:cs typeface="Poppins"/>
                <a:sym typeface="Poppins"/>
              </a:rPr>
              <a:t> di bawah ambang batas keberterimaan. Analisis observabilitas mengonfirmasi </a:t>
            </a:r>
            <a:r>
              <a:rPr lang="en-US" sz="2300" b="true">
                <a:solidFill>
                  <a:srgbClr val="000000"/>
                </a:solidFill>
                <a:latin typeface="Poppins Bold"/>
                <a:ea typeface="Poppins Bold"/>
                <a:cs typeface="Poppins Bold"/>
                <a:sym typeface="Poppins Bold"/>
              </a:rPr>
              <a:t>model hanya observable saat motor berputar</a:t>
            </a:r>
            <a:r>
              <a:rPr lang="en-US" sz="2300">
                <a:solidFill>
                  <a:srgbClr val="000000"/>
                </a:solidFill>
                <a:latin typeface="Poppins"/>
                <a:ea typeface="Poppins"/>
                <a:cs typeface="Poppins"/>
                <a:sym typeface="Poppins"/>
              </a:rPr>
              <a:t>, menjadi landasan strategi ramp-up.</a:t>
            </a:r>
          </a:p>
          <a:p>
            <a:pPr algn="just">
              <a:lnSpc>
                <a:spcPts val="3450"/>
              </a:lnSpc>
            </a:pPr>
          </a:p>
          <a:p>
            <a:pPr algn="just">
              <a:lnSpc>
                <a:spcPts val="3450"/>
              </a:lnSpc>
            </a:pPr>
            <a:r>
              <a:rPr lang="en-US" sz="2300">
                <a:solidFill>
                  <a:srgbClr val="000000"/>
                </a:solidFill>
                <a:latin typeface="Poppins"/>
                <a:ea typeface="Poppins"/>
                <a:cs typeface="Poppins"/>
                <a:sym typeface="Poppins"/>
              </a:rPr>
              <a:t>S</a:t>
            </a:r>
            <a:r>
              <a:rPr lang="en-US" sz="2300">
                <a:solidFill>
                  <a:srgbClr val="000000"/>
                </a:solidFill>
                <a:latin typeface="Poppins"/>
                <a:ea typeface="Poppins"/>
                <a:cs typeface="Poppins"/>
                <a:sym typeface="Poppins"/>
              </a:rPr>
              <a:t>istem Kontrol FOC dirancang dengan </a:t>
            </a:r>
            <a:r>
              <a:rPr lang="en-US" sz="2300" b="true">
                <a:solidFill>
                  <a:srgbClr val="000000"/>
                </a:solidFill>
                <a:latin typeface="Poppins Bold"/>
                <a:ea typeface="Poppins Bold"/>
                <a:cs typeface="Poppins Bold"/>
                <a:sym typeface="Poppins Bold"/>
              </a:rPr>
              <a:t>tiga loop kendali</a:t>
            </a:r>
            <a:r>
              <a:rPr lang="en-US" sz="2300">
                <a:solidFill>
                  <a:srgbClr val="000000"/>
                </a:solidFill>
                <a:latin typeface="Poppins"/>
                <a:ea typeface="Poppins"/>
                <a:cs typeface="Poppins"/>
                <a:sym typeface="Poppins"/>
              </a:rPr>
              <a:t> dan divalidasi melalui simulasi, dengan tuning PI yang berhasil ditransfer langsung ke hardware dan terbukti </a:t>
            </a:r>
            <a:r>
              <a:rPr lang="en-US" sz="2300" b="true">
                <a:solidFill>
                  <a:srgbClr val="000000"/>
                </a:solidFill>
                <a:latin typeface="Poppins Bold"/>
                <a:ea typeface="Poppins Bold"/>
                <a:cs typeface="Poppins Bold"/>
                <a:sym typeface="Poppins Bold"/>
              </a:rPr>
              <a:t>meningkatkan performa dibandingkan kondisi tanpa kontroler</a:t>
            </a:r>
            <a:r>
              <a:rPr lang="en-US" sz="2300">
                <a:solidFill>
                  <a:srgbClr val="000000"/>
                </a:solidFill>
                <a:latin typeface="Poppins"/>
                <a:ea typeface="Poppins"/>
                <a:cs typeface="Poppins"/>
                <a:sym typeface="Poppins"/>
              </a:rPr>
              <a:t>.</a:t>
            </a:r>
          </a:p>
          <a:p>
            <a:pPr algn="just">
              <a:lnSpc>
                <a:spcPts val="3450"/>
              </a:lnSpc>
            </a:pPr>
          </a:p>
          <a:p>
            <a:pPr algn="just">
              <a:lnSpc>
                <a:spcPts val="3450"/>
              </a:lnSpc>
            </a:pPr>
            <a:r>
              <a:rPr lang="en-US" sz="2300">
                <a:solidFill>
                  <a:srgbClr val="000000"/>
                </a:solidFill>
                <a:latin typeface="Poppins"/>
                <a:ea typeface="Poppins"/>
                <a:cs typeface="Poppins"/>
                <a:sym typeface="Poppins"/>
              </a:rPr>
              <a:t>Estimator EKF orde penuh berhasil diimplementasikan, dengan analisis sensitivitas kovariansi Q dan R mengungkap mekanisme kegagalan yang saling melengkapi serta menemukan bahwa </a:t>
            </a:r>
            <a:r>
              <a:rPr lang="en-US" sz="2300" b="true">
                <a:solidFill>
                  <a:srgbClr val="000000"/>
                </a:solidFill>
                <a:latin typeface="Poppins Bold"/>
                <a:ea typeface="Poppins Bold"/>
                <a:cs typeface="Poppins Bold"/>
                <a:sym typeface="Poppins Bold"/>
              </a:rPr>
              <a:t>akurasi estimasi dan keberhasilan switching merupakan aspek performa yang independen</a:t>
            </a:r>
            <a:r>
              <a:rPr lang="en-US" sz="2300">
                <a:solidFill>
                  <a:srgbClr val="000000"/>
                </a:solidFill>
                <a:latin typeface="Poppins"/>
                <a:ea typeface="Poppins"/>
                <a:cs typeface="Poppins"/>
                <a:sym typeface="Poppins"/>
              </a:rPr>
              <a:t>.</a:t>
            </a:r>
          </a:p>
          <a:p>
            <a:pPr algn="just">
              <a:lnSpc>
                <a:spcPts val="3450"/>
              </a:lnSpc>
            </a:pPr>
          </a:p>
          <a:p>
            <a:pPr algn="just">
              <a:lnSpc>
                <a:spcPts val="3450"/>
              </a:lnSpc>
            </a:pPr>
            <a:r>
              <a:rPr lang="en-US" sz="2300">
                <a:solidFill>
                  <a:srgbClr val="000000"/>
                </a:solidFill>
                <a:latin typeface="Poppins"/>
                <a:ea typeface="Poppins"/>
                <a:cs typeface="Poppins"/>
                <a:sym typeface="Poppins"/>
              </a:rPr>
              <a:t>Sist</a:t>
            </a:r>
            <a:r>
              <a:rPr lang="en-US" sz="2300">
                <a:solidFill>
                  <a:srgbClr val="000000"/>
                </a:solidFill>
                <a:latin typeface="Poppins"/>
                <a:ea typeface="Poppins"/>
                <a:cs typeface="Poppins"/>
                <a:sym typeface="Poppins"/>
              </a:rPr>
              <a:t>em Sensorless FOC-EKF </a:t>
            </a:r>
            <a:r>
              <a:rPr lang="en-US" sz="2300" b="true">
                <a:solidFill>
                  <a:srgbClr val="000000"/>
                </a:solidFill>
                <a:latin typeface="Poppins Bold"/>
                <a:ea typeface="Poppins Bold"/>
                <a:cs typeface="Poppins Bold"/>
                <a:sym typeface="Poppins Bold"/>
              </a:rPr>
              <a:t>Arsitektur switching open loop – closed loop berhasil diimplementasikan</a:t>
            </a:r>
            <a:r>
              <a:rPr lang="en-US" sz="2300">
                <a:solidFill>
                  <a:srgbClr val="000000"/>
                </a:solidFill>
                <a:latin typeface="Poppins"/>
                <a:ea typeface="Poppins"/>
                <a:cs typeface="Poppins"/>
                <a:sym typeface="Poppins"/>
              </a:rPr>
              <a:t> pada hardware dengan batas kecepatan operasional yang berhasil diperluas melalui pemilihan kovariansi yang tepat, meskipun menunjukkan konsekuensi berupa galat kecepatan lebih besar, estimasi posisi yang terkunci pada titik kesetimbangan fasa tidak terkendali, dan konsumsi arus yang jauh lebih besar dibandingkan kendali sensored.</a:t>
            </a:r>
          </a:p>
        </p:txBody>
      </p:sp>
      <p:grpSp>
        <p:nvGrpSpPr>
          <p:cNvPr name="Group 12" id="12"/>
          <p:cNvGrpSpPr/>
          <p:nvPr/>
        </p:nvGrpSpPr>
        <p:grpSpPr>
          <a:xfrm rot="0">
            <a:off x="1154658" y="1921318"/>
            <a:ext cx="4666259" cy="922020"/>
            <a:chOff x="0" y="0"/>
            <a:chExt cx="6221678" cy="1229360"/>
          </a:xfrm>
        </p:grpSpPr>
        <p:sp>
          <p:nvSpPr>
            <p:cNvPr name="TextBox 13" id="13"/>
            <p:cNvSpPr txBox="true"/>
            <p:nvPr/>
          </p:nvSpPr>
          <p:spPr>
            <a:xfrm rot="0">
              <a:off x="0" y="95250"/>
              <a:ext cx="1229871" cy="1134110"/>
            </a:xfrm>
            <a:prstGeom prst="rect">
              <a:avLst/>
            </a:prstGeom>
          </p:spPr>
          <p:txBody>
            <a:bodyPr anchor="t" rtlCol="false" tIns="0" lIns="0" bIns="0" rIns="0">
              <a:spAutoFit/>
            </a:bodyPr>
            <a:lstStyle/>
            <a:p>
              <a:pPr algn="l">
                <a:lnSpc>
                  <a:spcPts val="6000"/>
                </a:lnSpc>
              </a:pPr>
              <a:r>
                <a:rPr lang="en-US" b="true" sz="6000">
                  <a:solidFill>
                    <a:srgbClr val="FADB5E"/>
                  </a:solidFill>
                  <a:latin typeface="Bebas Neue 2 Bold"/>
                  <a:ea typeface="Bebas Neue 2 Bold"/>
                  <a:cs typeface="Bebas Neue 2 Bold"/>
                  <a:sym typeface="Bebas Neue 2 Bold"/>
                </a:rPr>
                <a:t>01</a:t>
              </a:r>
            </a:p>
          </p:txBody>
        </p:sp>
        <p:sp>
          <p:nvSpPr>
            <p:cNvPr name="TextBox 14" id="14"/>
            <p:cNvSpPr txBox="true"/>
            <p:nvPr/>
          </p:nvSpPr>
          <p:spPr>
            <a:xfrm rot="0">
              <a:off x="1644572" y="74666"/>
              <a:ext cx="4577106" cy="448345"/>
            </a:xfrm>
            <a:prstGeom prst="rect">
              <a:avLst/>
            </a:prstGeom>
          </p:spPr>
          <p:txBody>
            <a:bodyPr anchor="t" rtlCol="false" tIns="0" lIns="0" bIns="0" rIns="0">
              <a:spAutoFit/>
            </a:bodyPr>
            <a:lstStyle/>
            <a:p>
              <a:pPr algn="l">
                <a:lnSpc>
                  <a:spcPts val="2632"/>
                </a:lnSpc>
              </a:pPr>
            </a:p>
          </p:txBody>
        </p:sp>
        <p:sp>
          <p:nvSpPr>
            <p:cNvPr name="TextBox 15" id="15"/>
            <p:cNvSpPr txBox="true"/>
            <p:nvPr/>
          </p:nvSpPr>
          <p:spPr>
            <a:xfrm rot="0">
              <a:off x="1644572" y="658739"/>
              <a:ext cx="4577106" cy="385247"/>
            </a:xfrm>
            <a:prstGeom prst="rect">
              <a:avLst/>
            </a:prstGeom>
          </p:spPr>
          <p:txBody>
            <a:bodyPr anchor="t" rtlCol="false" tIns="0" lIns="0" bIns="0" rIns="0">
              <a:spAutoFit/>
            </a:bodyPr>
            <a:lstStyle/>
            <a:p>
              <a:pPr algn="l">
                <a:lnSpc>
                  <a:spcPts val="2369"/>
                </a:lnSpc>
              </a:pPr>
            </a:p>
          </p:txBody>
        </p:sp>
      </p:grpSp>
      <p:grpSp>
        <p:nvGrpSpPr>
          <p:cNvPr name="Group 16" id="16"/>
          <p:cNvGrpSpPr/>
          <p:nvPr/>
        </p:nvGrpSpPr>
        <p:grpSpPr>
          <a:xfrm rot="0">
            <a:off x="1154658" y="4051795"/>
            <a:ext cx="4666259" cy="922020"/>
            <a:chOff x="0" y="0"/>
            <a:chExt cx="6221678" cy="1229360"/>
          </a:xfrm>
        </p:grpSpPr>
        <p:sp>
          <p:nvSpPr>
            <p:cNvPr name="TextBox 17" id="17"/>
            <p:cNvSpPr txBox="true"/>
            <p:nvPr/>
          </p:nvSpPr>
          <p:spPr>
            <a:xfrm rot="0">
              <a:off x="0" y="95250"/>
              <a:ext cx="1229871" cy="1134110"/>
            </a:xfrm>
            <a:prstGeom prst="rect">
              <a:avLst/>
            </a:prstGeom>
          </p:spPr>
          <p:txBody>
            <a:bodyPr anchor="t" rtlCol="false" tIns="0" lIns="0" bIns="0" rIns="0">
              <a:spAutoFit/>
            </a:bodyPr>
            <a:lstStyle/>
            <a:p>
              <a:pPr algn="l">
                <a:lnSpc>
                  <a:spcPts val="6000"/>
                </a:lnSpc>
              </a:pPr>
              <a:r>
                <a:rPr lang="en-US" b="true" sz="6000">
                  <a:solidFill>
                    <a:srgbClr val="FADB5E"/>
                  </a:solidFill>
                  <a:latin typeface="Bebas Neue 2 Bold"/>
                  <a:ea typeface="Bebas Neue 2 Bold"/>
                  <a:cs typeface="Bebas Neue 2 Bold"/>
                  <a:sym typeface="Bebas Neue 2 Bold"/>
                </a:rPr>
                <a:t>02</a:t>
              </a:r>
            </a:p>
          </p:txBody>
        </p:sp>
        <p:sp>
          <p:nvSpPr>
            <p:cNvPr name="TextBox 18" id="18"/>
            <p:cNvSpPr txBox="true"/>
            <p:nvPr/>
          </p:nvSpPr>
          <p:spPr>
            <a:xfrm rot="0">
              <a:off x="1644572" y="74666"/>
              <a:ext cx="4577106" cy="448345"/>
            </a:xfrm>
            <a:prstGeom prst="rect">
              <a:avLst/>
            </a:prstGeom>
          </p:spPr>
          <p:txBody>
            <a:bodyPr anchor="t" rtlCol="false" tIns="0" lIns="0" bIns="0" rIns="0">
              <a:spAutoFit/>
            </a:bodyPr>
            <a:lstStyle/>
            <a:p>
              <a:pPr algn="l">
                <a:lnSpc>
                  <a:spcPts val="2632"/>
                </a:lnSpc>
              </a:pPr>
            </a:p>
          </p:txBody>
        </p:sp>
        <p:sp>
          <p:nvSpPr>
            <p:cNvPr name="TextBox 19" id="19"/>
            <p:cNvSpPr txBox="true"/>
            <p:nvPr/>
          </p:nvSpPr>
          <p:spPr>
            <a:xfrm rot="0">
              <a:off x="1644572" y="658739"/>
              <a:ext cx="4577106" cy="385247"/>
            </a:xfrm>
            <a:prstGeom prst="rect">
              <a:avLst/>
            </a:prstGeom>
          </p:spPr>
          <p:txBody>
            <a:bodyPr anchor="t" rtlCol="false" tIns="0" lIns="0" bIns="0" rIns="0">
              <a:spAutoFit/>
            </a:bodyPr>
            <a:lstStyle/>
            <a:p>
              <a:pPr algn="l">
                <a:lnSpc>
                  <a:spcPts val="2369"/>
                </a:lnSpc>
              </a:pPr>
            </a:p>
          </p:txBody>
        </p:sp>
      </p:grpSp>
      <p:grpSp>
        <p:nvGrpSpPr>
          <p:cNvPr name="Group 20" id="20"/>
          <p:cNvGrpSpPr/>
          <p:nvPr/>
        </p:nvGrpSpPr>
        <p:grpSpPr>
          <a:xfrm rot="0">
            <a:off x="1154658" y="5802490"/>
            <a:ext cx="4666259" cy="922020"/>
            <a:chOff x="0" y="0"/>
            <a:chExt cx="6221678" cy="1229360"/>
          </a:xfrm>
        </p:grpSpPr>
        <p:sp>
          <p:nvSpPr>
            <p:cNvPr name="TextBox 21" id="21"/>
            <p:cNvSpPr txBox="true"/>
            <p:nvPr/>
          </p:nvSpPr>
          <p:spPr>
            <a:xfrm rot="0">
              <a:off x="0" y="95250"/>
              <a:ext cx="1229871" cy="1134110"/>
            </a:xfrm>
            <a:prstGeom prst="rect">
              <a:avLst/>
            </a:prstGeom>
          </p:spPr>
          <p:txBody>
            <a:bodyPr anchor="t" rtlCol="false" tIns="0" lIns="0" bIns="0" rIns="0">
              <a:spAutoFit/>
            </a:bodyPr>
            <a:lstStyle/>
            <a:p>
              <a:pPr algn="l">
                <a:lnSpc>
                  <a:spcPts val="6000"/>
                </a:lnSpc>
              </a:pPr>
              <a:r>
                <a:rPr lang="en-US" b="true" sz="6000">
                  <a:solidFill>
                    <a:srgbClr val="FADB5E"/>
                  </a:solidFill>
                  <a:latin typeface="Bebas Neue 2 Bold"/>
                  <a:ea typeface="Bebas Neue 2 Bold"/>
                  <a:cs typeface="Bebas Neue 2 Bold"/>
                  <a:sym typeface="Bebas Neue 2 Bold"/>
                </a:rPr>
                <a:t>03</a:t>
              </a:r>
            </a:p>
          </p:txBody>
        </p:sp>
        <p:sp>
          <p:nvSpPr>
            <p:cNvPr name="TextBox 22" id="22"/>
            <p:cNvSpPr txBox="true"/>
            <p:nvPr/>
          </p:nvSpPr>
          <p:spPr>
            <a:xfrm rot="0">
              <a:off x="1644572" y="74666"/>
              <a:ext cx="4577106" cy="448345"/>
            </a:xfrm>
            <a:prstGeom prst="rect">
              <a:avLst/>
            </a:prstGeom>
          </p:spPr>
          <p:txBody>
            <a:bodyPr anchor="t" rtlCol="false" tIns="0" lIns="0" bIns="0" rIns="0">
              <a:spAutoFit/>
            </a:bodyPr>
            <a:lstStyle/>
            <a:p>
              <a:pPr algn="l">
                <a:lnSpc>
                  <a:spcPts val="2632"/>
                </a:lnSpc>
              </a:pPr>
            </a:p>
          </p:txBody>
        </p:sp>
        <p:sp>
          <p:nvSpPr>
            <p:cNvPr name="TextBox 23" id="23"/>
            <p:cNvSpPr txBox="true"/>
            <p:nvPr/>
          </p:nvSpPr>
          <p:spPr>
            <a:xfrm rot="0">
              <a:off x="1644572" y="658739"/>
              <a:ext cx="4577106" cy="385247"/>
            </a:xfrm>
            <a:prstGeom prst="rect">
              <a:avLst/>
            </a:prstGeom>
          </p:spPr>
          <p:txBody>
            <a:bodyPr anchor="t" rtlCol="false" tIns="0" lIns="0" bIns="0" rIns="0">
              <a:spAutoFit/>
            </a:bodyPr>
            <a:lstStyle/>
            <a:p>
              <a:pPr algn="l">
                <a:lnSpc>
                  <a:spcPts val="2369"/>
                </a:lnSpc>
              </a:pPr>
            </a:p>
          </p:txBody>
        </p:sp>
      </p:grpSp>
      <p:grpSp>
        <p:nvGrpSpPr>
          <p:cNvPr name="Group 24" id="24"/>
          <p:cNvGrpSpPr/>
          <p:nvPr/>
        </p:nvGrpSpPr>
        <p:grpSpPr>
          <a:xfrm rot="0">
            <a:off x="1154658" y="7553185"/>
            <a:ext cx="4666259" cy="922020"/>
            <a:chOff x="0" y="0"/>
            <a:chExt cx="6221678" cy="1229360"/>
          </a:xfrm>
        </p:grpSpPr>
        <p:sp>
          <p:nvSpPr>
            <p:cNvPr name="TextBox 25" id="25"/>
            <p:cNvSpPr txBox="true"/>
            <p:nvPr/>
          </p:nvSpPr>
          <p:spPr>
            <a:xfrm rot="0">
              <a:off x="0" y="95250"/>
              <a:ext cx="1229871" cy="1134110"/>
            </a:xfrm>
            <a:prstGeom prst="rect">
              <a:avLst/>
            </a:prstGeom>
          </p:spPr>
          <p:txBody>
            <a:bodyPr anchor="t" rtlCol="false" tIns="0" lIns="0" bIns="0" rIns="0">
              <a:spAutoFit/>
            </a:bodyPr>
            <a:lstStyle/>
            <a:p>
              <a:pPr algn="l">
                <a:lnSpc>
                  <a:spcPts val="6000"/>
                </a:lnSpc>
              </a:pPr>
              <a:r>
                <a:rPr lang="en-US" b="true" sz="6000">
                  <a:solidFill>
                    <a:srgbClr val="FADB5E"/>
                  </a:solidFill>
                  <a:latin typeface="Bebas Neue 2 Bold"/>
                  <a:ea typeface="Bebas Neue 2 Bold"/>
                  <a:cs typeface="Bebas Neue 2 Bold"/>
                  <a:sym typeface="Bebas Neue 2 Bold"/>
                </a:rPr>
                <a:t>04</a:t>
              </a:r>
            </a:p>
          </p:txBody>
        </p:sp>
        <p:sp>
          <p:nvSpPr>
            <p:cNvPr name="TextBox 26" id="26"/>
            <p:cNvSpPr txBox="true"/>
            <p:nvPr/>
          </p:nvSpPr>
          <p:spPr>
            <a:xfrm rot="0">
              <a:off x="1644572" y="74666"/>
              <a:ext cx="4577106" cy="448345"/>
            </a:xfrm>
            <a:prstGeom prst="rect">
              <a:avLst/>
            </a:prstGeom>
          </p:spPr>
          <p:txBody>
            <a:bodyPr anchor="t" rtlCol="false" tIns="0" lIns="0" bIns="0" rIns="0">
              <a:spAutoFit/>
            </a:bodyPr>
            <a:lstStyle/>
            <a:p>
              <a:pPr algn="l">
                <a:lnSpc>
                  <a:spcPts val="2632"/>
                </a:lnSpc>
              </a:pPr>
            </a:p>
          </p:txBody>
        </p:sp>
        <p:sp>
          <p:nvSpPr>
            <p:cNvPr name="TextBox 27" id="27"/>
            <p:cNvSpPr txBox="true"/>
            <p:nvPr/>
          </p:nvSpPr>
          <p:spPr>
            <a:xfrm rot="0">
              <a:off x="1644572" y="658739"/>
              <a:ext cx="4577106" cy="385247"/>
            </a:xfrm>
            <a:prstGeom prst="rect">
              <a:avLst/>
            </a:prstGeom>
          </p:spPr>
          <p:txBody>
            <a:bodyPr anchor="t" rtlCol="false" tIns="0" lIns="0" bIns="0" rIns="0">
              <a:spAutoFit/>
            </a:bodyPr>
            <a:lstStyle/>
            <a:p>
              <a:pPr algn="l">
                <a:lnSpc>
                  <a:spcPts val="2369"/>
                </a:lnSpc>
              </a:pPr>
            </a:p>
          </p:txBody>
        </p:sp>
      </p:gr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4816593" cy="2709333"/>
          </a:xfrm>
        </p:grpSpPr>
        <p:sp>
          <p:nvSpPr>
            <p:cNvPr name="Freeform 3" id="3"/>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59524B"/>
            </a:solidFill>
          </p:spPr>
        </p:sp>
        <p:sp>
          <p:nvSpPr>
            <p:cNvPr name="TextBox 4" id="4"/>
            <p:cNvSpPr txBox="true"/>
            <p:nvPr/>
          </p:nvSpPr>
          <p:spPr>
            <a:xfrm>
              <a:off x="0" y="-38100"/>
              <a:ext cx="4816593" cy="2747433"/>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723147" y="0"/>
            <a:ext cx="21734294" cy="10287000"/>
          </a:xfrm>
          <a:custGeom>
            <a:avLst/>
            <a:gdLst/>
            <a:ahLst/>
            <a:cxnLst/>
            <a:rect r="r" b="b" t="t" l="l"/>
            <a:pathLst>
              <a:path h="10287000" w="21734294">
                <a:moveTo>
                  <a:pt x="0" y="0"/>
                </a:moveTo>
                <a:lnTo>
                  <a:pt x="21734294" y="0"/>
                </a:lnTo>
                <a:lnTo>
                  <a:pt x="21734294" y="10287000"/>
                </a:lnTo>
                <a:lnTo>
                  <a:pt x="0" y="10287000"/>
                </a:lnTo>
                <a:lnTo>
                  <a:pt x="0" y="0"/>
                </a:lnTo>
                <a:close/>
              </a:path>
            </a:pathLst>
          </a:custGeom>
          <a:blipFill>
            <a:blip r:embed="rId2">
              <a:alphaModFix amt="50000"/>
            </a:blip>
            <a:stretch>
              <a:fillRect l="0" t="0" r="0" b="0"/>
            </a:stretch>
          </a:blipFill>
        </p:spPr>
      </p:sp>
      <p:grpSp>
        <p:nvGrpSpPr>
          <p:cNvPr name="Group 6" id="6"/>
          <p:cNvGrpSpPr/>
          <p:nvPr/>
        </p:nvGrpSpPr>
        <p:grpSpPr>
          <a:xfrm rot="0">
            <a:off x="4853953" y="4169257"/>
            <a:ext cx="8580094" cy="1948485"/>
            <a:chOff x="0" y="0"/>
            <a:chExt cx="1789570" cy="406400"/>
          </a:xfrm>
        </p:grpSpPr>
        <p:sp>
          <p:nvSpPr>
            <p:cNvPr name="Freeform 7" id="7"/>
            <p:cNvSpPr/>
            <p:nvPr/>
          </p:nvSpPr>
          <p:spPr>
            <a:xfrm flipH="false" flipV="false" rot="0">
              <a:off x="0" y="0"/>
              <a:ext cx="1789570" cy="406400"/>
            </a:xfrm>
            <a:custGeom>
              <a:avLst/>
              <a:gdLst/>
              <a:ahLst/>
              <a:cxnLst/>
              <a:rect r="r" b="b" t="t" l="l"/>
              <a:pathLst>
                <a:path h="406400" w="1789570">
                  <a:moveTo>
                    <a:pt x="1586370" y="0"/>
                  </a:moveTo>
                  <a:cubicBezTo>
                    <a:pt x="1698594" y="0"/>
                    <a:pt x="1789570" y="90976"/>
                    <a:pt x="1789570" y="203200"/>
                  </a:cubicBezTo>
                  <a:cubicBezTo>
                    <a:pt x="1789570" y="315424"/>
                    <a:pt x="1698594" y="406400"/>
                    <a:pt x="1586370"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8" id="8"/>
            <p:cNvSpPr txBox="true"/>
            <p:nvPr/>
          </p:nvSpPr>
          <p:spPr>
            <a:xfrm>
              <a:off x="0" y="-38100"/>
              <a:ext cx="1789570" cy="4445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3038174" y="458478"/>
            <a:ext cx="4563040" cy="1140443"/>
            <a:chOff x="0" y="0"/>
            <a:chExt cx="6084053" cy="1520591"/>
          </a:xfrm>
        </p:grpSpPr>
        <p:grpSp>
          <p:nvGrpSpPr>
            <p:cNvPr name="Group 10" id="10"/>
            <p:cNvGrpSpPr/>
            <p:nvPr/>
          </p:nvGrpSpPr>
          <p:grpSpPr>
            <a:xfrm rot="0">
              <a:off x="0" y="0"/>
              <a:ext cx="6084053" cy="1520591"/>
              <a:chOff x="0" y="0"/>
              <a:chExt cx="1626052" cy="406400"/>
            </a:xfrm>
          </p:grpSpPr>
          <p:sp>
            <p:nvSpPr>
              <p:cNvPr name="Freeform 11" id="11"/>
              <p:cNvSpPr/>
              <p:nvPr/>
            </p:nvSpPr>
            <p:spPr>
              <a:xfrm flipH="false" flipV="false" rot="0">
                <a:off x="0" y="0"/>
                <a:ext cx="1626052" cy="406400"/>
              </a:xfrm>
              <a:custGeom>
                <a:avLst/>
                <a:gdLst/>
                <a:ahLst/>
                <a:cxnLst/>
                <a:rect r="r" b="b" t="t" l="l"/>
                <a:pathLst>
                  <a:path h="406400" w="1626052">
                    <a:moveTo>
                      <a:pt x="1422852" y="0"/>
                    </a:moveTo>
                    <a:cubicBezTo>
                      <a:pt x="1535076" y="0"/>
                      <a:pt x="1626052" y="90976"/>
                      <a:pt x="1626052" y="203200"/>
                    </a:cubicBezTo>
                    <a:cubicBezTo>
                      <a:pt x="1626052" y="315424"/>
                      <a:pt x="1535076" y="406400"/>
                      <a:pt x="1422852" y="406400"/>
                    </a:cubicBezTo>
                    <a:lnTo>
                      <a:pt x="203200" y="406400"/>
                    </a:lnTo>
                    <a:cubicBezTo>
                      <a:pt x="90976" y="406400"/>
                      <a:pt x="0" y="315424"/>
                      <a:pt x="0" y="203200"/>
                    </a:cubicBezTo>
                    <a:cubicBezTo>
                      <a:pt x="0" y="90976"/>
                      <a:pt x="90976" y="0"/>
                      <a:pt x="203200" y="0"/>
                    </a:cubicBezTo>
                    <a:close/>
                  </a:path>
                </a:pathLst>
              </a:custGeom>
              <a:solidFill>
                <a:srgbClr val="F2F2F2"/>
              </a:solidFill>
            </p:spPr>
          </p:sp>
          <p:sp>
            <p:nvSpPr>
              <p:cNvPr name="TextBox 12" id="12"/>
              <p:cNvSpPr txBox="true"/>
              <p:nvPr/>
            </p:nvSpPr>
            <p:spPr>
              <a:xfrm>
                <a:off x="0" y="-38100"/>
                <a:ext cx="1626052" cy="444500"/>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414535" y="124612"/>
              <a:ext cx="5254984" cy="1271367"/>
            </a:xfrm>
            <a:custGeom>
              <a:avLst/>
              <a:gdLst/>
              <a:ahLst/>
              <a:cxnLst/>
              <a:rect r="r" b="b" t="t" l="l"/>
              <a:pathLst>
                <a:path h="1271367" w="5254984">
                  <a:moveTo>
                    <a:pt x="0" y="0"/>
                  </a:moveTo>
                  <a:lnTo>
                    <a:pt x="5254983" y="0"/>
                  </a:lnTo>
                  <a:lnTo>
                    <a:pt x="5254983" y="1271367"/>
                  </a:lnTo>
                  <a:lnTo>
                    <a:pt x="0" y="1271367"/>
                  </a:lnTo>
                  <a:lnTo>
                    <a:pt x="0" y="0"/>
                  </a:lnTo>
                  <a:close/>
                </a:path>
              </a:pathLst>
            </a:custGeom>
            <a:blipFill>
              <a:blip r:embed="rId3"/>
              <a:stretch>
                <a:fillRect l="0" t="0" r="0" b="0"/>
              </a:stretch>
            </a:blipFill>
          </p:spPr>
        </p:sp>
      </p:grpSp>
      <p:sp>
        <p:nvSpPr>
          <p:cNvPr name="TextBox 14" id="14"/>
          <p:cNvSpPr txBox="true"/>
          <p:nvPr/>
        </p:nvSpPr>
        <p:spPr>
          <a:xfrm rot="0">
            <a:off x="5196785" y="4186490"/>
            <a:ext cx="7894431" cy="1713996"/>
          </a:xfrm>
          <a:prstGeom prst="rect">
            <a:avLst/>
          </a:prstGeom>
        </p:spPr>
        <p:txBody>
          <a:bodyPr anchor="t" rtlCol="false" tIns="0" lIns="0" bIns="0" rIns="0">
            <a:spAutoFit/>
          </a:bodyPr>
          <a:lstStyle/>
          <a:p>
            <a:pPr algn="ctr">
              <a:lnSpc>
                <a:spcPts val="13911"/>
              </a:lnSpc>
            </a:pPr>
            <a:r>
              <a:rPr lang="en-US" sz="9937">
                <a:solidFill>
                  <a:srgbClr val="59524B"/>
                </a:solidFill>
                <a:latin typeface="Bebas Neue 1"/>
                <a:ea typeface="Bebas Neue 1"/>
                <a:cs typeface="Bebas Neue 1"/>
                <a:sym typeface="Bebas Neue 1"/>
              </a:rPr>
              <a:t>Terima Kasih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DAHPXw0T4LY</dc:identifier>
  <dcterms:modified xsi:type="dcterms:W3CDTF">2011-08-01T06:04:30Z</dcterms:modified>
  <cp:revision>1</cp:revision>
  <dc:title>Sidang TA</dc:title>
</cp:coreProperties>
</file>