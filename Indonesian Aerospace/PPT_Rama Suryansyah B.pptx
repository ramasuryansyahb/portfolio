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 Bold" charset="1" panose="00000800000000000000"/>
      <p:regular r:id="rId22"/>
    </p:embeddedFont>
    <p:embeddedFont>
      <p:font typeface="Poppins" charset="1" panose="00000500000000000000"/>
      <p:regular r:id="rId23"/>
    </p:embeddedFont>
    <p:embeddedFont>
      <p:font typeface="Bebas Neue" charset="1" panose="020B0606020202050201"/>
      <p:regular r:id="rId24"/>
    </p:embeddedFont>
    <p:embeddedFont>
      <p:font typeface="Poppins Bold Italics" charset="1" panose="00000800000000000000"/>
      <p:regular r:id="rId25"/>
    </p:embeddedFont>
    <p:embeddedFont>
      <p:font typeface="Poppins Italics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3.png" Type="http://schemas.openxmlformats.org/officeDocument/2006/relationships/image"/><Relationship Id="rId4" Target="../media/image24.jpe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2" Target="../media/image1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4.png" Type="http://schemas.openxmlformats.org/officeDocument/2006/relationships/image"/><Relationship Id="rId4" Target="../media/image26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2" t="0" r="-16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6045" y="364462"/>
            <a:ext cx="19636576" cy="12052610"/>
          </a:xfrm>
          <a:custGeom>
            <a:avLst/>
            <a:gdLst/>
            <a:ahLst/>
            <a:cxnLst/>
            <a:rect r="r" b="b" t="t" l="l"/>
            <a:pathLst>
              <a:path h="12052610" w="19636576">
                <a:moveTo>
                  <a:pt x="0" y="0"/>
                </a:moveTo>
                <a:lnTo>
                  <a:pt x="19636576" y="0"/>
                </a:lnTo>
                <a:lnTo>
                  <a:pt x="19636576" y="12052609"/>
                </a:lnTo>
                <a:lnTo>
                  <a:pt x="0" y="12052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0" t="0" r="-1574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8896" y="506481"/>
            <a:ext cx="12833396" cy="3053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19"/>
              </a:lnSpc>
              <a:spcBef>
                <a:spcPct val="0"/>
              </a:spcBef>
            </a:pPr>
            <a:r>
              <a:rPr lang="en-US" b="true" sz="4299">
                <a:solidFill>
                  <a:srgbClr val="FADB5E"/>
                </a:solidFill>
                <a:latin typeface="Poppins Bold"/>
                <a:ea typeface="Poppins Bold"/>
                <a:cs typeface="Poppins Bold"/>
                <a:sym typeface="Poppins Bold"/>
              </a:rPr>
              <a:t>ANALISIS PERANCANGAN PENGENDALI ROBUST H2/H∞ UNTUK SISTEM KOORDINASI BELOKAN MODE HALF-BANK PADA AUTO-PILOT PESAWAT CN235-220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8896" y="7442474"/>
            <a:ext cx="4156557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ADB5E"/>
                </a:solidFill>
                <a:latin typeface="Poppins Bold"/>
                <a:ea typeface="Poppins Bold"/>
                <a:cs typeface="Poppins Bold"/>
                <a:sym typeface="Poppins Bold"/>
              </a:rPr>
              <a:t>CREATED BY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8896" y="7994809"/>
            <a:ext cx="12395362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Rama Suryansyah Budianto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Departemen Teknik Fisika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Fakultas Teknologi Industri dan Rekayasa Sistem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Institut Teknologi Sepuluh Nopember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8896" y="3710375"/>
            <a:ext cx="6416698" cy="6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PT Dirgantara Indonesia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2" t="0" r="-166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2546">
            <a:off x="563706" y="552492"/>
            <a:ext cx="6673844" cy="1195644"/>
            <a:chOff x="0" y="0"/>
            <a:chExt cx="1757720" cy="3149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57720" cy="314902"/>
            </a:xfrm>
            <a:custGeom>
              <a:avLst/>
              <a:gdLst/>
              <a:ahLst/>
              <a:cxnLst/>
              <a:rect r="r" b="b" t="t" l="l"/>
              <a:pathLst>
                <a:path h="314902" w="1757720">
                  <a:moveTo>
                    <a:pt x="0" y="0"/>
                  </a:moveTo>
                  <a:lnTo>
                    <a:pt x="1757720" y="0"/>
                  </a:lnTo>
                  <a:lnTo>
                    <a:pt x="1757720" y="314902"/>
                  </a:lnTo>
                  <a:lnTo>
                    <a:pt x="0" y="314902"/>
                  </a:lnTo>
                  <a:close/>
                </a:path>
              </a:pathLst>
            </a:custGeom>
            <a:solidFill>
              <a:srgbClr val="E5C85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57720" cy="353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71312" y="1605634"/>
            <a:ext cx="7099839" cy="1292275"/>
            <a:chOff x="0" y="0"/>
            <a:chExt cx="2187934" cy="3982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7934" cy="398236"/>
            </a:xfrm>
            <a:custGeom>
              <a:avLst/>
              <a:gdLst/>
              <a:ahLst/>
              <a:cxnLst/>
              <a:rect r="r" b="b" t="t" l="l"/>
              <a:pathLst>
                <a:path h="398236" w="2187934">
                  <a:moveTo>
                    <a:pt x="0" y="0"/>
                  </a:moveTo>
                  <a:lnTo>
                    <a:pt x="2187934" y="0"/>
                  </a:lnTo>
                  <a:lnTo>
                    <a:pt x="2187934" y="398236"/>
                  </a:lnTo>
                  <a:lnTo>
                    <a:pt x="0" y="398236"/>
                  </a:ln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87934" cy="436336"/>
            </a:xfrm>
            <a:prstGeom prst="rect">
              <a:avLst/>
            </a:prstGeom>
          </p:spPr>
          <p:txBody>
            <a:bodyPr anchor="ctr" rtlCol="false" tIns="43416" lIns="43416" bIns="43416" rIns="4341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71312" y="3949692"/>
            <a:ext cx="8404913" cy="5253071"/>
          </a:xfrm>
          <a:custGeom>
            <a:avLst/>
            <a:gdLst/>
            <a:ahLst/>
            <a:cxnLst/>
            <a:rect r="r" b="b" t="t" l="l"/>
            <a:pathLst>
              <a:path h="5253071" w="8404913">
                <a:moveTo>
                  <a:pt x="0" y="0"/>
                </a:moveTo>
                <a:lnTo>
                  <a:pt x="8404913" y="0"/>
                </a:lnTo>
                <a:lnTo>
                  <a:pt x="8404913" y="5253070"/>
                </a:lnTo>
                <a:lnTo>
                  <a:pt x="0" y="52530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41" t="0" r="-2241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40149" y="1653396"/>
            <a:ext cx="6562165" cy="109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52"/>
              </a:lnSpc>
            </a:pPr>
            <a:r>
              <a:rPr lang="en-US" sz="6322">
                <a:solidFill>
                  <a:srgbClr val="E5C857"/>
                </a:solidFill>
                <a:latin typeface="Bebas Neue"/>
                <a:ea typeface="Bebas Neue"/>
                <a:cs typeface="Bebas Neue"/>
                <a:sym typeface="Bebas Neue"/>
              </a:rPr>
              <a:t>pt dirgantara indonesia</a:t>
            </a:r>
          </a:p>
        </p:txBody>
      </p:sp>
      <p:sp>
        <p:nvSpPr>
          <p:cNvPr name="TextBox 11" id="11"/>
          <p:cNvSpPr txBox="true"/>
          <p:nvPr/>
        </p:nvSpPr>
        <p:spPr>
          <a:xfrm rot="-95970">
            <a:off x="552050" y="546382"/>
            <a:ext cx="6689145" cy="109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52"/>
              </a:lnSpc>
            </a:pPr>
            <a:r>
              <a:rPr lang="en-US" sz="6322">
                <a:solidFill>
                  <a:srgbClr val="144783"/>
                </a:solidFill>
                <a:latin typeface="Bebas Neue"/>
                <a:ea typeface="Bebas Neue"/>
                <a:cs typeface="Bebas Neue"/>
                <a:sym typeface="Bebas Neue"/>
              </a:rPr>
              <a:t>Profil Perusahaan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37515" y="2104343"/>
            <a:ext cx="7521785" cy="360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0"/>
              </a:lnSpc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PT. Dirgantara Indonesia 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atau</a:t>
            </a: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Indonesian Aerospace (IAe) 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adalah salah satu perusahaan kedirgantaraan terkemuka di Asia dengan kompetensi inti pada </a:t>
            </a: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desain, pengembangan, pembuatan, dan perawatan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wahana udara untuk kebutuhan sipil dan militer.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737515" y="6068054"/>
            <a:ext cx="471826" cy="47182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515146" y="5993452"/>
            <a:ext cx="6286766" cy="51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0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Didirikan sejak tahun 1976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737515" y="6901830"/>
            <a:ext cx="471826" cy="47182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515146" y="6827228"/>
            <a:ext cx="6286766" cy="51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0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Total 3.720 karyawan 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37515" y="7735605"/>
            <a:ext cx="471826" cy="47182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515146" y="7657808"/>
            <a:ext cx="6286766" cy="154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0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Meliputi wilayah 86,98 hektar bangunan, dan ditopang oleh 232 unit independen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2" t="0" r="-166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8310" y="517915"/>
            <a:ext cx="7099839" cy="1292275"/>
            <a:chOff x="0" y="0"/>
            <a:chExt cx="2187934" cy="3982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7934" cy="398236"/>
            </a:xfrm>
            <a:custGeom>
              <a:avLst/>
              <a:gdLst/>
              <a:ahLst/>
              <a:cxnLst/>
              <a:rect r="r" b="b" t="t" l="l"/>
              <a:pathLst>
                <a:path h="398236" w="2187934">
                  <a:moveTo>
                    <a:pt x="0" y="0"/>
                  </a:moveTo>
                  <a:lnTo>
                    <a:pt x="2187934" y="0"/>
                  </a:lnTo>
                  <a:lnTo>
                    <a:pt x="2187934" y="398236"/>
                  </a:lnTo>
                  <a:lnTo>
                    <a:pt x="0" y="398236"/>
                  </a:ln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87934" cy="436336"/>
            </a:xfrm>
            <a:prstGeom prst="rect">
              <a:avLst/>
            </a:prstGeom>
          </p:spPr>
          <p:txBody>
            <a:bodyPr anchor="ctr" rtlCol="false" tIns="43416" lIns="43416" bIns="43416" rIns="4341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145899"/>
            <a:ext cx="9398129" cy="5544896"/>
          </a:xfrm>
          <a:custGeom>
            <a:avLst/>
            <a:gdLst/>
            <a:ahLst/>
            <a:cxnLst/>
            <a:rect r="r" b="b" t="t" l="l"/>
            <a:pathLst>
              <a:path h="5544896" w="9398129">
                <a:moveTo>
                  <a:pt x="0" y="0"/>
                </a:moveTo>
                <a:lnTo>
                  <a:pt x="9398129" y="0"/>
                </a:lnTo>
                <a:lnTo>
                  <a:pt x="9398129" y="5544896"/>
                </a:lnTo>
                <a:lnTo>
                  <a:pt x="0" y="5544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0731629" y="3952101"/>
            <a:ext cx="471826" cy="47182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31629" y="4739486"/>
            <a:ext cx="471826" cy="47182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731629" y="5892012"/>
            <a:ext cx="471826" cy="47182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1629" y="7541435"/>
            <a:ext cx="471826" cy="47182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67147" y="565676"/>
            <a:ext cx="6562165" cy="109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52"/>
              </a:lnSpc>
            </a:pPr>
            <a:r>
              <a:rPr lang="en-US" sz="6322">
                <a:solidFill>
                  <a:srgbClr val="E5C857"/>
                </a:solidFill>
                <a:latin typeface="Bebas Neue"/>
                <a:ea typeface="Bebas Neue"/>
                <a:cs typeface="Bebas Neue"/>
                <a:sym typeface="Bebas Neue"/>
              </a:rPr>
              <a:t>STruktur organisasi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00623" y="933450"/>
            <a:ext cx="6320688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PT Dirgantara Indonesia telah melahirkan 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lebih dari 300 unit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pesawat &amp; helikopter, sistem pertahanan, komponen pesawat dan layanan lainnya. Disebar menjadi delapan belas unit bisnis.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09259" y="3887024"/>
            <a:ext cx="628676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Aircraft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(Pesawat &amp; Helikopter)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09259" y="4644236"/>
            <a:ext cx="5927995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Aircraft Services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(Maintenance, Overhaul, Perbaikan dan Perubahan)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09259" y="5826934"/>
            <a:ext cx="5681046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Aerostructure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(Parts &amp; Components, Assemblies, Assemblies Tools &amp; Equipment)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09259" y="7476357"/>
            <a:ext cx="5681046" cy="233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Engineering Services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(Communication Technology, Simulator Teknologi, Information Technology Solution, Design Center)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2" t="0" r="-166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8310" y="517915"/>
            <a:ext cx="7099839" cy="1292275"/>
            <a:chOff x="0" y="0"/>
            <a:chExt cx="2187934" cy="3982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7934" cy="398236"/>
            </a:xfrm>
            <a:custGeom>
              <a:avLst/>
              <a:gdLst/>
              <a:ahLst/>
              <a:cxnLst/>
              <a:rect r="r" b="b" t="t" l="l"/>
              <a:pathLst>
                <a:path h="398236" w="2187934">
                  <a:moveTo>
                    <a:pt x="0" y="0"/>
                  </a:moveTo>
                  <a:lnTo>
                    <a:pt x="2187934" y="0"/>
                  </a:lnTo>
                  <a:lnTo>
                    <a:pt x="2187934" y="398236"/>
                  </a:lnTo>
                  <a:lnTo>
                    <a:pt x="0" y="398236"/>
                  </a:ln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87934" cy="436336"/>
            </a:xfrm>
            <a:prstGeom prst="rect">
              <a:avLst/>
            </a:prstGeom>
          </p:spPr>
          <p:txBody>
            <a:bodyPr anchor="ctr" rtlCol="false" tIns="43416" lIns="43416" bIns="43416" rIns="4341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1629" y="3952101"/>
            <a:ext cx="471826" cy="47182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1629" y="4739486"/>
            <a:ext cx="471826" cy="47182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731629" y="5892012"/>
            <a:ext cx="471826" cy="47182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456535" y="2181403"/>
            <a:ext cx="13374930" cy="5587991"/>
          </a:xfrm>
          <a:custGeom>
            <a:avLst/>
            <a:gdLst/>
            <a:ahLst/>
            <a:cxnLst/>
            <a:rect r="r" b="b" t="t" l="l"/>
            <a:pathLst>
              <a:path h="5587991" w="13374930">
                <a:moveTo>
                  <a:pt x="0" y="0"/>
                </a:moveTo>
                <a:lnTo>
                  <a:pt x="13374930" y="0"/>
                </a:lnTo>
                <a:lnTo>
                  <a:pt x="13374930" y="5587992"/>
                </a:lnTo>
                <a:lnTo>
                  <a:pt x="0" y="55879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4" r="0" b="-114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67147" y="645867"/>
            <a:ext cx="6562165" cy="92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2"/>
              </a:lnSpc>
            </a:pPr>
            <a:r>
              <a:rPr lang="en-US" sz="5322">
                <a:solidFill>
                  <a:srgbClr val="E5C857"/>
                </a:solidFill>
                <a:latin typeface="Bebas Neue"/>
                <a:ea typeface="Bebas Neue"/>
                <a:cs typeface="Bebas Neue"/>
                <a:sym typeface="Bebas Neue"/>
              </a:rPr>
              <a:t>ruang lingkup kerja praktik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8212455"/>
            <a:ext cx="1623060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Divisi Pusat Inovasi &amp; Teknologi Kedirgantaraan </a:t>
            </a:r>
          </a:p>
          <a:p>
            <a:pPr algn="ctr">
              <a:lnSpc>
                <a:spcPts val="4199"/>
              </a:lnSpc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Departemen Rancang Bangun &amp; Analisa Sistem – TD4000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2" t="0" r="-166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55018" y="430878"/>
            <a:ext cx="7811550" cy="1195644"/>
            <a:chOff x="0" y="0"/>
            <a:chExt cx="2057363" cy="3149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57363" cy="314902"/>
            </a:xfrm>
            <a:custGeom>
              <a:avLst/>
              <a:gdLst/>
              <a:ahLst/>
              <a:cxnLst/>
              <a:rect r="r" b="b" t="t" l="l"/>
              <a:pathLst>
                <a:path h="314902" w="2057363">
                  <a:moveTo>
                    <a:pt x="0" y="0"/>
                  </a:moveTo>
                  <a:lnTo>
                    <a:pt x="2057363" y="0"/>
                  </a:lnTo>
                  <a:lnTo>
                    <a:pt x="2057363" y="314902"/>
                  </a:lnTo>
                  <a:lnTo>
                    <a:pt x="0" y="314902"/>
                  </a:lnTo>
                  <a:close/>
                </a:path>
              </a:pathLst>
            </a:custGeom>
            <a:solidFill>
              <a:srgbClr val="E5C85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57363" cy="353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89238" y="1028700"/>
            <a:ext cx="15750592" cy="7863221"/>
          </a:xfrm>
          <a:custGeom>
            <a:avLst/>
            <a:gdLst/>
            <a:ahLst/>
            <a:cxnLst/>
            <a:rect r="r" b="b" t="t" l="l"/>
            <a:pathLst>
              <a:path h="7863221" w="15750592">
                <a:moveTo>
                  <a:pt x="0" y="0"/>
                </a:moveTo>
                <a:lnTo>
                  <a:pt x="15750592" y="0"/>
                </a:lnTo>
                <a:lnTo>
                  <a:pt x="15750592" y="7863221"/>
                </a:lnTo>
                <a:lnTo>
                  <a:pt x="0" y="7863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-34817" t="-5081" r="-1943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19227" y="419695"/>
            <a:ext cx="7140073" cy="9447609"/>
          </a:xfrm>
          <a:custGeom>
            <a:avLst/>
            <a:gdLst/>
            <a:ahLst/>
            <a:cxnLst/>
            <a:rect r="r" b="b" t="t" l="l"/>
            <a:pathLst>
              <a:path h="9447609" w="7140073">
                <a:moveTo>
                  <a:pt x="0" y="0"/>
                </a:moveTo>
                <a:lnTo>
                  <a:pt x="7140073" y="0"/>
                </a:lnTo>
                <a:lnTo>
                  <a:pt x="7140073" y="9447610"/>
                </a:lnTo>
                <a:lnTo>
                  <a:pt x="0" y="94476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15743" y="518770"/>
            <a:ext cx="7490100" cy="90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5223">
                <a:solidFill>
                  <a:srgbClr val="144783"/>
                </a:solidFill>
                <a:latin typeface="Bebas Neue"/>
                <a:ea typeface="Bebas Neue"/>
                <a:cs typeface="Bebas Neue"/>
                <a:sym typeface="Bebas Neue"/>
              </a:rPr>
              <a:t>Deskripsi kegiatan kerja praktik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018" y="4306897"/>
            <a:ext cx="4289941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ADB5E"/>
                </a:solidFill>
                <a:latin typeface="Poppins Bold"/>
                <a:ea typeface="Poppins Bold"/>
                <a:cs typeface="Poppins Bold"/>
                <a:sym typeface="Poppins Bold"/>
              </a:rPr>
              <a:t>Fokus Pembelajaran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5018" y="2735123"/>
            <a:ext cx="8688982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40 Hari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dengan waktu kerja Senin - Jumat dimulai pada pukul 08.30 WIB dan berakhir pada pukul 15.30 WIB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5018" y="2076449"/>
            <a:ext cx="4156557" cy="55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ADB5E"/>
                </a:solidFill>
                <a:latin typeface="Poppins Bold"/>
                <a:ea typeface="Poppins Bold"/>
                <a:cs typeface="Poppins Bold"/>
                <a:sym typeface="Poppins Bold"/>
              </a:rPr>
              <a:t>Waktu Pelaksanaan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2825" y="5502931"/>
            <a:ext cx="785117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Studi literatur dokumen teknis Pesawat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5018" y="4926023"/>
            <a:ext cx="868898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Bidang Flight Control System - Sistem Autopilot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56874" y="5512764"/>
            <a:ext cx="471826" cy="47182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85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92825" y="6193832"/>
            <a:ext cx="785117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Analisis data Pesawat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56874" y="6203664"/>
            <a:ext cx="471826" cy="47182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85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92825" y="6884732"/>
            <a:ext cx="7851175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Permodelan matematis dan perancangan sistem kendali terbang 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56874" y="6894565"/>
            <a:ext cx="471826" cy="47182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85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92825" y="7880740"/>
            <a:ext cx="785117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Perancangan program simulasi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56874" y="7890573"/>
            <a:ext cx="471826" cy="471826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85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92825" y="8571641"/>
            <a:ext cx="7851175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Riset dan implementasi metodelogi tugas khusus yang diajukan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56874" y="8581473"/>
            <a:ext cx="471826" cy="471826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85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2" t="0" r="-166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55018" y="430878"/>
            <a:ext cx="2856642" cy="1195644"/>
            <a:chOff x="0" y="0"/>
            <a:chExt cx="752367" cy="3149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52367" cy="314902"/>
            </a:xfrm>
            <a:custGeom>
              <a:avLst/>
              <a:gdLst/>
              <a:ahLst/>
              <a:cxnLst/>
              <a:rect r="r" b="b" t="t" l="l"/>
              <a:pathLst>
                <a:path h="314902" w="752367">
                  <a:moveTo>
                    <a:pt x="0" y="0"/>
                  </a:moveTo>
                  <a:lnTo>
                    <a:pt x="752367" y="0"/>
                  </a:lnTo>
                  <a:lnTo>
                    <a:pt x="752367" y="314902"/>
                  </a:lnTo>
                  <a:lnTo>
                    <a:pt x="0" y="314902"/>
                  </a:lnTo>
                  <a:close/>
                </a:path>
              </a:pathLst>
            </a:custGeom>
            <a:solidFill>
              <a:srgbClr val="E5C85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52367" cy="353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989168" y="4671759"/>
            <a:ext cx="7243230" cy="5135054"/>
          </a:xfrm>
          <a:custGeom>
            <a:avLst/>
            <a:gdLst/>
            <a:ahLst/>
            <a:cxnLst/>
            <a:rect r="r" b="b" t="t" l="l"/>
            <a:pathLst>
              <a:path h="5135054" w="7243230">
                <a:moveTo>
                  <a:pt x="0" y="0"/>
                </a:moveTo>
                <a:lnTo>
                  <a:pt x="7243230" y="0"/>
                </a:lnTo>
                <a:lnTo>
                  <a:pt x="7243230" y="5135054"/>
                </a:lnTo>
                <a:lnTo>
                  <a:pt x="0" y="51350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4871" y="4708031"/>
            <a:ext cx="8069277" cy="5098781"/>
          </a:xfrm>
          <a:custGeom>
            <a:avLst/>
            <a:gdLst/>
            <a:ahLst/>
            <a:cxnLst/>
            <a:rect r="r" b="b" t="t" l="l"/>
            <a:pathLst>
              <a:path h="5098781" w="8069277">
                <a:moveTo>
                  <a:pt x="0" y="0"/>
                </a:moveTo>
                <a:lnTo>
                  <a:pt x="8069277" y="0"/>
                </a:lnTo>
                <a:lnTo>
                  <a:pt x="8069277" y="5098782"/>
                </a:lnTo>
                <a:lnTo>
                  <a:pt x="0" y="5098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15743" y="518770"/>
            <a:ext cx="2509385" cy="90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223">
                <a:solidFill>
                  <a:srgbClr val="144783"/>
                </a:solidFill>
                <a:latin typeface="Bebas Neue"/>
                <a:ea typeface="Bebas Neue"/>
                <a:cs typeface="Bebas Neue"/>
                <a:sym typeface="Bebas Neue"/>
              </a:rPr>
              <a:t>objek studi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76001" y="2095499"/>
            <a:ext cx="4289941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ADB5E"/>
                </a:solidFill>
                <a:latin typeface="Poppins Bold"/>
                <a:ea typeface="Poppins Bold"/>
                <a:cs typeface="Poppins Bold"/>
                <a:sym typeface="Poppins Bold"/>
              </a:rPr>
              <a:t>Sistem Autopilot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5018" y="2735123"/>
            <a:ext cx="8688982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Pesawat CN235- 220 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sebuah wahana udara fixed wing dengan konfigurasi high-wing dan sistem pengerak twin-engined turboprop.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5018" y="2076449"/>
            <a:ext cx="4156557" cy="55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ADB5E"/>
                </a:solidFill>
                <a:latin typeface="Poppins Bold"/>
                <a:ea typeface="Poppins Bold"/>
                <a:cs typeface="Poppins Bold"/>
                <a:sym typeface="Poppins Bold"/>
              </a:rPr>
              <a:t>Wahana Udara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76001" y="2714625"/>
            <a:ext cx="7669564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Flight Guidance Computer - AP500R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Fokus penelitian pada Mode Half-Bank. Arah gerak pesawat pada sumbu lateral.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2" t="0" r="-166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2546">
            <a:off x="421829" y="420219"/>
            <a:ext cx="5620730" cy="1006975"/>
            <a:chOff x="0" y="0"/>
            <a:chExt cx="1757720" cy="3149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57720" cy="314902"/>
            </a:xfrm>
            <a:custGeom>
              <a:avLst/>
              <a:gdLst/>
              <a:ahLst/>
              <a:cxnLst/>
              <a:rect r="r" b="b" t="t" l="l"/>
              <a:pathLst>
                <a:path h="314902" w="1757720">
                  <a:moveTo>
                    <a:pt x="0" y="0"/>
                  </a:moveTo>
                  <a:lnTo>
                    <a:pt x="1757720" y="0"/>
                  </a:lnTo>
                  <a:lnTo>
                    <a:pt x="1757720" y="314902"/>
                  </a:lnTo>
                  <a:lnTo>
                    <a:pt x="0" y="314902"/>
                  </a:lnTo>
                  <a:close/>
                </a:path>
              </a:pathLst>
            </a:custGeom>
            <a:solidFill>
              <a:srgbClr val="E5C85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57720" cy="353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28235" y="1307179"/>
            <a:ext cx="5979505" cy="1088358"/>
            <a:chOff x="0" y="0"/>
            <a:chExt cx="2187934" cy="3982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7934" cy="398236"/>
            </a:xfrm>
            <a:custGeom>
              <a:avLst/>
              <a:gdLst/>
              <a:ahLst/>
              <a:cxnLst/>
              <a:rect r="r" b="b" t="t" l="l"/>
              <a:pathLst>
                <a:path h="398236" w="2187934">
                  <a:moveTo>
                    <a:pt x="0" y="0"/>
                  </a:moveTo>
                  <a:lnTo>
                    <a:pt x="2187934" y="0"/>
                  </a:lnTo>
                  <a:lnTo>
                    <a:pt x="2187934" y="398236"/>
                  </a:lnTo>
                  <a:lnTo>
                    <a:pt x="0" y="398236"/>
                  </a:ln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87934" cy="436336"/>
            </a:xfrm>
            <a:prstGeom prst="rect">
              <a:avLst/>
            </a:prstGeom>
          </p:spPr>
          <p:txBody>
            <a:bodyPr anchor="ctr" rtlCol="false" tIns="43416" lIns="43416" bIns="43416" rIns="4341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78584" y="3153818"/>
            <a:ext cx="7622246" cy="4188950"/>
          </a:xfrm>
          <a:custGeom>
            <a:avLst/>
            <a:gdLst/>
            <a:ahLst/>
            <a:cxnLst/>
            <a:rect r="r" b="b" t="t" l="l"/>
            <a:pathLst>
              <a:path h="4188950" w="7622246">
                <a:moveTo>
                  <a:pt x="0" y="0"/>
                </a:moveTo>
                <a:lnTo>
                  <a:pt x="7622245" y="0"/>
                </a:lnTo>
                <a:lnTo>
                  <a:pt x="7622245" y="4188950"/>
                </a:lnTo>
                <a:lnTo>
                  <a:pt x="0" y="4188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294116" y="4783041"/>
            <a:ext cx="471826" cy="47182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85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029364" y="4764213"/>
            <a:ext cx="1671458" cy="509482"/>
          </a:xfrm>
          <a:custGeom>
            <a:avLst/>
            <a:gdLst/>
            <a:ahLst/>
            <a:cxnLst/>
            <a:rect r="r" b="b" t="t" l="l"/>
            <a:pathLst>
              <a:path h="509482" w="1671458">
                <a:moveTo>
                  <a:pt x="0" y="0"/>
                </a:moveTo>
                <a:lnTo>
                  <a:pt x="1671458" y="0"/>
                </a:lnTo>
                <a:lnTo>
                  <a:pt x="1671458" y="509482"/>
                </a:lnTo>
                <a:lnTo>
                  <a:pt x="0" y="509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294116" y="5544207"/>
            <a:ext cx="471826" cy="47182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85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029364" y="5576491"/>
            <a:ext cx="1671458" cy="407259"/>
          </a:xfrm>
          <a:custGeom>
            <a:avLst/>
            <a:gdLst/>
            <a:ahLst/>
            <a:cxnLst/>
            <a:rect r="r" b="b" t="t" l="l"/>
            <a:pathLst>
              <a:path h="407259" w="1671458">
                <a:moveTo>
                  <a:pt x="0" y="0"/>
                </a:moveTo>
                <a:lnTo>
                  <a:pt x="1671458" y="0"/>
                </a:lnTo>
                <a:lnTo>
                  <a:pt x="1671458" y="407259"/>
                </a:lnTo>
                <a:lnTo>
                  <a:pt x="0" y="407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3115853" y="4783041"/>
            <a:ext cx="471826" cy="47182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85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115853" y="5544207"/>
            <a:ext cx="471826" cy="47182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C85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3854379" y="4815324"/>
            <a:ext cx="2618093" cy="407259"/>
          </a:xfrm>
          <a:custGeom>
            <a:avLst/>
            <a:gdLst/>
            <a:ahLst/>
            <a:cxnLst/>
            <a:rect r="r" b="b" t="t" l="l"/>
            <a:pathLst>
              <a:path h="407259" w="2618093">
                <a:moveTo>
                  <a:pt x="0" y="0"/>
                </a:moveTo>
                <a:lnTo>
                  <a:pt x="2618093" y="0"/>
                </a:lnTo>
                <a:lnTo>
                  <a:pt x="2618093" y="407259"/>
                </a:lnTo>
                <a:lnTo>
                  <a:pt x="0" y="407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854379" y="5534793"/>
            <a:ext cx="2239165" cy="490654"/>
          </a:xfrm>
          <a:custGeom>
            <a:avLst/>
            <a:gdLst/>
            <a:ahLst/>
            <a:cxnLst/>
            <a:rect r="r" b="b" t="t" l="l"/>
            <a:pathLst>
              <a:path h="490654" w="2239165">
                <a:moveTo>
                  <a:pt x="0" y="0"/>
                </a:moveTo>
                <a:lnTo>
                  <a:pt x="2239165" y="0"/>
                </a:lnTo>
                <a:lnTo>
                  <a:pt x="2239165" y="490654"/>
                </a:lnTo>
                <a:lnTo>
                  <a:pt x="0" y="4906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54650" y="1345412"/>
            <a:ext cx="5526674" cy="925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5"/>
              </a:lnSpc>
            </a:pPr>
            <a:r>
              <a:rPr lang="en-US" sz="5325">
                <a:solidFill>
                  <a:srgbClr val="E5C857"/>
                </a:solidFill>
                <a:latin typeface="Bebas Neue"/>
                <a:ea typeface="Bebas Neue"/>
                <a:cs typeface="Bebas Neue"/>
                <a:sym typeface="Bebas Neue"/>
              </a:rPr>
              <a:t>tugas khusus</a:t>
            </a:r>
          </a:p>
        </p:txBody>
      </p:sp>
      <p:sp>
        <p:nvSpPr>
          <p:cNvPr name="TextBox 27" id="27"/>
          <p:cNvSpPr txBox="true"/>
          <p:nvPr/>
        </p:nvSpPr>
        <p:spPr>
          <a:xfrm rot="-95970">
            <a:off x="411984" y="413081"/>
            <a:ext cx="5633617" cy="925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5"/>
              </a:lnSpc>
            </a:pPr>
            <a:r>
              <a:rPr lang="en-US" sz="5325">
                <a:solidFill>
                  <a:srgbClr val="144783"/>
                </a:solidFill>
                <a:latin typeface="Bebas Neue"/>
                <a:ea typeface="Bebas Neue"/>
                <a:cs typeface="Bebas Neue"/>
                <a:sym typeface="Bebas Neue"/>
              </a:rPr>
              <a:t>Latar belakang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94116" y="1314257"/>
            <a:ext cx="8115300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Perancangan dan pengembangan </a:t>
            </a: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sistem kendali state feedback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untuk mengoptimalkan </a:t>
            </a: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manuver belok terkoordinasi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(coordinated turn) mode half bank pada pesawat CN235-220.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94116" y="3186872"/>
            <a:ext cx="8115300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Optimisasi difokuskan pada </a:t>
            </a: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mencari gain kendal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 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ng meminimalkan nilai error slip dan slid pesawat dengan respons </a:t>
            </a: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empat state dinamika lateral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94116" y="6786086"/>
            <a:ext cx="5534669" cy="55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ADB5E"/>
                </a:solidFill>
                <a:latin typeface="Poppins Bold"/>
                <a:ea typeface="Poppins Bold"/>
                <a:cs typeface="Poppins Bold"/>
                <a:sym typeface="Poppins Bold"/>
              </a:rPr>
              <a:t>Metodelogi yang diusulkan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94116" y="7478871"/>
            <a:ext cx="8115300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Mengimplementasi metode control robust H₂/H∞ 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berbasis Linear Matrix Inequality (LMI) pada inner loop dengan algoritma quasi-Newton pada outer loop.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78584" y="7634061"/>
            <a:ext cx="7622246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Pada belok terkoordinasi pesawat cenderung melakukan slipping dan skidding 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jika tidak di control secara baik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2" t="0" r="-166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8310" y="517915"/>
            <a:ext cx="7099839" cy="1292275"/>
            <a:chOff x="0" y="0"/>
            <a:chExt cx="2187934" cy="3982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7934" cy="398236"/>
            </a:xfrm>
            <a:custGeom>
              <a:avLst/>
              <a:gdLst/>
              <a:ahLst/>
              <a:cxnLst/>
              <a:rect r="r" b="b" t="t" l="l"/>
              <a:pathLst>
                <a:path h="398236" w="2187934">
                  <a:moveTo>
                    <a:pt x="0" y="0"/>
                  </a:moveTo>
                  <a:lnTo>
                    <a:pt x="2187934" y="0"/>
                  </a:lnTo>
                  <a:lnTo>
                    <a:pt x="2187934" y="398236"/>
                  </a:lnTo>
                  <a:lnTo>
                    <a:pt x="0" y="398236"/>
                  </a:ln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87934" cy="436336"/>
            </a:xfrm>
            <a:prstGeom prst="rect">
              <a:avLst/>
            </a:prstGeom>
          </p:spPr>
          <p:txBody>
            <a:bodyPr anchor="ctr" rtlCol="false" tIns="43416" lIns="43416" bIns="43416" rIns="4341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598149" y="3501369"/>
            <a:ext cx="471826" cy="47182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598149" y="4258945"/>
            <a:ext cx="471826" cy="47182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98149" y="5016520"/>
            <a:ext cx="471826" cy="47182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28700" y="2436848"/>
            <a:ext cx="5615768" cy="7382153"/>
          </a:xfrm>
          <a:custGeom>
            <a:avLst/>
            <a:gdLst/>
            <a:ahLst/>
            <a:cxnLst/>
            <a:rect r="r" b="b" t="t" l="l"/>
            <a:pathLst>
              <a:path h="7382153" w="5615768">
                <a:moveTo>
                  <a:pt x="0" y="0"/>
                </a:moveTo>
                <a:lnTo>
                  <a:pt x="5615768" y="0"/>
                </a:lnTo>
                <a:lnTo>
                  <a:pt x="5615768" y="7382153"/>
                </a:lnTo>
                <a:lnTo>
                  <a:pt x="0" y="7382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67147" y="645867"/>
            <a:ext cx="6562165" cy="92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2"/>
              </a:lnSpc>
            </a:pPr>
            <a:r>
              <a:rPr lang="en-US" sz="5322">
                <a:solidFill>
                  <a:srgbClr val="E5C857"/>
                </a:solidFill>
                <a:latin typeface="Bebas Neue"/>
                <a:ea typeface="Bebas Neue"/>
                <a:cs typeface="Bebas Neue"/>
                <a:sym typeface="Bebas Neue"/>
              </a:rPr>
              <a:t>teori kontrol robust H₂/H∞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98149" y="2370173"/>
            <a:ext cx="966115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Kon</a:t>
            </a: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trol Robust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digunakan untuk menangani sistem dengan dinamika atau gangguan yang tidak terdefinisi (uncertainty)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00401" y="3491537"/>
            <a:ext cx="966115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ncertainty pada model plant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00401" y="4249112"/>
            <a:ext cx="966115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Disturba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nces yang terjadi pada sistem plant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00401" y="5006688"/>
            <a:ext cx="966115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Terdapat 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noise yang terbaca pada input sensor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98149" y="5707421"/>
            <a:ext cx="966115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Pada studi ini digunakan kondisi gangguan eksternal menggunakan </a:t>
            </a: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Dryden Wind Gust Model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98149" y="7268204"/>
            <a:ext cx="966115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Kon</a:t>
            </a: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trol H₂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bertujuan meminimalkan energi respons sistem terhadap gangguan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98149" y="8331195"/>
            <a:ext cx="966115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Kon</a:t>
            </a: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trol H∞ 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bertujuan meminimalkan efek worst-case dari gangguan terhadap output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98149" y="9394185"/>
            <a:ext cx="966115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Metode</a:t>
            </a: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sintesis H₂/H∞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campuran menggabungkan k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uanya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2" t="0" r="-166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4203" y="3273641"/>
            <a:ext cx="6850360" cy="5529059"/>
            <a:chOff x="0" y="0"/>
            <a:chExt cx="9133814" cy="737207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33814" cy="7372079"/>
              <a:chOff x="0" y="0"/>
              <a:chExt cx="1869916" cy="150924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869916" cy="1509246"/>
              </a:xfrm>
              <a:custGeom>
                <a:avLst/>
                <a:gdLst/>
                <a:ahLst/>
                <a:cxnLst/>
                <a:rect r="r" b="b" t="t" l="l"/>
                <a:pathLst>
                  <a:path h="1509246" w="1869916">
                    <a:moveTo>
                      <a:pt x="55612" y="0"/>
                    </a:moveTo>
                    <a:lnTo>
                      <a:pt x="1814304" y="0"/>
                    </a:lnTo>
                    <a:cubicBezTo>
                      <a:pt x="1829053" y="0"/>
                      <a:pt x="1843199" y="5859"/>
                      <a:pt x="1853628" y="16288"/>
                    </a:cubicBezTo>
                    <a:cubicBezTo>
                      <a:pt x="1864057" y="26718"/>
                      <a:pt x="1869916" y="40863"/>
                      <a:pt x="1869916" y="55612"/>
                    </a:cubicBezTo>
                    <a:lnTo>
                      <a:pt x="1869916" y="1453634"/>
                    </a:lnTo>
                    <a:cubicBezTo>
                      <a:pt x="1869916" y="1468383"/>
                      <a:pt x="1864057" y="1482528"/>
                      <a:pt x="1853628" y="1492957"/>
                    </a:cubicBezTo>
                    <a:cubicBezTo>
                      <a:pt x="1843199" y="1503387"/>
                      <a:pt x="1829053" y="1509246"/>
                      <a:pt x="1814304" y="1509246"/>
                    </a:cubicBezTo>
                    <a:lnTo>
                      <a:pt x="55612" y="1509246"/>
                    </a:lnTo>
                    <a:cubicBezTo>
                      <a:pt x="40863" y="1509246"/>
                      <a:pt x="26718" y="1503387"/>
                      <a:pt x="16288" y="1492957"/>
                    </a:cubicBezTo>
                    <a:cubicBezTo>
                      <a:pt x="5859" y="1482528"/>
                      <a:pt x="0" y="1468383"/>
                      <a:pt x="0" y="1453634"/>
                    </a:cubicBezTo>
                    <a:lnTo>
                      <a:pt x="0" y="55612"/>
                    </a:lnTo>
                    <a:cubicBezTo>
                      <a:pt x="0" y="40863"/>
                      <a:pt x="5859" y="26718"/>
                      <a:pt x="16288" y="16288"/>
                    </a:cubicBezTo>
                    <a:cubicBezTo>
                      <a:pt x="26718" y="5859"/>
                      <a:pt x="40863" y="0"/>
                      <a:pt x="55612" y="0"/>
                    </a:cubicBezTo>
                    <a:close/>
                  </a:path>
                </a:pathLst>
              </a:custGeom>
              <a:solidFill>
                <a:srgbClr val="144783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869916" cy="15473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05580" y="110066"/>
              <a:ext cx="8895579" cy="7151947"/>
              <a:chOff x="0" y="0"/>
              <a:chExt cx="1071261" cy="86128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71261" cy="861282"/>
              </a:xfrm>
              <a:custGeom>
                <a:avLst/>
                <a:gdLst/>
                <a:ahLst/>
                <a:cxnLst/>
                <a:rect r="r" b="b" t="t" l="l"/>
                <a:pathLst>
                  <a:path h="861282" w="1071261">
                    <a:moveTo>
                      <a:pt x="50384" y="0"/>
                    </a:moveTo>
                    <a:lnTo>
                      <a:pt x="1020877" y="0"/>
                    </a:lnTo>
                    <a:cubicBezTo>
                      <a:pt x="1048704" y="0"/>
                      <a:pt x="1071261" y="22558"/>
                      <a:pt x="1071261" y="50384"/>
                    </a:cubicBezTo>
                    <a:lnTo>
                      <a:pt x="1071261" y="810898"/>
                    </a:lnTo>
                    <a:cubicBezTo>
                      <a:pt x="1071261" y="824261"/>
                      <a:pt x="1065953" y="837076"/>
                      <a:pt x="1056504" y="846525"/>
                    </a:cubicBezTo>
                    <a:cubicBezTo>
                      <a:pt x="1047055" y="855974"/>
                      <a:pt x="1034240" y="861282"/>
                      <a:pt x="1020877" y="861282"/>
                    </a:cubicBezTo>
                    <a:lnTo>
                      <a:pt x="50384" y="861282"/>
                    </a:lnTo>
                    <a:cubicBezTo>
                      <a:pt x="37021" y="861282"/>
                      <a:pt x="24206" y="855974"/>
                      <a:pt x="14757" y="846525"/>
                    </a:cubicBezTo>
                    <a:cubicBezTo>
                      <a:pt x="5308" y="837076"/>
                      <a:pt x="0" y="824261"/>
                      <a:pt x="0" y="810898"/>
                    </a:cubicBezTo>
                    <a:lnTo>
                      <a:pt x="0" y="50384"/>
                    </a:lnTo>
                    <a:cubicBezTo>
                      <a:pt x="0" y="37021"/>
                      <a:pt x="5308" y="24206"/>
                      <a:pt x="14757" y="14757"/>
                    </a:cubicBezTo>
                    <a:cubicBezTo>
                      <a:pt x="24206" y="5308"/>
                      <a:pt x="37021" y="0"/>
                      <a:pt x="50384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452" t="0" r="-452" b="0"/>
                </a:stretch>
              </a:blipFill>
            </p:spPr>
          </p:sp>
        </p:grpSp>
      </p:grpSp>
      <p:grpSp>
        <p:nvGrpSpPr>
          <p:cNvPr name="Group 9" id="9"/>
          <p:cNvGrpSpPr/>
          <p:nvPr/>
        </p:nvGrpSpPr>
        <p:grpSpPr>
          <a:xfrm rot="0">
            <a:off x="9144000" y="770179"/>
            <a:ext cx="8115300" cy="8746642"/>
            <a:chOff x="0" y="0"/>
            <a:chExt cx="2137363" cy="23036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37363" cy="2303642"/>
            </a:xfrm>
            <a:custGeom>
              <a:avLst/>
              <a:gdLst/>
              <a:ahLst/>
              <a:cxnLst/>
              <a:rect r="r" b="b" t="t" l="l"/>
              <a:pathLst>
                <a:path h="2303642" w="2137363">
                  <a:moveTo>
                    <a:pt x="0" y="0"/>
                  </a:moveTo>
                  <a:lnTo>
                    <a:pt x="2137363" y="0"/>
                  </a:lnTo>
                  <a:lnTo>
                    <a:pt x="2137363" y="2303642"/>
                  </a:lnTo>
                  <a:lnTo>
                    <a:pt x="0" y="2303642"/>
                  </a:ln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37363" cy="2341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991498" y="2159898"/>
            <a:ext cx="2420304" cy="648922"/>
          </a:xfrm>
          <a:custGeom>
            <a:avLst/>
            <a:gdLst/>
            <a:ahLst/>
            <a:cxnLst/>
            <a:rect r="r" b="b" t="t" l="l"/>
            <a:pathLst>
              <a:path h="648922" w="2420304">
                <a:moveTo>
                  <a:pt x="0" y="0"/>
                </a:moveTo>
                <a:lnTo>
                  <a:pt x="2420304" y="0"/>
                </a:lnTo>
                <a:lnTo>
                  <a:pt x="2420304" y="648922"/>
                </a:lnTo>
                <a:lnTo>
                  <a:pt x="0" y="648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733788" y="3738461"/>
            <a:ext cx="3091923" cy="648922"/>
          </a:xfrm>
          <a:custGeom>
            <a:avLst/>
            <a:gdLst/>
            <a:ahLst/>
            <a:cxnLst/>
            <a:rect r="r" b="b" t="t" l="l"/>
            <a:pathLst>
              <a:path h="648922" w="3091923">
                <a:moveTo>
                  <a:pt x="0" y="0"/>
                </a:moveTo>
                <a:lnTo>
                  <a:pt x="3091923" y="0"/>
                </a:lnTo>
                <a:lnTo>
                  <a:pt x="3091923" y="648922"/>
                </a:lnTo>
                <a:lnTo>
                  <a:pt x="0" y="6489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424902" y="3738461"/>
            <a:ext cx="3244610" cy="648922"/>
          </a:xfrm>
          <a:custGeom>
            <a:avLst/>
            <a:gdLst/>
            <a:ahLst/>
            <a:cxnLst/>
            <a:rect r="r" b="b" t="t" l="l"/>
            <a:pathLst>
              <a:path h="648922" w="3244610">
                <a:moveTo>
                  <a:pt x="0" y="0"/>
                </a:moveTo>
                <a:lnTo>
                  <a:pt x="3244610" y="0"/>
                </a:lnTo>
                <a:lnTo>
                  <a:pt x="3244610" y="648922"/>
                </a:lnTo>
                <a:lnTo>
                  <a:pt x="0" y="6489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66868" y="5736123"/>
            <a:ext cx="7669564" cy="1569510"/>
          </a:xfrm>
          <a:custGeom>
            <a:avLst/>
            <a:gdLst/>
            <a:ahLst/>
            <a:cxnLst/>
            <a:rect r="r" b="b" t="t" l="l"/>
            <a:pathLst>
              <a:path h="1569510" w="7669564">
                <a:moveTo>
                  <a:pt x="0" y="0"/>
                </a:moveTo>
                <a:lnTo>
                  <a:pt x="7669564" y="0"/>
                </a:lnTo>
                <a:lnTo>
                  <a:pt x="7669564" y="1569510"/>
                </a:lnTo>
                <a:lnTo>
                  <a:pt x="0" y="15695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634847" y="7591383"/>
            <a:ext cx="5133605" cy="1569510"/>
          </a:xfrm>
          <a:custGeom>
            <a:avLst/>
            <a:gdLst/>
            <a:ahLst/>
            <a:cxnLst/>
            <a:rect r="r" b="b" t="t" l="l"/>
            <a:pathLst>
              <a:path h="1569510" w="5133605">
                <a:moveTo>
                  <a:pt x="0" y="0"/>
                </a:moveTo>
                <a:lnTo>
                  <a:pt x="5133606" y="0"/>
                </a:lnTo>
                <a:lnTo>
                  <a:pt x="5133606" y="1569510"/>
                </a:lnTo>
                <a:lnTo>
                  <a:pt x="0" y="15695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-174980" y="270831"/>
            <a:ext cx="7764983" cy="2427134"/>
            <a:chOff x="0" y="0"/>
            <a:chExt cx="10353311" cy="3236179"/>
          </a:xfrm>
        </p:grpSpPr>
        <p:grpSp>
          <p:nvGrpSpPr>
            <p:cNvPr name="Group 18" id="18"/>
            <p:cNvGrpSpPr/>
            <p:nvPr/>
          </p:nvGrpSpPr>
          <p:grpSpPr>
            <a:xfrm rot="-151957">
              <a:off x="877678" y="152390"/>
              <a:ext cx="6932562" cy="1594192"/>
              <a:chOff x="0" y="0"/>
              <a:chExt cx="1369395" cy="31490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369395" cy="314902"/>
              </a:xfrm>
              <a:custGeom>
                <a:avLst/>
                <a:gdLst/>
                <a:ahLst/>
                <a:cxnLst/>
                <a:rect r="r" b="b" t="t" l="l"/>
                <a:pathLst>
                  <a:path h="314902" w="1369395">
                    <a:moveTo>
                      <a:pt x="0" y="0"/>
                    </a:moveTo>
                    <a:lnTo>
                      <a:pt x="1369395" y="0"/>
                    </a:lnTo>
                    <a:lnTo>
                      <a:pt x="1369395" y="314902"/>
                    </a:lnTo>
                    <a:lnTo>
                      <a:pt x="0" y="314902"/>
                    </a:lnTo>
                    <a:close/>
                  </a:path>
                </a:pathLst>
              </a:custGeom>
              <a:solidFill>
                <a:srgbClr val="E5C85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369395" cy="3530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886860" y="1513145"/>
              <a:ext cx="9466452" cy="1723033"/>
              <a:chOff x="0" y="0"/>
              <a:chExt cx="2187934" cy="39823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87934" cy="398236"/>
              </a:xfrm>
              <a:custGeom>
                <a:avLst/>
                <a:gdLst/>
                <a:ahLst/>
                <a:cxnLst/>
                <a:rect r="r" b="b" t="t" l="l"/>
                <a:pathLst>
                  <a:path h="398236" w="2187934">
                    <a:moveTo>
                      <a:pt x="0" y="0"/>
                    </a:moveTo>
                    <a:lnTo>
                      <a:pt x="2187934" y="0"/>
                    </a:lnTo>
                    <a:lnTo>
                      <a:pt x="2187934" y="398236"/>
                    </a:lnTo>
                    <a:lnTo>
                      <a:pt x="0" y="398236"/>
                    </a:lnTo>
                    <a:close/>
                  </a:path>
                </a:pathLst>
              </a:custGeom>
              <a:solidFill>
                <a:srgbClr val="144783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187934" cy="436336"/>
              </a:xfrm>
              <a:prstGeom prst="rect">
                <a:avLst/>
              </a:prstGeom>
            </p:spPr>
            <p:txBody>
              <a:bodyPr anchor="ctr" rtlCol="false" tIns="43416" lIns="43416" bIns="43416" rIns="4341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813799" y="1803722"/>
              <a:ext cx="7612574" cy="1128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72"/>
                </a:lnSpc>
              </a:pPr>
              <a:r>
                <a:rPr lang="en-US" sz="5123">
                  <a:solidFill>
                    <a:srgbClr val="E5C857"/>
                  </a:solidFill>
                  <a:latin typeface="Bebas Neue"/>
                  <a:ea typeface="Bebas Neue"/>
                  <a:cs typeface="Bebas Neue"/>
                  <a:sym typeface="Bebas Neue"/>
                </a:rPr>
                <a:t>Dinamika lateral pesawat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-101609">
              <a:off x="11370" y="259335"/>
              <a:ext cx="8661800" cy="1126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144783"/>
                  </a:solidFill>
                  <a:latin typeface="Bebas Neue"/>
                  <a:ea typeface="Bebas Neue"/>
                  <a:cs typeface="Bebas Neue"/>
                  <a:sym typeface="Bebas Neue"/>
                </a:rPr>
                <a:t>pemodelan dan sistem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28700" y="8848696"/>
            <a:ext cx="7130603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Gerak pesawat dijelaskan menggunakan</a:t>
            </a:r>
            <a:r>
              <a:rPr lang="en-US" sz="2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aircraft equations of motion (6-DOF)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66868" y="1029103"/>
            <a:ext cx="7669564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nternal State - Lateral direction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untuk belok terkoordinasi pesawat digunakan</a:t>
            </a: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66868" y="3027895"/>
            <a:ext cx="766956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LTI 4 s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tate 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ini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dire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presentasikan sebagai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66868" y="4606458"/>
            <a:ext cx="7892432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mana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atriks 𝐴 𝑙𝑎𝑡 da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 𝐵 𝑙𝑎𝑡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mere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presentasikan dinamika inheren pesawat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2" t="0" r="-166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17061" y="5464108"/>
            <a:ext cx="6907734" cy="1447151"/>
          </a:xfrm>
          <a:custGeom>
            <a:avLst/>
            <a:gdLst/>
            <a:ahLst/>
            <a:cxnLst/>
            <a:rect r="r" b="b" t="t" l="l"/>
            <a:pathLst>
              <a:path h="1447151" w="6907734">
                <a:moveTo>
                  <a:pt x="0" y="0"/>
                </a:moveTo>
                <a:lnTo>
                  <a:pt x="6907735" y="0"/>
                </a:lnTo>
                <a:lnTo>
                  <a:pt x="6907735" y="1447151"/>
                </a:lnTo>
                <a:lnTo>
                  <a:pt x="0" y="14471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71232" y="4406052"/>
            <a:ext cx="5489535" cy="4368244"/>
          </a:xfrm>
          <a:custGeom>
            <a:avLst/>
            <a:gdLst/>
            <a:ahLst/>
            <a:cxnLst/>
            <a:rect r="r" b="b" t="t" l="l"/>
            <a:pathLst>
              <a:path h="4368244" w="5489535">
                <a:moveTo>
                  <a:pt x="0" y="0"/>
                </a:moveTo>
                <a:lnTo>
                  <a:pt x="5489536" y="0"/>
                </a:lnTo>
                <a:lnTo>
                  <a:pt x="5489536" y="4368244"/>
                </a:lnTo>
                <a:lnTo>
                  <a:pt x="0" y="43682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1767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214216" y="3133786"/>
            <a:ext cx="3003568" cy="619486"/>
          </a:xfrm>
          <a:custGeom>
            <a:avLst/>
            <a:gdLst/>
            <a:ahLst/>
            <a:cxnLst/>
            <a:rect r="r" b="b" t="t" l="l"/>
            <a:pathLst>
              <a:path h="619486" w="3003568">
                <a:moveTo>
                  <a:pt x="0" y="0"/>
                </a:moveTo>
                <a:lnTo>
                  <a:pt x="3003568" y="0"/>
                </a:lnTo>
                <a:lnTo>
                  <a:pt x="3003568" y="619486"/>
                </a:lnTo>
                <a:lnTo>
                  <a:pt x="0" y="6194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74084" y="288126"/>
            <a:ext cx="7764983" cy="2427134"/>
            <a:chOff x="0" y="0"/>
            <a:chExt cx="10353311" cy="3236179"/>
          </a:xfrm>
        </p:grpSpPr>
        <p:grpSp>
          <p:nvGrpSpPr>
            <p:cNvPr name="Group 10" id="10"/>
            <p:cNvGrpSpPr/>
            <p:nvPr/>
          </p:nvGrpSpPr>
          <p:grpSpPr>
            <a:xfrm rot="-151957">
              <a:off x="877678" y="152390"/>
              <a:ext cx="6932562" cy="1594192"/>
              <a:chOff x="0" y="0"/>
              <a:chExt cx="1369395" cy="31490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69395" cy="314902"/>
              </a:xfrm>
              <a:custGeom>
                <a:avLst/>
                <a:gdLst/>
                <a:ahLst/>
                <a:cxnLst/>
                <a:rect r="r" b="b" t="t" l="l"/>
                <a:pathLst>
                  <a:path h="314902" w="1369395">
                    <a:moveTo>
                      <a:pt x="0" y="0"/>
                    </a:moveTo>
                    <a:lnTo>
                      <a:pt x="1369395" y="0"/>
                    </a:lnTo>
                    <a:lnTo>
                      <a:pt x="1369395" y="314902"/>
                    </a:lnTo>
                    <a:lnTo>
                      <a:pt x="0" y="314902"/>
                    </a:lnTo>
                    <a:close/>
                  </a:path>
                </a:pathLst>
              </a:custGeom>
              <a:solidFill>
                <a:srgbClr val="E5C857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369395" cy="3530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886860" y="1513145"/>
              <a:ext cx="9466452" cy="1723033"/>
              <a:chOff x="0" y="0"/>
              <a:chExt cx="2187934" cy="39823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187934" cy="398236"/>
              </a:xfrm>
              <a:custGeom>
                <a:avLst/>
                <a:gdLst/>
                <a:ahLst/>
                <a:cxnLst/>
                <a:rect r="r" b="b" t="t" l="l"/>
                <a:pathLst>
                  <a:path h="398236" w="2187934">
                    <a:moveTo>
                      <a:pt x="0" y="0"/>
                    </a:moveTo>
                    <a:lnTo>
                      <a:pt x="2187934" y="0"/>
                    </a:lnTo>
                    <a:lnTo>
                      <a:pt x="2187934" y="398236"/>
                    </a:lnTo>
                    <a:lnTo>
                      <a:pt x="0" y="398236"/>
                    </a:lnTo>
                    <a:close/>
                  </a:path>
                </a:pathLst>
              </a:custGeom>
              <a:solidFill>
                <a:srgbClr val="14478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187934" cy="436336"/>
              </a:xfrm>
              <a:prstGeom prst="rect">
                <a:avLst/>
              </a:prstGeom>
            </p:spPr>
            <p:txBody>
              <a:bodyPr anchor="ctr" rtlCol="false" tIns="43416" lIns="43416" bIns="43416" rIns="4341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412979" y="1762912"/>
              <a:ext cx="8414212" cy="1128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72"/>
                </a:lnSpc>
              </a:pPr>
              <a:r>
                <a:rPr lang="en-US" sz="5123">
                  <a:solidFill>
                    <a:srgbClr val="E5C857"/>
                  </a:solidFill>
                  <a:latin typeface="Bebas Neue"/>
                  <a:ea typeface="Bebas Neue"/>
                  <a:cs typeface="Bebas Neue"/>
                  <a:sym typeface="Bebas Neue"/>
                </a:rPr>
                <a:t>anlisis model dan stabilitas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-101609">
              <a:off x="11370" y="259335"/>
              <a:ext cx="8661800" cy="1126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144783"/>
                  </a:solidFill>
                  <a:latin typeface="Bebas Neue"/>
                  <a:ea typeface="Bebas Neue"/>
                  <a:cs typeface="Bebas Neue"/>
                  <a:sym typeface="Bebas Neue"/>
                </a:rPr>
                <a:t>pemodelan dan sistem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3686597"/>
            <a:ext cx="7130603" cy="137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Analisis </a:t>
            </a:r>
            <a:r>
              <a:rPr lang="en-US" sz="2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Controllability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2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Observability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dilakukan pada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sang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(𝐴 𝑙𝑎𝑡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𝐵 𝑙𝑎𝑡) da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(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𝐴 𝑙𝑎𝑡, 𝐶 𝑙𝑎𝑡 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didapat.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254159"/>
            <a:ext cx="7130603" cy="182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Menya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kan 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ahwa 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keadaan sistem dap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 dike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ndalik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oleh aktuato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(aileron, rudder) da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dapat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diamati dari output.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62908" y="8996045"/>
            <a:ext cx="7506183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Pole-Zero Ideal untuk gerak lateral pesawat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50699" y="962025"/>
            <a:ext cx="7130603" cy="182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Analisis Pole Placement</a:t>
            </a: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(Open Loop) Stabilitas inheren dari pesaw</a:t>
            </a: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 dia</a:t>
            </a: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nalisis deng</a:t>
            </a: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menghitung e</a:t>
            </a: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igenvalues</a:t>
            </a: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(poles)</a:t>
            </a: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dari matriks 𝐴 𝑙𝑎𝑡.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2" t="0" r="-166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65678" y="423287"/>
            <a:ext cx="12861443" cy="1088358"/>
            <a:chOff x="0" y="0"/>
            <a:chExt cx="4706074" cy="3982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06074" cy="398236"/>
            </a:xfrm>
            <a:custGeom>
              <a:avLst/>
              <a:gdLst/>
              <a:ahLst/>
              <a:cxnLst/>
              <a:rect r="r" b="b" t="t" l="l"/>
              <a:pathLst>
                <a:path h="398236" w="4706074">
                  <a:moveTo>
                    <a:pt x="0" y="0"/>
                  </a:moveTo>
                  <a:lnTo>
                    <a:pt x="4706074" y="0"/>
                  </a:lnTo>
                  <a:lnTo>
                    <a:pt x="4706074" y="398236"/>
                  </a:lnTo>
                  <a:lnTo>
                    <a:pt x="0" y="398236"/>
                  </a:ln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706074" cy="436336"/>
            </a:xfrm>
            <a:prstGeom prst="rect">
              <a:avLst/>
            </a:prstGeom>
          </p:spPr>
          <p:txBody>
            <a:bodyPr anchor="ctr" rtlCol="false" tIns="43416" lIns="43416" bIns="43416" rIns="4341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12151" y="3177839"/>
            <a:ext cx="3745387" cy="3167818"/>
            <a:chOff x="0" y="0"/>
            <a:chExt cx="1172845" cy="9919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2845" cy="991983"/>
            </a:xfrm>
            <a:custGeom>
              <a:avLst/>
              <a:gdLst/>
              <a:ahLst/>
              <a:cxnLst/>
              <a:rect r="r" b="b" t="t" l="l"/>
              <a:pathLst>
                <a:path h="991983" w="1172845">
                  <a:moveTo>
                    <a:pt x="0" y="0"/>
                  </a:moveTo>
                  <a:lnTo>
                    <a:pt x="1172845" y="0"/>
                  </a:lnTo>
                  <a:lnTo>
                    <a:pt x="1172845" y="991983"/>
                  </a:lnTo>
                  <a:lnTo>
                    <a:pt x="0" y="991983"/>
                  </a:lnTo>
                  <a:close/>
                </a:path>
              </a:pathLst>
            </a:custGeom>
            <a:solidFill>
              <a:srgbClr val="F5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72845" cy="1030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593006" y="3177839"/>
            <a:ext cx="3745387" cy="3167818"/>
            <a:chOff x="0" y="0"/>
            <a:chExt cx="1172845" cy="9919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2845" cy="991983"/>
            </a:xfrm>
            <a:custGeom>
              <a:avLst/>
              <a:gdLst/>
              <a:ahLst/>
              <a:cxnLst/>
              <a:rect r="r" b="b" t="t" l="l"/>
              <a:pathLst>
                <a:path h="991983" w="1172845">
                  <a:moveTo>
                    <a:pt x="0" y="0"/>
                  </a:moveTo>
                  <a:lnTo>
                    <a:pt x="1172845" y="0"/>
                  </a:lnTo>
                  <a:lnTo>
                    <a:pt x="1172845" y="991983"/>
                  </a:lnTo>
                  <a:lnTo>
                    <a:pt x="0" y="991983"/>
                  </a:lnTo>
                  <a:close/>
                </a:path>
              </a:pathLst>
            </a:custGeom>
            <a:solidFill>
              <a:srgbClr val="FB991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72845" cy="1030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878407" y="7720625"/>
            <a:ext cx="6554906" cy="2330639"/>
            <a:chOff x="0" y="0"/>
            <a:chExt cx="2052628" cy="7298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52628" cy="729825"/>
            </a:xfrm>
            <a:custGeom>
              <a:avLst/>
              <a:gdLst/>
              <a:ahLst/>
              <a:cxnLst/>
              <a:rect r="r" b="b" t="t" l="l"/>
              <a:pathLst>
                <a:path h="729825" w="2052628">
                  <a:moveTo>
                    <a:pt x="0" y="0"/>
                  </a:moveTo>
                  <a:lnTo>
                    <a:pt x="2052628" y="0"/>
                  </a:lnTo>
                  <a:lnTo>
                    <a:pt x="2052628" y="729825"/>
                  </a:lnTo>
                  <a:lnTo>
                    <a:pt x="0" y="729825"/>
                  </a:ln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52628" cy="767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50229" y="7592447"/>
            <a:ext cx="6554906" cy="2330639"/>
            <a:chOff x="0" y="0"/>
            <a:chExt cx="2052628" cy="7298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52628" cy="729825"/>
            </a:xfrm>
            <a:custGeom>
              <a:avLst/>
              <a:gdLst/>
              <a:ahLst/>
              <a:cxnLst/>
              <a:rect r="r" b="b" t="t" l="l"/>
              <a:pathLst>
                <a:path h="729825" w="2052628">
                  <a:moveTo>
                    <a:pt x="0" y="0"/>
                  </a:moveTo>
                  <a:lnTo>
                    <a:pt x="2052628" y="0"/>
                  </a:lnTo>
                  <a:lnTo>
                    <a:pt x="2052628" y="729825"/>
                  </a:lnTo>
                  <a:lnTo>
                    <a:pt x="0" y="729825"/>
                  </a:lnTo>
                  <a:close/>
                </a:path>
              </a:pathLst>
            </a:custGeom>
            <a:solidFill>
              <a:srgbClr val="FCFDF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52628" cy="767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387398" y="3049661"/>
            <a:ext cx="5280566" cy="4117052"/>
          </a:xfrm>
          <a:custGeom>
            <a:avLst/>
            <a:gdLst/>
            <a:ahLst/>
            <a:cxnLst/>
            <a:rect r="r" b="b" t="t" l="l"/>
            <a:pathLst>
              <a:path h="4117052" w="5280566">
                <a:moveTo>
                  <a:pt x="0" y="0"/>
                </a:moveTo>
                <a:lnTo>
                  <a:pt x="5280567" y="0"/>
                </a:lnTo>
                <a:lnTo>
                  <a:pt x="5280567" y="4117052"/>
                </a:lnTo>
                <a:lnTo>
                  <a:pt x="0" y="4117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488645" y="4568696"/>
            <a:ext cx="844736" cy="844736"/>
          </a:xfrm>
          <a:custGeom>
            <a:avLst/>
            <a:gdLst/>
            <a:ahLst/>
            <a:cxnLst/>
            <a:rect r="r" b="b" t="t" l="l"/>
            <a:pathLst>
              <a:path h="844736" w="844736">
                <a:moveTo>
                  <a:pt x="0" y="0"/>
                </a:moveTo>
                <a:lnTo>
                  <a:pt x="844736" y="0"/>
                </a:lnTo>
                <a:lnTo>
                  <a:pt x="844736" y="844736"/>
                </a:lnTo>
                <a:lnTo>
                  <a:pt x="0" y="844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5120" y="500741"/>
            <a:ext cx="182880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FADB5E"/>
                </a:solidFill>
                <a:latin typeface="Poppins Bold"/>
                <a:ea typeface="Poppins Bold"/>
                <a:cs typeface="Poppins Bold"/>
                <a:sym typeface="Poppins Bold"/>
              </a:rPr>
              <a:t>POLES PADA DINAMIKA LATERAL PESAWAT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099273" y="3049661"/>
            <a:ext cx="844736" cy="844736"/>
          </a:xfrm>
          <a:custGeom>
            <a:avLst/>
            <a:gdLst/>
            <a:ahLst/>
            <a:cxnLst/>
            <a:rect r="r" b="b" t="t" l="l"/>
            <a:pathLst>
              <a:path h="844736" w="844736">
                <a:moveTo>
                  <a:pt x="0" y="0"/>
                </a:moveTo>
                <a:lnTo>
                  <a:pt x="844736" y="0"/>
                </a:lnTo>
                <a:lnTo>
                  <a:pt x="844736" y="844736"/>
                </a:lnTo>
                <a:lnTo>
                  <a:pt x="0" y="8447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99273" y="6053426"/>
            <a:ext cx="844736" cy="844736"/>
          </a:xfrm>
          <a:custGeom>
            <a:avLst/>
            <a:gdLst/>
            <a:ahLst/>
            <a:cxnLst/>
            <a:rect r="r" b="b" t="t" l="l"/>
            <a:pathLst>
              <a:path h="844736" w="844736">
                <a:moveTo>
                  <a:pt x="0" y="0"/>
                </a:moveTo>
                <a:lnTo>
                  <a:pt x="844736" y="0"/>
                </a:lnTo>
                <a:lnTo>
                  <a:pt x="844736" y="844736"/>
                </a:lnTo>
                <a:lnTo>
                  <a:pt x="0" y="8447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783027" y="4568696"/>
            <a:ext cx="844736" cy="844736"/>
          </a:xfrm>
          <a:custGeom>
            <a:avLst/>
            <a:gdLst/>
            <a:ahLst/>
            <a:cxnLst/>
            <a:rect r="r" b="b" t="t" l="l"/>
            <a:pathLst>
              <a:path h="844736" w="844736">
                <a:moveTo>
                  <a:pt x="0" y="0"/>
                </a:moveTo>
                <a:lnTo>
                  <a:pt x="844737" y="0"/>
                </a:lnTo>
                <a:lnTo>
                  <a:pt x="844737" y="844736"/>
                </a:lnTo>
                <a:lnTo>
                  <a:pt x="0" y="8447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83973" y="3049661"/>
            <a:ext cx="3745387" cy="3167818"/>
            <a:chOff x="0" y="0"/>
            <a:chExt cx="1172845" cy="99198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2845" cy="991983"/>
            </a:xfrm>
            <a:custGeom>
              <a:avLst/>
              <a:gdLst/>
              <a:ahLst/>
              <a:cxnLst/>
              <a:rect r="r" b="b" t="t" l="l"/>
              <a:pathLst>
                <a:path h="991983" w="1172845">
                  <a:moveTo>
                    <a:pt x="0" y="0"/>
                  </a:moveTo>
                  <a:lnTo>
                    <a:pt x="1172845" y="0"/>
                  </a:lnTo>
                  <a:lnTo>
                    <a:pt x="1172845" y="991983"/>
                  </a:lnTo>
                  <a:lnTo>
                    <a:pt x="0" y="991983"/>
                  </a:lnTo>
                  <a:close/>
                </a:path>
              </a:pathLst>
            </a:custGeom>
            <a:solidFill>
              <a:srgbClr val="FCFDF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172845" cy="1030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091706" y="7740930"/>
            <a:ext cx="3745387" cy="39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7"/>
              </a:lnSpc>
            </a:pPr>
            <a:r>
              <a:rPr lang="en-US" b="true" sz="2183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Dutch Roll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3973" y="3658437"/>
            <a:ext cx="3745387" cy="231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7"/>
              </a:lnSpc>
            </a:pPr>
            <a:r>
              <a:rPr lang="en-US" sz="21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Pole: Nilai negatif yang besar, tidak ada nilai imajiner</a:t>
            </a:r>
          </a:p>
          <a:p>
            <a:pPr algn="ctr">
              <a:lnSpc>
                <a:spcPts val="3057"/>
              </a:lnSpc>
            </a:pPr>
            <a:r>
              <a:rPr lang="en-US" sz="2183">
                <a:solidFill>
                  <a:srgbClr val="F50000"/>
                </a:solidFill>
                <a:latin typeface="Poppins"/>
                <a:ea typeface="Poppins"/>
                <a:cs typeface="Poppins"/>
                <a:sym typeface="Poppins"/>
              </a:rPr>
              <a:t>Arti: Gerakan roll cenderung cepat dan tidak berosilasi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3973" y="3236068"/>
            <a:ext cx="3745387" cy="39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7"/>
              </a:lnSpc>
            </a:pPr>
            <a:r>
              <a:rPr lang="en-US" b="true" sz="2183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Roll Subsidence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39183" y="8150957"/>
            <a:ext cx="5976998" cy="154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7"/>
              </a:lnSpc>
            </a:pPr>
            <a:r>
              <a:rPr lang="en-US" sz="21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Pole: sepasang poles dengan nilai Riil yang sama tapi nilai Imajiner berkebalikan</a:t>
            </a:r>
          </a:p>
          <a:p>
            <a:pPr algn="ctr">
              <a:lnSpc>
                <a:spcPts val="3057"/>
              </a:lnSpc>
            </a:pPr>
            <a:r>
              <a:rPr lang="en-US" sz="2183">
                <a:solidFill>
                  <a:srgbClr val="144783"/>
                </a:solidFill>
                <a:latin typeface="Poppins"/>
                <a:ea typeface="Poppins"/>
                <a:cs typeface="Poppins"/>
                <a:sym typeface="Poppins"/>
              </a:rPr>
              <a:t>Arti: Dutch roll cenderung berosilasi dan tidak respons cukup lama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464827" y="3049661"/>
            <a:ext cx="3745387" cy="3167818"/>
            <a:chOff x="0" y="0"/>
            <a:chExt cx="1172845" cy="9919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72845" cy="991983"/>
            </a:xfrm>
            <a:custGeom>
              <a:avLst/>
              <a:gdLst/>
              <a:ahLst/>
              <a:cxnLst/>
              <a:rect r="r" b="b" t="t" l="l"/>
              <a:pathLst>
                <a:path h="991983" w="1172845">
                  <a:moveTo>
                    <a:pt x="0" y="0"/>
                  </a:moveTo>
                  <a:lnTo>
                    <a:pt x="1172845" y="0"/>
                  </a:lnTo>
                  <a:lnTo>
                    <a:pt x="1172845" y="991983"/>
                  </a:lnTo>
                  <a:lnTo>
                    <a:pt x="0" y="991983"/>
                  </a:lnTo>
                  <a:close/>
                </a:path>
              </a:pathLst>
            </a:custGeom>
            <a:solidFill>
              <a:srgbClr val="FCFDF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172845" cy="1030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464827" y="3658437"/>
            <a:ext cx="3745387" cy="231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7"/>
              </a:lnSpc>
            </a:pPr>
            <a:r>
              <a:rPr lang="en-US" sz="21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Pole: Nilai negatif yang sangat kecil, tidak ada nilai imajiner</a:t>
            </a:r>
          </a:p>
          <a:p>
            <a:pPr algn="ctr">
              <a:lnSpc>
                <a:spcPts val="3057"/>
              </a:lnSpc>
            </a:pPr>
            <a:r>
              <a:rPr lang="en-US" sz="2183">
                <a:solidFill>
                  <a:srgbClr val="FB9919"/>
                </a:solidFill>
                <a:latin typeface="Poppins"/>
                <a:ea typeface="Poppins"/>
                <a:cs typeface="Poppins"/>
                <a:sym typeface="Poppins"/>
              </a:rPr>
              <a:t>Arti: Gerakan spiral cenderung sangat lama dan tidak berosilasi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464827" y="3236068"/>
            <a:ext cx="3745387" cy="39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7"/>
              </a:lnSpc>
            </a:pPr>
            <a:r>
              <a:rPr lang="en-US" b="true" sz="2183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Spiral</a:t>
            </a:r>
          </a:p>
        </p:txBody>
      </p:sp>
      <p:sp>
        <p:nvSpPr>
          <p:cNvPr name="AutoShape 36" id="36"/>
          <p:cNvSpPr/>
          <p:nvPr/>
        </p:nvSpPr>
        <p:spPr>
          <a:xfrm>
            <a:off x="11567286" y="4946255"/>
            <a:ext cx="2270351" cy="0"/>
          </a:xfrm>
          <a:prstGeom prst="line">
            <a:avLst/>
          </a:prstGeom>
          <a:ln cap="flat" w="85725">
            <a:solidFill>
              <a:srgbClr val="FB991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7" id="37"/>
          <p:cNvSpPr/>
          <p:nvPr/>
        </p:nvSpPr>
        <p:spPr>
          <a:xfrm>
            <a:off x="9521641" y="6850096"/>
            <a:ext cx="0" cy="957508"/>
          </a:xfrm>
          <a:prstGeom prst="line">
            <a:avLst/>
          </a:prstGeom>
          <a:ln cap="flat" w="85725">
            <a:solidFill>
              <a:srgbClr val="67D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8" id="38"/>
          <p:cNvSpPr/>
          <p:nvPr/>
        </p:nvSpPr>
        <p:spPr>
          <a:xfrm flipH="true" flipV="true">
            <a:off x="4376356" y="5026365"/>
            <a:ext cx="2167780" cy="0"/>
          </a:xfrm>
          <a:prstGeom prst="line">
            <a:avLst/>
          </a:prstGeom>
          <a:ln cap="flat" w="85725">
            <a:solidFill>
              <a:srgbClr val="F5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9" id="39"/>
          <p:cNvSpPr txBox="true"/>
          <p:nvPr/>
        </p:nvSpPr>
        <p:spPr>
          <a:xfrm rot="0">
            <a:off x="2118237" y="1739020"/>
            <a:ext cx="14356326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Eigenvalues 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dari matrix sistem pesawat </a:t>
            </a: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dapat menunjukkan respons dinamik pesawat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terhadap disturbansi seiring waktu, sehingga dikaitkan dengan stabilitas.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692371">
            <a:off x="9776372" y="3893676"/>
            <a:ext cx="9578113" cy="8453065"/>
          </a:xfrm>
          <a:custGeom>
            <a:avLst/>
            <a:gdLst/>
            <a:ahLst/>
            <a:cxnLst/>
            <a:rect r="r" b="b" t="t" l="l"/>
            <a:pathLst>
              <a:path h="8453065" w="9578113">
                <a:moveTo>
                  <a:pt x="0" y="0"/>
                </a:moveTo>
                <a:lnTo>
                  <a:pt x="9578113" y="0"/>
                </a:lnTo>
                <a:lnTo>
                  <a:pt x="9578113" y="8453065"/>
                </a:lnTo>
                <a:lnTo>
                  <a:pt x="0" y="84530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3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2" t="0" r="-16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962128" y="0"/>
            <a:ext cx="23487553" cy="7988214"/>
          </a:xfrm>
          <a:custGeom>
            <a:avLst/>
            <a:gdLst/>
            <a:ahLst/>
            <a:cxnLst/>
            <a:rect r="r" b="b" t="t" l="l"/>
            <a:pathLst>
              <a:path h="7988214" w="23487553">
                <a:moveTo>
                  <a:pt x="0" y="0"/>
                </a:moveTo>
                <a:lnTo>
                  <a:pt x="23487553" y="0"/>
                </a:lnTo>
                <a:lnTo>
                  <a:pt x="23487553" y="7988214"/>
                </a:lnTo>
                <a:lnTo>
                  <a:pt x="0" y="7988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143306" y="6933371"/>
            <a:ext cx="14001388" cy="2707942"/>
            <a:chOff x="0" y="0"/>
            <a:chExt cx="3687608" cy="7132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87608" cy="713203"/>
            </a:xfrm>
            <a:custGeom>
              <a:avLst/>
              <a:gdLst/>
              <a:ahLst/>
              <a:cxnLst/>
              <a:rect r="r" b="b" t="t" l="l"/>
              <a:pathLst>
                <a:path h="713203" w="3687608">
                  <a:moveTo>
                    <a:pt x="0" y="0"/>
                  </a:moveTo>
                  <a:lnTo>
                    <a:pt x="3687608" y="0"/>
                  </a:lnTo>
                  <a:lnTo>
                    <a:pt x="3687608" y="713203"/>
                  </a:lnTo>
                  <a:lnTo>
                    <a:pt x="0" y="71320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687608" cy="751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256733" y="1283318"/>
            <a:ext cx="5793805" cy="4517204"/>
          </a:xfrm>
          <a:custGeom>
            <a:avLst/>
            <a:gdLst/>
            <a:ahLst/>
            <a:cxnLst/>
            <a:rect r="r" b="b" t="t" l="l"/>
            <a:pathLst>
              <a:path h="4517204" w="5793805">
                <a:moveTo>
                  <a:pt x="0" y="0"/>
                </a:moveTo>
                <a:lnTo>
                  <a:pt x="5793804" y="0"/>
                </a:lnTo>
                <a:lnTo>
                  <a:pt x="5793804" y="4517204"/>
                </a:lnTo>
                <a:lnTo>
                  <a:pt x="0" y="45172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37463" y="1283318"/>
            <a:ext cx="5793805" cy="4517204"/>
          </a:xfrm>
          <a:custGeom>
            <a:avLst/>
            <a:gdLst/>
            <a:ahLst/>
            <a:cxnLst/>
            <a:rect r="r" b="b" t="t" l="l"/>
            <a:pathLst>
              <a:path h="4517204" w="5793805">
                <a:moveTo>
                  <a:pt x="0" y="0"/>
                </a:moveTo>
                <a:lnTo>
                  <a:pt x="5793804" y="0"/>
                </a:lnTo>
                <a:lnTo>
                  <a:pt x="5793804" y="4517204"/>
                </a:lnTo>
                <a:lnTo>
                  <a:pt x="0" y="45172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62498" y="222330"/>
            <a:ext cx="996300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FADB5E"/>
                </a:solidFill>
                <a:latin typeface="Poppins Bold"/>
                <a:ea typeface="Poppins Bold"/>
                <a:cs typeface="Poppins Bold"/>
                <a:sym typeface="Poppins Bold"/>
              </a:rPr>
              <a:t>POLES SHIFTING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431906" y="3537158"/>
            <a:ext cx="1424188" cy="9525"/>
          </a:xfrm>
          <a:prstGeom prst="line">
            <a:avLst/>
          </a:prstGeom>
          <a:ln cap="flat" w="95250">
            <a:solidFill>
              <a:srgbClr val="E5C857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1" id="11"/>
          <p:cNvSpPr txBox="true"/>
          <p:nvPr/>
        </p:nvSpPr>
        <p:spPr>
          <a:xfrm rot="0">
            <a:off x="2386301" y="5952922"/>
            <a:ext cx="5534669" cy="55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E5C857"/>
                </a:solidFill>
                <a:latin typeface="Poppins Bold"/>
                <a:ea typeface="Poppins Bold"/>
                <a:cs typeface="Poppins Bold"/>
                <a:sym typeface="Poppins Bold"/>
              </a:rPr>
              <a:t>Pole Placement Open Loop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37463" y="5952922"/>
            <a:ext cx="5664237" cy="55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E5C857"/>
                </a:solidFill>
                <a:latin typeface="Poppins Bold"/>
                <a:ea typeface="Poppins Bold"/>
                <a:cs typeface="Poppins Bold"/>
                <a:sym typeface="Poppins Bold"/>
              </a:rPr>
              <a:t>Pole Placement Closed Loop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0417" y="7259234"/>
            <a:ext cx="13467166" cy="1999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5"/>
              </a:lnSpc>
            </a:pPr>
            <a:r>
              <a:rPr lang="en-US" sz="22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Terkadang, </a:t>
            </a:r>
            <a:r>
              <a:rPr lang="en-US" sz="229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poles tidak memiliki nilai yang ideal</a:t>
            </a:r>
            <a:r>
              <a:rPr lang="en-US" sz="22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seperti damping ratio yang terlalu kecil, letak di sumbu positif, dan sebagainya.</a:t>
            </a:r>
          </a:p>
          <a:p>
            <a:pPr algn="ctr">
              <a:lnSpc>
                <a:spcPts val="3215"/>
              </a:lnSpc>
            </a:pPr>
          </a:p>
          <a:p>
            <a:pPr algn="ctr">
              <a:lnSpc>
                <a:spcPts val="3215"/>
              </a:lnSpc>
            </a:pPr>
            <a:r>
              <a:rPr lang="en-US" sz="22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Nilai poles </a:t>
            </a:r>
            <a:r>
              <a:rPr lang="en-US" sz="229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dapat direkayasa menggunakan sistem kendali </a:t>
            </a:r>
            <a:r>
              <a:rPr lang="en-US" b="true" sz="2296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closed-loop</a:t>
            </a:r>
            <a:r>
              <a:rPr lang="en-US" sz="2296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2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untuk menggeser poles ke nilai yang diinginkan agar mendapat stabilitas dinamik yang lebih baik.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2" t="0" r="-16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7727" y="2987564"/>
            <a:ext cx="8606273" cy="5992117"/>
          </a:xfrm>
          <a:custGeom>
            <a:avLst/>
            <a:gdLst/>
            <a:ahLst/>
            <a:cxnLst/>
            <a:rect r="r" b="b" t="t" l="l"/>
            <a:pathLst>
              <a:path h="5992117" w="8606273">
                <a:moveTo>
                  <a:pt x="0" y="0"/>
                </a:moveTo>
                <a:lnTo>
                  <a:pt x="8606273" y="0"/>
                </a:lnTo>
                <a:lnTo>
                  <a:pt x="8606273" y="5992117"/>
                </a:lnTo>
                <a:lnTo>
                  <a:pt x="0" y="59921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33350" y="219440"/>
            <a:ext cx="7763904" cy="2427134"/>
            <a:chOff x="0" y="0"/>
            <a:chExt cx="10351873" cy="3236179"/>
          </a:xfrm>
        </p:grpSpPr>
        <p:grpSp>
          <p:nvGrpSpPr>
            <p:cNvPr name="Group 5" id="5"/>
            <p:cNvGrpSpPr/>
            <p:nvPr/>
          </p:nvGrpSpPr>
          <p:grpSpPr>
            <a:xfrm rot="-151957">
              <a:off x="876239" y="152390"/>
              <a:ext cx="6932562" cy="1594192"/>
              <a:chOff x="0" y="0"/>
              <a:chExt cx="1369395" cy="31490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369395" cy="314902"/>
              </a:xfrm>
              <a:custGeom>
                <a:avLst/>
                <a:gdLst/>
                <a:ahLst/>
                <a:cxnLst/>
                <a:rect r="r" b="b" t="t" l="l"/>
                <a:pathLst>
                  <a:path h="314902" w="1369395">
                    <a:moveTo>
                      <a:pt x="0" y="0"/>
                    </a:moveTo>
                    <a:lnTo>
                      <a:pt x="1369395" y="0"/>
                    </a:lnTo>
                    <a:lnTo>
                      <a:pt x="1369395" y="314902"/>
                    </a:lnTo>
                    <a:lnTo>
                      <a:pt x="0" y="314902"/>
                    </a:lnTo>
                    <a:close/>
                  </a:path>
                </a:pathLst>
              </a:custGeom>
              <a:solidFill>
                <a:srgbClr val="E5C857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369395" cy="3530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885421" y="1513145"/>
              <a:ext cx="9466452" cy="1723033"/>
              <a:chOff x="0" y="0"/>
              <a:chExt cx="2187934" cy="39823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87934" cy="398236"/>
              </a:xfrm>
              <a:custGeom>
                <a:avLst/>
                <a:gdLst/>
                <a:ahLst/>
                <a:cxnLst/>
                <a:rect r="r" b="b" t="t" l="l"/>
                <a:pathLst>
                  <a:path h="398236" w="2187934">
                    <a:moveTo>
                      <a:pt x="0" y="0"/>
                    </a:moveTo>
                    <a:lnTo>
                      <a:pt x="2187934" y="0"/>
                    </a:lnTo>
                    <a:lnTo>
                      <a:pt x="2187934" y="398236"/>
                    </a:lnTo>
                    <a:lnTo>
                      <a:pt x="0" y="398236"/>
                    </a:lnTo>
                    <a:close/>
                  </a:path>
                </a:pathLst>
              </a:custGeom>
              <a:solidFill>
                <a:srgbClr val="144783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187934" cy="436336"/>
              </a:xfrm>
              <a:prstGeom prst="rect">
                <a:avLst/>
              </a:prstGeom>
            </p:spPr>
            <p:txBody>
              <a:bodyPr anchor="ctr" rtlCol="false" tIns="43416" lIns="43416" bIns="43416" rIns="4341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411541" y="1864757"/>
              <a:ext cx="8414212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E5C857"/>
                  </a:solidFill>
                  <a:latin typeface="Bebas Neue"/>
                  <a:ea typeface="Bebas Neue"/>
                  <a:cs typeface="Bebas Neue"/>
                  <a:sym typeface="Bebas Neue"/>
                </a:rPr>
                <a:t>Arsitektur sistem kendali terbang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-101609">
              <a:off x="10213" y="278403"/>
              <a:ext cx="8661800" cy="1009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00"/>
                </a:lnSpc>
              </a:pPr>
              <a:r>
                <a:rPr lang="en-US" sz="4500">
                  <a:solidFill>
                    <a:srgbClr val="144783"/>
                  </a:solidFill>
                  <a:latin typeface="Bebas Neue"/>
                  <a:ea typeface="Bebas Neue"/>
                  <a:cs typeface="Bebas Neue"/>
                  <a:sym typeface="Bebas Neue"/>
                </a:rPr>
                <a:t>Perancangan kontroler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799851" y="3716979"/>
            <a:ext cx="8031617" cy="1078874"/>
          </a:xfrm>
          <a:custGeom>
            <a:avLst/>
            <a:gdLst/>
            <a:ahLst/>
            <a:cxnLst/>
            <a:rect r="r" b="b" t="t" l="l"/>
            <a:pathLst>
              <a:path h="1078874" w="8031617">
                <a:moveTo>
                  <a:pt x="0" y="0"/>
                </a:moveTo>
                <a:lnTo>
                  <a:pt x="8031617" y="0"/>
                </a:lnTo>
                <a:lnTo>
                  <a:pt x="8031617" y="1078873"/>
                </a:lnTo>
                <a:lnTo>
                  <a:pt x="0" y="1078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99851" y="6269373"/>
            <a:ext cx="8031617" cy="990365"/>
          </a:xfrm>
          <a:custGeom>
            <a:avLst/>
            <a:gdLst/>
            <a:ahLst/>
            <a:cxnLst/>
            <a:rect r="r" b="b" t="t" l="l"/>
            <a:pathLst>
              <a:path h="990365" w="8031617">
                <a:moveTo>
                  <a:pt x="0" y="0"/>
                </a:moveTo>
                <a:lnTo>
                  <a:pt x="8031617" y="0"/>
                </a:lnTo>
                <a:lnTo>
                  <a:pt x="8031617" y="990364"/>
                </a:lnTo>
                <a:lnTo>
                  <a:pt x="0" y="990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87772" y="9138920"/>
            <a:ext cx="7506183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E5C857"/>
                </a:solidFill>
                <a:latin typeface="Poppins Bold"/>
                <a:ea typeface="Poppins Bold"/>
                <a:cs typeface="Poppins Bold"/>
                <a:sym typeface="Poppins Bold"/>
              </a:rPr>
              <a:t>Blok Diagram Sistem Koordinasi Belokan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99851" y="2911364"/>
            <a:ext cx="4528439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ADB5E"/>
                </a:solidFill>
                <a:latin typeface="Poppins Bold"/>
                <a:ea typeface="Poppins Bold"/>
                <a:cs typeface="Poppins Bold"/>
                <a:sym typeface="Poppins Bold"/>
              </a:rPr>
              <a:t>Model Keadaan Sistem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99851" y="5459747"/>
            <a:ext cx="4719237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ADB5E"/>
                </a:solidFill>
                <a:latin typeface="Poppins Bold"/>
                <a:ea typeface="Poppins Bold"/>
                <a:cs typeface="Poppins Bold"/>
                <a:sym typeface="Poppins Bold"/>
              </a:rPr>
              <a:t>Model Kontroler Sistem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99851" y="7936012"/>
            <a:ext cx="7892432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mana semua model-model sistem ini akan digunakan pada perancangan simulasi MATLAB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2" t="0" r="-166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55018" y="430878"/>
            <a:ext cx="5617372" cy="1195644"/>
            <a:chOff x="0" y="0"/>
            <a:chExt cx="1479472" cy="3149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472" cy="314902"/>
            </a:xfrm>
            <a:custGeom>
              <a:avLst/>
              <a:gdLst/>
              <a:ahLst/>
              <a:cxnLst/>
              <a:rect r="r" b="b" t="t" l="l"/>
              <a:pathLst>
                <a:path h="314902" w="1479472">
                  <a:moveTo>
                    <a:pt x="0" y="0"/>
                  </a:moveTo>
                  <a:lnTo>
                    <a:pt x="1479472" y="0"/>
                  </a:lnTo>
                  <a:lnTo>
                    <a:pt x="1479472" y="314902"/>
                  </a:lnTo>
                  <a:lnTo>
                    <a:pt x="0" y="314902"/>
                  </a:lnTo>
                  <a:close/>
                </a:path>
              </a:pathLst>
            </a:custGeom>
            <a:solidFill>
              <a:srgbClr val="E5C85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79472" cy="353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89238" y="1028700"/>
            <a:ext cx="15750592" cy="7863221"/>
          </a:xfrm>
          <a:custGeom>
            <a:avLst/>
            <a:gdLst/>
            <a:ahLst/>
            <a:cxnLst/>
            <a:rect r="r" b="b" t="t" l="l"/>
            <a:pathLst>
              <a:path h="7863221" w="15750592">
                <a:moveTo>
                  <a:pt x="0" y="0"/>
                </a:moveTo>
                <a:lnTo>
                  <a:pt x="15750592" y="0"/>
                </a:lnTo>
                <a:lnTo>
                  <a:pt x="15750592" y="7863221"/>
                </a:lnTo>
                <a:lnTo>
                  <a:pt x="0" y="7863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</a:blip>
            <a:stretch>
              <a:fillRect l="-34817" t="-5081" r="-1943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98644" y="447964"/>
            <a:ext cx="7529018" cy="9447609"/>
          </a:xfrm>
          <a:custGeom>
            <a:avLst/>
            <a:gdLst/>
            <a:ahLst/>
            <a:cxnLst/>
            <a:rect r="r" b="b" t="t" l="l"/>
            <a:pathLst>
              <a:path h="9447609" w="7529018">
                <a:moveTo>
                  <a:pt x="0" y="0"/>
                </a:moveTo>
                <a:lnTo>
                  <a:pt x="7529018" y="0"/>
                </a:lnTo>
                <a:lnTo>
                  <a:pt x="7529018" y="9447609"/>
                </a:lnTo>
                <a:lnTo>
                  <a:pt x="0" y="94476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00748" y="2046461"/>
            <a:ext cx="2222669" cy="392698"/>
          </a:xfrm>
          <a:custGeom>
            <a:avLst/>
            <a:gdLst/>
            <a:ahLst/>
            <a:cxnLst/>
            <a:rect r="r" b="b" t="t" l="l"/>
            <a:pathLst>
              <a:path h="392698" w="2222669">
                <a:moveTo>
                  <a:pt x="0" y="0"/>
                </a:moveTo>
                <a:lnTo>
                  <a:pt x="2222669" y="0"/>
                </a:lnTo>
                <a:lnTo>
                  <a:pt x="2222669" y="392697"/>
                </a:lnTo>
                <a:lnTo>
                  <a:pt x="0" y="3926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0097" y="8717511"/>
            <a:ext cx="7608774" cy="540789"/>
          </a:xfrm>
          <a:custGeom>
            <a:avLst/>
            <a:gdLst/>
            <a:ahLst/>
            <a:cxnLst/>
            <a:rect r="r" b="b" t="t" l="l"/>
            <a:pathLst>
              <a:path h="540789" w="7608774">
                <a:moveTo>
                  <a:pt x="0" y="0"/>
                </a:moveTo>
                <a:lnTo>
                  <a:pt x="7608774" y="0"/>
                </a:lnTo>
                <a:lnTo>
                  <a:pt x="7608774" y="540789"/>
                </a:lnTo>
                <a:lnTo>
                  <a:pt x="0" y="5407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5743" y="518770"/>
            <a:ext cx="5248222" cy="90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5223">
                <a:solidFill>
                  <a:srgbClr val="144783"/>
                </a:solidFill>
                <a:latin typeface="Bebas Neue"/>
                <a:ea typeface="Bebas Neue"/>
                <a:cs typeface="Bebas Neue"/>
                <a:sym typeface="Bebas Neue"/>
              </a:rPr>
              <a:t>optimisasi gain kendali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4543" y="3225508"/>
            <a:ext cx="4289941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ADB5E"/>
                </a:solidFill>
                <a:latin typeface="Poppins Bold"/>
                <a:ea typeface="Poppins Bold"/>
                <a:cs typeface="Poppins Bold"/>
                <a:sym typeface="Poppins Bold"/>
              </a:rPr>
              <a:t>Inner Loop (LMI)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4543" y="1997064"/>
            <a:ext cx="473620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Mencari gain kendali optimal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5018" y="7589866"/>
            <a:ext cx="9209273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Cost function 𝐽 diformulasikan sebagai weighted sum of squares dari </a:t>
            </a: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nilai RMS (Root Mean Square)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5018" y="3797009"/>
            <a:ext cx="9209273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Setiap set gain yang dievaluasi, fondasi LMI menggunakan </a:t>
            </a: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solver MOSEK via YALMIP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digunakan untuk menjamin stabilitas dan memenuhi batasan performa H₂/H∞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4543" y="5402924"/>
            <a:ext cx="5607847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ADB5E"/>
                </a:solidFill>
                <a:latin typeface="Poppins Bold"/>
                <a:ea typeface="Poppins Bold"/>
                <a:cs typeface="Poppins Bold"/>
                <a:sym typeface="Poppins Bold"/>
              </a:rPr>
              <a:t>Outer Loop (Quasi-Newton)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5018" y="5974425"/>
            <a:ext cx="9209273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Alg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ori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tma </a:t>
            </a: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optimisasi Broyden–Fletcher–Goldfarb–Shanno (BFGS)</a:t>
            </a: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secara iteratif mencari kombinasi gain yang meminimalkan cost function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2" t="0" r="-166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2569" y="382562"/>
            <a:ext cx="3820665" cy="1292275"/>
            <a:chOff x="0" y="0"/>
            <a:chExt cx="1177402" cy="3982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7402" cy="398236"/>
            </a:xfrm>
            <a:custGeom>
              <a:avLst/>
              <a:gdLst/>
              <a:ahLst/>
              <a:cxnLst/>
              <a:rect r="r" b="b" t="t" l="l"/>
              <a:pathLst>
                <a:path h="398236" w="1177402">
                  <a:moveTo>
                    <a:pt x="0" y="0"/>
                  </a:moveTo>
                  <a:lnTo>
                    <a:pt x="1177402" y="0"/>
                  </a:lnTo>
                  <a:lnTo>
                    <a:pt x="1177402" y="398236"/>
                  </a:lnTo>
                  <a:lnTo>
                    <a:pt x="0" y="398236"/>
                  </a:lnTo>
                  <a:close/>
                </a:path>
              </a:pathLst>
            </a:custGeom>
            <a:solidFill>
              <a:srgbClr val="14478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77402" cy="436336"/>
            </a:xfrm>
            <a:prstGeom prst="rect">
              <a:avLst/>
            </a:prstGeom>
          </p:spPr>
          <p:txBody>
            <a:bodyPr anchor="ctr" rtlCol="false" tIns="43416" lIns="43416" bIns="43416" rIns="4341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52569" y="2073288"/>
            <a:ext cx="13883056" cy="7722450"/>
          </a:xfrm>
          <a:custGeom>
            <a:avLst/>
            <a:gdLst/>
            <a:ahLst/>
            <a:cxnLst/>
            <a:rect r="r" b="b" t="t" l="l"/>
            <a:pathLst>
              <a:path h="7722450" w="13883056">
                <a:moveTo>
                  <a:pt x="0" y="0"/>
                </a:moveTo>
                <a:lnTo>
                  <a:pt x="13883056" y="0"/>
                </a:lnTo>
                <a:lnTo>
                  <a:pt x="13883056" y="7722450"/>
                </a:lnTo>
                <a:lnTo>
                  <a:pt x="0" y="7722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28497" y="8637549"/>
            <a:ext cx="3435526" cy="1158189"/>
          </a:xfrm>
          <a:custGeom>
            <a:avLst/>
            <a:gdLst/>
            <a:ahLst/>
            <a:cxnLst/>
            <a:rect r="r" b="b" t="t" l="l"/>
            <a:pathLst>
              <a:path h="1158189" w="3435526">
                <a:moveTo>
                  <a:pt x="0" y="0"/>
                </a:moveTo>
                <a:lnTo>
                  <a:pt x="3435525" y="0"/>
                </a:lnTo>
                <a:lnTo>
                  <a:pt x="3435525" y="1158189"/>
                </a:lnTo>
                <a:lnTo>
                  <a:pt x="0" y="1158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21406" y="510515"/>
            <a:ext cx="3281083" cy="92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2"/>
              </a:lnSpc>
            </a:pPr>
            <a:r>
              <a:rPr lang="en-US" sz="5322">
                <a:solidFill>
                  <a:srgbClr val="E5C857"/>
                </a:solidFill>
                <a:latin typeface="Bebas Neue"/>
                <a:ea typeface="Bebas Neue"/>
                <a:cs typeface="Bebas Neue"/>
                <a:sym typeface="Bebas Neue"/>
              </a:rPr>
              <a:t>hasil simulasi</a:t>
            </a:r>
          </a:p>
        </p:txBody>
      </p:sp>
      <p:sp>
        <p:nvSpPr>
          <p:cNvPr name="AutoShape 9" id="9"/>
          <p:cNvSpPr/>
          <p:nvPr/>
        </p:nvSpPr>
        <p:spPr>
          <a:xfrm>
            <a:off x="14945295" y="2767993"/>
            <a:ext cx="0" cy="1141024"/>
          </a:xfrm>
          <a:prstGeom prst="line">
            <a:avLst/>
          </a:prstGeom>
          <a:ln cap="flat" w="142875">
            <a:solidFill>
              <a:srgbClr val="14478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0" id="10"/>
          <p:cNvSpPr txBox="true"/>
          <p:nvPr/>
        </p:nvSpPr>
        <p:spPr>
          <a:xfrm rot="0">
            <a:off x="14528497" y="2006613"/>
            <a:ext cx="473620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Didapatkan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4954820" y="4242391"/>
            <a:ext cx="0" cy="1141024"/>
          </a:xfrm>
          <a:prstGeom prst="line">
            <a:avLst/>
          </a:prstGeom>
          <a:ln cap="flat" w="142875">
            <a:solidFill>
              <a:srgbClr val="14478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2" id="12"/>
          <p:cNvSpPr txBox="true"/>
          <p:nvPr/>
        </p:nvSpPr>
        <p:spPr>
          <a:xfrm rot="0">
            <a:off x="14528497" y="5867838"/>
            <a:ext cx="473620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Dengan Trade off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4954820" y="6626028"/>
            <a:ext cx="0" cy="1141024"/>
          </a:xfrm>
          <a:prstGeom prst="line">
            <a:avLst/>
          </a:prstGeom>
          <a:ln cap="flat" w="142875">
            <a:solidFill>
              <a:srgbClr val="14478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4" id="14"/>
          <p:cNvSpPr txBox="true"/>
          <p:nvPr/>
        </p:nvSpPr>
        <p:spPr>
          <a:xfrm rot="0">
            <a:off x="15654907" y="2871075"/>
            <a:ext cx="2103229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Lateral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Acceleration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54907" y="4299585"/>
            <a:ext cx="2103229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Rudder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Effort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73957" y="6730803"/>
            <a:ext cx="2103229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Side slip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Angle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2" t="0" r="-16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791797" y="-5172076"/>
            <a:ext cx="24141253" cy="16084110"/>
          </a:xfrm>
          <a:custGeom>
            <a:avLst/>
            <a:gdLst/>
            <a:ahLst/>
            <a:cxnLst/>
            <a:rect r="r" b="b" t="t" l="l"/>
            <a:pathLst>
              <a:path h="16084110" w="24141253">
                <a:moveTo>
                  <a:pt x="0" y="0"/>
                </a:moveTo>
                <a:lnTo>
                  <a:pt x="24141253" y="0"/>
                </a:lnTo>
                <a:lnTo>
                  <a:pt x="24141253" y="16084110"/>
                </a:lnTo>
                <a:lnTo>
                  <a:pt x="0" y="16084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304422"/>
            <a:ext cx="405979" cy="405979"/>
          </a:xfrm>
          <a:custGeom>
            <a:avLst/>
            <a:gdLst/>
            <a:ahLst/>
            <a:cxnLst/>
            <a:rect r="r" b="b" t="t" l="l"/>
            <a:pathLst>
              <a:path h="405979" w="405979">
                <a:moveTo>
                  <a:pt x="0" y="0"/>
                </a:moveTo>
                <a:lnTo>
                  <a:pt x="405979" y="0"/>
                </a:lnTo>
                <a:lnTo>
                  <a:pt x="405979" y="405979"/>
                </a:lnTo>
                <a:lnTo>
                  <a:pt x="0" y="4059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8811284"/>
            <a:ext cx="447016" cy="447016"/>
          </a:xfrm>
          <a:custGeom>
            <a:avLst/>
            <a:gdLst/>
            <a:ahLst/>
            <a:cxnLst/>
            <a:rect r="r" b="b" t="t" l="l"/>
            <a:pathLst>
              <a:path h="447016" w="447016">
                <a:moveTo>
                  <a:pt x="0" y="0"/>
                </a:moveTo>
                <a:lnTo>
                  <a:pt x="447016" y="0"/>
                </a:lnTo>
                <a:lnTo>
                  <a:pt x="447016" y="447016"/>
                </a:lnTo>
                <a:lnTo>
                  <a:pt x="0" y="447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78829" y="6748957"/>
            <a:ext cx="10980471" cy="305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939"/>
              </a:lnSpc>
            </a:pPr>
            <a:r>
              <a:rPr lang="en-US" sz="17813">
                <a:solidFill>
                  <a:srgbClr val="E5C857"/>
                </a:solidFill>
                <a:latin typeface="Bebas Neue"/>
                <a:ea typeface="Bebas Neue"/>
                <a:cs typeface="Bebas Neue"/>
                <a:sym typeface="Bebas Neue"/>
              </a:rPr>
              <a:t>TERIMA KASIH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708157"/>
            <a:ext cx="1239536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Rama Suryansyah Budianto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144" y="8261666"/>
            <a:ext cx="244364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0821-5379-1153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0144" y="8789047"/>
            <a:ext cx="244364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@ramasb._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DAG4rDvWZtc</dc:identifier>
  <dcterms:modified xsi:type="dcterms:W3CDTF">2011-08-01T06:04:30Z</dcterms:modified>
  <cp:revision>1</cp:revision>
  <dc:title>SKP PT Dirgantara Indonesia</dc:title>
</cp:coreProperties>
</file>